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50"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2579"/>
    <p:restoredTop sz="90000"/>
  </p:normalViewPr>
  <p:slideViewPr>
    <p:cSldViewPr snapToGrid="0" snapToObjects="1">
      <p:cViewPr varScale="1">
        <p:scale>
          <a:sx n="100" d="100"/>
          <a:sy n="100" d="100"/>
        </p:scale>
        <p:origin x="0" y="0"/>
      </p:cViewPr>
      <p:guideLst>
        <p:guide orient="horz" pos="2158"/>
        <p:guide pos="383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presProps" Target="presProps.xml"  /><Relationship Id="rId26" Type="http://schemas.openxmlformats.org/officeDocument/2006/relationships/viewProps" Target="viewProps.xml"  /><Relationship Id="rId27" Type="http://schemas.openxmlformats.org/officeDocument/2006/relationships/theme" Target="theme/theme1.xml"  /><Relationship Id="rId28"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charts/_rels/chart1.xml.rels><?xml version="1.0" encoding="UTF-8" standalone="yes" ?><Relationships xmlns="http://schemas.openxmlformats.org/package/2006/relationships"><Relationship Id="rId1" Type="http://schemas.openxmlformats.org/officeDocument/2006/relationships/package" Target="../embeddings/oleObject1.xlsx"  /></Relationships>
</file>

<file path=ppt/charts/_rels/chart2.xml.rels><?xml version="1.0" encoding="UTF-8" standalone="yes" ?><Relationships xmlns="http://schemas.openxmlformats.org/package/2006/relationships"><Relationship Id="rId1" Type="http://schemas.openxmlformats.org/officeDocument/2006/relationships/package" Target="../embeddings/oleObject2.xlsx"  /></Relationships>
</file>

<file path=ppt/charts/_rels/chart3.xml.rels><?xml version="1.0" encoding="UTF-8" standalone="yes" ?><Relationships xmlns="http://schemas.openxmlformats.org/package/2006/relationships"><Relationship Id="rId1" Type="http://schemas.openxmlformats.org/officeDocument/2006/relationships/package" Target="../embeddings/oleObject3.xlsx"  /></Relationships>
</file>

<file path=ppt/charts/_rels/chart4.xml.rels><?xml version="1.0" encoding="UTF-8" standalone="yes" ?><Relationships xmlns="http://schemas.openxmlformats.org/package/2006/relationships"><Relationship Id="rId1" Type="http://schemas.openxmlformats.org/officeDocument/2006/relationships/package" Target="../embeddings/oleObject4.xlsx"  /></Relationships>
</file>

<file path=ppt/charts/_rels/chart5.xml.rels><?xml version="1.0" encoding="UTF-8" standalone="yes" ?><Relationships xmlns="http://schemas.openxmlformats.org/package/2006/relationships"><Relationship Id="rId1" Type="http://schemas.openxmlformats.org/officeDocument/2006/relationships/package" Target="../embeddings/Worksheet1.xlsx"  /></Relationships>
</file>

<file path=ppt/charts/chart1.xml><?xml version="1.0" encoding="utf-8"?>
<c:chartSpace xmlns:r="http://schemas.openxmlformats.org/officeDocument/2006/relationships" xmlns:a="http://schemas.openxmlformats.org/drawingml/2006/main" xmlns:c="http://schemas.openxmlformats.org/drawingml/2006/chart">
  <c:date1904 val="0"/>
  <mc:AlternateContent xmlns:mc="http://schemas.openxmlformats.org/markup-compatibility/2006">
    <mc:Choice xmlns:c14="http://schemas.microsoft.com/office/drawing/2007/8/2/chart" Requires="c14">
      <c14:style val="102"/>
    </mc:Choice>
    <mc:Fallback>
      <c:style val="2"/>
    </mc:Fallback>
  </mc:AlternateContent>
  <c:roundedCorners val="0"/>
  <c:chart>
    <c:title>
      <c:layout/>
      <c:overlay val="0"/>
      <c:txPr>
        <a:bodyPr rot="0" vert="horz" wrap="none" lIns="0" tIns="0" rIns="0" bIns="0" anchor="ctr" anchorCtr="1"/>
        <a:p>
          <a:pPr algn="l">
            <a:defRPr sz="1400" b="0" i="0" u="none"/>
          </a:pPr>
          <a:endParaRPr/>
        </a:p>
      </c:txPr>
    </c:title>
    <c:autoTitleDeleted val="0"/>
    <c:plotArea>
      <c:layout/>
      <c:barChart>
        <c:barDir val="bar"/>
        <c:grouping val="clustered"/>
        <c:varyColors val="0"/>
        <c:ser>
          <c:idx val="0"/>
          <c:order val="0"/>
          <c:tx>
            <c:strRef>
              <c:f>Sheet1!$B$1</c:f>
              <c:strCache>
                <c:ptCount val="1"/>
                <c:pt idx="0">
                  <c:v>접수 건수</c:v>
                </c:pt>
              </c:strCache>
            </c:strRef>
          </c:tx>
          <c:spPr>
            <a:solidFill>
              <a:srgbClr val="0c493a"/>
            </a:solidFill>
            <a:ln w="28575">
              <a:solidFill>
                <a:srgbClr val="0c493a"/>
              </a:solidFill>
            </a:ln>
          </c:spPr>
          <c:invertIfNegative val="0"/>
          <c:cat>
            <c:strRef>
              <c:f>Sheet1!$A$2:$A$5</c:f>
              <c:strCache>
                <c:ptCount val="4"/>
                <c:pt idx="0">
                  <c:v>17개 항목 완전 기재</c:v>
                </c:pt>
                <c:pt idx="1">
                  <c:v>정상 처리</c:v>
                </c:pt>
                <c:pt idx="2">
                  <c:v>업무성 기록 제외</c:v>
                </c:pt>
                <c:pt idx="3">
                  <c:v>벌집제거 추가 제외</c:v>
                </c:pt>
              </c:strCache>
            </c:strRef>
          </c:cat>
          <c:val>
            <c:numRef>
              <c:f>Sheet1!$B$2:$B$5</c:f>
              <c:numCache>
                <c:formatCode>#,##0</c:formatCode>
                <c:ptCount val="4"/>
                <c:pt idx="0">
                  <c:v>704689</c:v>
                </c:pt>
                <c:pt idx="1">
                  <c:v>579412</c:v>
                </c:pt>
                <c:pt idx="2">
                  <c:v>574662</c:v>
                </c:pt>
                <c:pt idx="3">
                  <c:v>555786</c:v>
                </c:pt>
              </c:numCache>
            </c:numRef>
          </c:val>
        </c:ser>
        <c:dLbls>
          <c:delete val="0"/>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dLblPos val="outEnd"/>
          <c:showLegendKey val="0"/>
          <c:showVal val="1"/>
          <c:showCatName val="0"/>
          <c:showSerName val="0"/>
          <c:showPercent val="0"/>
          <c:showBubbleSize val="0"/>
          <c:showLeaderLines val="0"/>
        </c:dLbls>
        <c:gapWidth val="60"/>
        <c:overlap val="0"/>
        <c:axId val="48650112"/>
        <c:axId val="48672768"/>
      </c:barChart>
      <c:catAx>
        <c:axId val="48650112"/>
        <c:scaling>
          <c:orientation val="minMax"/>
        </c:scaling>
        <c:axPos val="l"/>
        <c:crossAx val="48672768"/>
        <c:delete val="0"/>
        <c:numFmt formatCode="General" sourceLinked="1"/>
        <c:majorTickMark val="none"/>
        <c:minorTickMark val="none"/>
        <c:tickLblPos val="nextTo"/>
        <c:spPr>
          <a:ln w="9525">
            <a:solidFill>
              <a:srgbClr val="666666"/>
            </a:solid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auto val="1"/>
        <c:lblAlgn val="ctr"/>
        <c:lblOffset val="100"/>
        <c:tickMarkSkip val="1"/>
        <c:noMultiLvlLbl val="0"/>
      </c:catAx>
      <c:valAx>
        <c:axId val="48672768"/>
        <c:scaling>
          <c:orientation val="minMax"/>
        </c:scaling>
        <c:axPos val="b"/>
        <c:crossAx val="48650112"/>
        <c:delete val="0"/>
        <c:majorGridlines>
          <c:spPr>
            <a:ln w="4763">
              <a:solidFill>
                <a:srgbClr val="d9e1e5"/>
              </a:solidFill>
            </a:ln>
          </c:spPr>
        </c:majorGridlines>
        <c:numFmt formatCode="#,##0" sourceLinked="1"/>
        <c:majorTickMark val="none"/>
        <c:minorTickMark val="none"/>
        <c:tickLblPos val="nextTo"/>
        <c:spPr>
          <a:ln w="0">
            <a:no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crossBetween val="between"/>
      </c:valAx>
      <c:spPr>
        <a:solidFill>
          <a:srgbClr val="ffffff"/>
        </a:solidFill>
        <a:ln w="0">
          <a:noFill/>
        </a:ln>
      </c:spPr>
    </c:plotArea>
    <c:plotVisOnly val="0"/>
    <c:dispBlanksAs val="gap"/>
  </c:chart>
  <c:spPr>
    <a:solidFill>
      <a:srgbClr val="ffffff"/>
    </a:solidFill>
    <a:ln w="0">
      <a:noFill/>
    </a:ln>
  </c:spPr>
  <c:extLst>
    <c:ext uri="CC8EB2C9-7E31-499d-B8F2-F6CE61031016">
      <ho:hncChartStyle xmlns:ho="http://schemas.haansoft.com/office/8.0" layoutIndex="-1" colorIndex="-1" styleIndex="-1"/>
    </c:ext>
  </c:extLst>
  <c:externalData r:id="rId1">
    <c:autoUpdate val="0"/>
  </c:externalData>
</c:chartSpace>
</file>

<file path=ppt/charts/chart2.xml><?xml version="1.0" encoding="utf-8"?>
<c:chartSpace xmlns:r="http://schemas.openxmlformats.org/officeDocument/2006/relationships" xmlns:a="http://schemas.openxmlformats.org/drawingml/2006/main" xmlns:c="http://schemas.openxmlformats.org/drawingml/2006/chart">
  <c:date1904 val="0"/>
  <mc:AlternateContent xmlns:mc="http://schemas.openxmlformats.org/markup-compatibility/2006">
    <mc:Choice xmlns:c14="http://schemas.microsoft.com/office/drawing/2007/8/2/chart" Requires="c14">
      <c14:style val="102"/>
    </mc:Choice>
    <mc:Fallback>
      <c:style val="2"/>
    </mc:Fallback>
  </mc:AlternateContent>
  <c:roundedCorners val="0"/>
  <c:chart>
    <c:title>
      <c:layout/>
      <c:overlay val="0"/>
      <c:txPr>
        <a:bodyPr rot="0" vert="horz" wrap="none" lIns="0" tIns="0" rIns="0" bIns="0" anchor="ctr" anchorCtr="1"/>
        <a:p>
          <a:pPr algn="l">
            <a:defRPr sz="1400" b="0" i="0" u="none"/>
          </a:pPr>
          <a:endParaRPr/>
        </a:p>
      </c:txPr>
    </c:title>
    <c:autoTitleDeleted val="0"/>
    <c:plotArea>
      <c:layout/>
      <c:barChart>
        <c:barDir val="bar"/>
        <c:grouping val="clustered"/>
        <c:varyColors val="0"/>
        <c:ser>
          <c:idx val="0"/>
          <c:order val="0"/>
          <c:tx>
            <c:strRef>
              <c:f>Sheet1!$B$1</c:f>
              <c:strCache>
                <c:ptCount val="1"/>
                <c:pt idx="0">
                  <c:v>구성비(%)</c:v>
                </c:pt>
              </c:strCache>
            </c:strRef>
          </c:tx>
          <c:spPr>
            <a:solidFill>
              <a:srgbClr val="0c493a"/>
            </a:solidFill>
            <a:ln w="28575">
              <a:solidFill>
                <a:srgbClr val="0c493a"/>
              </a:solidFill>
            </a:ln>
          </c:spPr>
          <c:invertIfNegative val="0"/>
          <c:cat>
            <c:strRef>
              <c:f>Sheet1!$A$2:$A$5</c:f>
              <c:strCache>
                <c:ptCount val="4"/>
                <c:pt idx="0">
                  <c:v>질병</c:v>
                </c:pt>
                <c:pt idx="1">
                  <c:v>질병외</c:v>
                </c:pt>
                <c:pt idx="2">
                  <c:v>부상</c:v>
                </c:pt>
                <c:pt idx="3">
                  <c:v>기타 유형</c:v>
                </c:pt>
              </c:strCache>
            </c:strRef>
          </c:cat>
          <c:val>
            <c:numRef>
              <c:f>Sheet1!$B$2:$B$5</c:f>
              <c:numCache>
                <c:formatCode>0.0"%"</c:formatCode>
                <c:ptCount val="4"/>
                <c:pt idx="0">
                  <c:v>34.31</c:v>
                </c:pt>
                <c:pt idx="1">
                  <c:v>33.98</c:v>
                </c:pt>
                <c:pt idx="2">
                  <c:v>7.65</c:v>
                </c:pt>
                <c:pt idx="3">
                  <c:v>24.06</c:v>
                </c:pt>
              </c:numCache>
            </c:numRef>
          </c:val>
        </c:ser>
        <c:dLbls>
          <c:delete val="0"/>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dLblPos val="outEnd"/>
          <c:showLegendKey val="0"/>
          <c:showVal val="1"/>
          <c:showCatName val="0"/>
          <c:showSerName val="0"/>
          <c:showPercent val="0"/>
          <c:showBubbleSize val="0"/>
          <c:showLeaderLines val="0"/>
        </c:dLbls>
        <c:gapWidth val="60"/>
        <c:overlap val="0"/>
        <c:axId val="48650112"/>
        <c:axId val="48672768"/>
      </c:barChart>
      <c:catAx>
        <c:axId val="48650112"/>
        <c:scaling>
          <c:orientation val="minMax"/>
        </c:scaling>
        <c:axPos val="l"/>
        <c:crossAx val="48672768"/>
        <c:delete val="0"/>
        <c:numFmt formatCode="General" sourceLinked="1"/>
        <c:majorTickMark val="none"/>
        <c:minorTickMark val="none"/>
        <c:tickLblPos val="nextTo"/>
        <c:spPr>
          <a:ln w="9525">
            <a:solidFill>
              <a:srgbClr val="666666"/>
            </a:solid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auto val="1"/>
        <c:lblAlgn val="ctr"/>
        <c:lblOffset val="100"/>
        <c:tickMarkSkip val="1"/>
        <c:noMultiLvlLbl val="0"/>
      </c:catAx>
      <c:valAx>
        <c:axId val="48672768"/>
        <c:scaling>
          <c:orientation val="minMax"/>
        </c:scaling>
        <c:axPos val="b"/>
        <c:crossAx val="48650112"/>
        <c:delete val="0"/>
        <c:majorGridlines>
          <c:spPr>
            <a:ln w="4763">
              <a:solidFill>
                <a:srgbClr val="d9e1e5"/>
              </a:solidFill>
            </a:ln>
          </c:spPr>
        </c:majorGridlines>
        <c:numFmt formatCode="0.0&quot;%&quot;" sourceLinked="1"/>
        <c:majorTickMark val="none"/>
        <c:minorTickMark val="none"/>
        <c:tickLblPos val="nextTo"/>
        <c:spPr>
          <a:ln w="0">
            <a:no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crossBetween val="between"/>
      </c:valAx>
      <c:spPr>
        <a:solidFill>
          <a:srgbClr val="ffffff"/>
        </a:solidFill>
        <a:ln w="0">
          <a:noFill/>
        </a:ln>
      </c:spPr>
    </c:plotArea>
    <c:plotVisOnly val="0"/>
    <c:dispBlanksAs val="gap"/>
  </c:chart>
  <c:spPr>
    <a:solidFill>
      <a:srgbClr val="ffffff"/>
    </a:solidFill>
    <a:ln w="0">
      <a:noFill/>
    </a:ln>
  </c:spPr>
  <c:extLst>
    <c:ext uri="CC8EB2C9-7E31-499d-B8F2-F6CE61031016">
      <ho:hncChartStyle xmlns:ho="http://schemas.haansoft.com/office/8.0" layoutIndex="-1" colorIndex="-1" styleIndex="-1"/>
    </c:ext>
  </c:extLst>
  <c:externalData r:id="rId1">
    <c:autoUpdate val="0"/>
  </c:externalData>
</c:chartSpace>
</file>

<file path=ppt/charts/chart3.xml><?xml version="1.0" encoding="utf-8"?>
<c:chartSpace xmlns:r="http://schemas.openxmlformats.org/officeDocument/2006/relationships" xmlns:a="http://schemas.openxmlformats.org/drawingml/2006/main" xmlns:c="http://schemas.openxmlformats.org/drawingml/2006/chart">
  <c:date1904 val="0"/>
  <mc:AlternateContent xmlns:mc="http://schemas.openxmlformats.org/markup-compatibility/2006">
    <mc:Choice xmlns:c14="http://schemas.microsoft.com/office/drawing/2007/8/2/chart" Requires="c14">
      <c14:style val="102"/>
    </mc:Choice>
    <mc:Fallback>
      <c:style val="2"/>
    </mc:Fallback>
  </mc:AlternateContent>
  <c:roundedCorners val="0"/>
  <c:chart>
    <c:title>
      <c:layout/>
      <c:overlay val="0"/>
      <c:txPr>
        <a:bodyPr rot="0" vert="horz" wrap="none" lIns="0" tIns="0" rIns="0" bIns="0" anchor="ctr" anchorCtr="1"/>
        <a:p>
          <a:pPr algn="l">
            <a:defRPr sz="1400" b="0" i="0" u="none"/>
          </a:pPr>
          <a:endParaRPr/>
        </a:p>
      </c:txPr>
    </c:title>
    <c:autoTitleDeleted val="0"/>
    <c:plotArea>
      <c:layout/>
      <c:barChart>
        <c:barDir val="bar"/>
        <c:grouping val="clustered"/>
        <c:varyColors val="0"/>
        <c:ser>
          <c:idx val="0"/>
          <c:order val="0"/>
          <c:tx>
            <c:strRef>
              <c:f>Sheet1!$B$1</c:f>
              <c:strCache>
                <c:ptCount val="1"/>
                <c:pt idx="0">
                  <c:v>접수 건수</c:v>
                </c:pt>
              </c:strCache>
            </c:strRef>
          </c:tx>
          <c:spPr>
            <a:solidFill>
              <a:srgbClr val="0c493a"/>
            </a:solidFill>
            <a:ln w="28575">
              <a:solidFill>
                <a:srgbClr val="0c493a"/>
              </a:solidFill>
            </a:ln>
          </c:spPr>
          <c:invertIfNegative val="0"/>
          <c:cat>
            <c:strRef>
              <c:f>Sheet1!$A$2:$A$17</c:f>
              <c:strCache>
                <c:ptCount val="16"/>
                <c:pt idx="0">
                  <c:v>부산진구</c:v>
                </c:pt>
                <c:pt idx="1">
                  <c:v>해운대구</c:v>
                </c:pt>
                <c:pt idx="2">
                  <c:v>사하구</c:v>
                </c:pt>
                <c:pt idx="3">
                  <c:v>사상구</c:v>
                </c:pt>
                <c:pt idx="4">
                  <c:v>북구</c:v>
                </c:pt>
                <c:pt idx="5">
                  <c:v>동래구</c:v>
                </c:pt>
                <c:pt idx="6">
                  <c:v>금정구</c:v>
                </c:pt>
                <c:pt idx="7">
                  <c:v>남구</c:v>
                </c:pt>
                <c:pt idx="8">
                  <c:v>수영구</c:v>
                </c:pt>
                <c:pt idx="9">
                  <c:v>연제구</c:v>
                </c:pt>
                <c:pt idx="10">
                  <c:v>기장군</c:v>
                </c:pt>
                <c:pt idx="11">
                  <c:v>강서구</c:v>
                </c:pt>
                <c:pt idx="12">
                  <c:v>영도구</c:v>
                </c:pt>
                <c:pt idx="13">
                  <c:v>서구</c:v>
                </c:pt>
                <c:pt idx="14">
                  <c:v>동구</c:v>
                </c:pt>
                <c:pt idx="15">
                  <c:v>중구</c:v>
                </c:pt>
              </c:strCache>
            </c:strRef>
          </c:cat>
          <c:val>
            <c:numRef>
              <c:f>Sheet1!$B$2:$B$17</c:f>
              <c:numCache>
                <c:formatCode>#,##0</c:formatCode>
                <c:ptCount val="16"/>
                <c:pt idx="0">
                  <c:v>64059</c:v>
                </c:pt>
                <c:pt idx="1">
                  <c:v>56927</c:v>
                </c:pt>
                <c:pt idx="2">
                  <c:v>48076</c:v>
                </c:pt>
                <c:pt idx="3">
                  <c:v>41747</c:v>
                </c:pt>
                <c:pt idx="4">
                  <c:v>41205</c:v>
                </c:pt>
                <c:pt idx="5">
                  <c:v>37226</c:v>
                </c:pt>
                <c:pt idx="6">
                  <c:v>36852</c:v>
                </c:pt>
                <c:pt idx="7">
                  <c:v>36320</c:v>
                </c:pt>
                <c:pt idx="8">
                  <c:v>31015</c:v>
                </c:pt>
                <c:pt idx="9">
                  <c:v>29648</c:v>
                </c:pt>
                <c:pt idx="10">
                  <c:v>29393</c:v>
                </c:pt>
                <c:pt idx="11">
                  <c:v>24603</c:v>
                </c:pt>
                <c:pt idx="12">
                  <c:v>22532</c:v>
                </c:pt>
                <c:pt idx="13">
                  <c:v>21391</c:v>
                </c:pt>
                <c:pt idx="14">
                  <c:v>20332</c:v>
                </c:pt>
                <c:pt idx="15">
                  <c:v>14460</c:v>
                </c:pt>
              </c:numCache>
            </c:numRef>
          </c:val>
        </c:ser>
        <c:dLbls>
          <c:delete val="0"/>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dLblPos val="outEnd"/>
          <c:showLegendKey val="0"/>
          <c:showVal val="1"/>
          <c:showCatName val="0"/>
          <c:showSerName val="0"/>
          <c:showPercent val="0"/>
          <c:showBubbleSize val="0"/>
          <c:showLeaderLines val="0"/>
        </c:dLbls>
        <c:gapWidth val="60"/>
        <c:overlap val="0"/>
        <c:axId val="48650112"/>
        <c:axId val="48672768"/>
      </c:barChart>
      <c:catAx>
        <c:axId val="48650112"/>
        <c:scaling>
          <c:orientation val="minMax"/>
        </c:scaling>
        <c:axPos val="l"/>
        <c:crossAx val="48672768"/>
        <c:delete val="0"/>
        <c:numFmt formatCode="General" sourceLinked="1"/>
        <c:majorTickMark val="none"/>
        <c:minorTickMark val="none"/>
        <c:tickLblPos val="nextTo"/>
        <c:spPr>
          <a:ln w="9525">
            <a:solidFill>
              <a:srgbClr val="666666"/>
            </a:solid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auto val="1"/>
        <c:lblAlgn val="ctr"/>
        <c:lblOffset val="100"/>
        <c:tickMarkSkip val="1"/>
        <c:noMultiLvlLbl val="0"/>
      </c:catAx>
      <c:valAx>
        <c:axId val="48672768"/>
        <c:scaling>
          <c:orientation val="minMax"/>
        </c:scaling>
        <c:axPos val="b"/>
        <c:crossAx val="48650112"/>
        <c:delete val="0"/>
        <c:majorGridlines>
          <c:spPr>
            <a:ln w="4763">
              <a:solidFill>
                <a:srgbClr val="d9e1e5"/>
              </a:solidFill>
            </a:ln>
          </c:spPr>
        </c:majorGridlines>
        <c:numFmt formatCode="#,##0" sourceLinked="1"/>
        <c:majorTickMark val="none"/>
        <c:minorTickMark val="none"/>
        <c:tickLblPos val="nextTo"/>
        <c:spPr>
          <a:ln w="0">
            <a:no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crossBetween val="between"/>
      </c:valAx>
      <c:spPr>
        <a:solidFill>
          <a:srgbClr val="ffffff"/>
        </a:solidFill>
        <a:ln w="0">
          <a:noFill/>
        </a:ln>
      </c:spPr>
    </c:plotArea>
    <c:plotVisOnly val="0"/>
    <c:dispBlanksAs val="gap"/>
  </c:chart>
  <c:spPr>
    <a:solidFill>
      <a:srgbClr val="ffffff"/>
    </a:solidFill>
    <a:ln w="0">
      <a:noFill/>
    </a:ln>
  </c:spPr>
  <c:extLst>
    <c:ext uri="CC8EB2C9-7E31-499d-B8F2-F6CE61031016">
      <ho:hncChartStyle xmlns:ho="http://schemas.haansoft.com/office/8.0" layoutIndex="-1" colorIndex="-1" styleIndex="-1"/>
    </c:ext>
  </c:extLst>
  <c:externalData r:id="rId1">
    <c:autoUpdate val="0"/>
  </c:externalData>
</c:chartSpace>
</file>

<file path=ppt/charts/chart4.xml><?xml version="1.0" encoding="utf-8"?>
<c:chartSpace xmlns:r="http://schemas.openxmlformats.org/officeDocument/2006/relationships" xmlns:a="http://schemas.openxmlformats.org/drawingml/2006/main" xmlns:c="http://schemas.openxmlformats.org/drawingml/2006/chart">
  <c:date1904 val="0"/>
  <mc:AlternateContent xmlns:mc="http://schemas.openxmlformats.org/markup-compatibility/2006">
    <mc:Choice xmlns:c14="http://schemas.microsoft.com/office/drawing/2007/8/2/chart" Requires="c14">
      <c14:style val="102"/>
    </mc:Choice>
    <mc:Fallback>
      <c:style val="2"/>
    </mc:Fallback>
  </mc:AlternateContent>
  <c:roundedCorners val="0"/>
  <c:chart>
    <c:autoTitleDeleted val="0"/>
    <c:plotArea>
      <c:layout/>
      <c:lineChart>
        <c:grouping val="standard"/>
        <c:varyColors val="0"/>
        <c:ser>
          <c:idx val="0"/>
          <c:order val="0"/>
          <c:tx>
            <c:strRef>
              <c:f>Sheet1!$B$1</c:f>
              <c:strCache>
                <c:ptCount val="1"/>
                <c:pt idx="0">
                  <c:v>다대동·질병</c:v>
                </c:pt>
              </c:strCache>
            </c:strRef>
          </c:tx>
          <c:spPr>
            <a:solidFill>
              <a:srgbClr val="0c493a"/>
            </a:solidFill>
            <a:ln w="28575" cap="rnd" cmpd="sng">
              <a:solidFill>
                <a:srgbClr val="0c493a"/>
              </a:solidFill>
            </a:ln>
          </c:spPr>
          <c:marker>
            <c:symbol val="none"/>
            <c:size val="7"/>
          </c:marker>
          <c:cat>
            <c:strRef>
              <c:f>Sheet1!$A$2:$A$7</c:f>
              <c:strCache>
                <c:ptCount val="6"/>
                <c:pt idx="0">
                  <c:v>00~04</c:v>
                </c:pt>
                <c:pt idx="1">
                  <c:v>04~08</c:v>
                </c:pt>
                <c:pt idx="2">
                  <c:v>08~12</c:v>
                </c:pt>
                <c:pt idx="3">
                  <c:v>12~16</c:v>
                </c:pt>
                <c:pt idx="4">
                  <c:v>16~20</c:v>
                </c:pt>
                <c:pt idx="5">
                  <c:v>20~24</c:v>
                </c:pt>
              </c:strCache>
            </c:strRef>
          </c:cat>
          <c:val>
            <c:numRef>
              <c:f>Sheet1!$B$2:$B$7</c:f>
              <c:numCache>
                <c:formatCode>0.0"%"</c:formatCode>
                <c:ptCount val="6"/>
                <c:pt idx="0">
                  <c:v>11</c:v>
                </c:pt>
                <c:pt idx="1">
                  <c:v>12.3</c:v>
                </c:pt>
                <c:pt idx="2">
                  <c:v>22.4</c:v>
                </c:pt>
                <c:pt idx="3">
                  <c:v>19.1</c:v>
                </c:pt>
                <c:pt idx="4">
                  <c:v>17.6</c:v>
                </c:pt>
                <c:pt idx="5">
                  <c:v>17.5</c:v>
                </c:pt>
              </c:numCache>
            </c:numRef>
          </c:val>
          <c:smooth val="0"/>
        </c:ser>
        <c:ser>
          <c:idx val="1"/>
          <c:order val="1"/>
          <c:tx>
            <c:strRef>
              <c:f>Sheet1!$C$1</c:f>
              <c:strCache>
                <c:ptCount val="1"/>
                <c:pt idx="0">
                  <c:v>금곡동·질병</c:v>
                </c:pt>
              </c:strCache>
            </c:strRef>
          </c:tx>
          <c:spPr>
            <a:solidFill>
              <a:srgbClr val="5d9b83"/>
            </a:solidFill>
            <a:ln w="28575" cap="rnd" cmpd="sng">
              <a:solidFill>
                <a:srgbClr val="5d9b83"/>
              </a:solidFill>
            </a:ln>
          </c:spPr>
          <c:marker>
            <c:symbol val="none"/>
            <c:size val="7"/>
          </c:marker>
          <c:cat>
            <c:strRef>
              <c:f>Sheet1!$A$2:$A$7</c:f>
              <c:strCache>
                <c:ptCount val="6"/>
                <c:pt idx="0">
                  <c:v>00~04</c:v>
                </c:pt>
                <c:pt idx="1">
                  <c:v>04~08</c:v>
                </c:pt>
                <c:pt idx="2">
                  <c:v>08~12</c:v>
                </c:pt>
                <c:pt idx="3">
                  <c:v>12~16</c:v>
                </c:pt>
                <c:pt idx="4">
                  <c:v>16~20</c:v>
                </c:pt>
                <c:pt idx="5">
                  <c:v>20~24</c:v>
                </c:pt>
              </c:strCache>
            </c:strRef>
          </c:cat>
          <c:val>
            <c:numRef>
              <c:f>Sheet1!$C$2:$C$7</c:f>
              <c:numCache>
                <c:formatCode>0.0"%"</c:formatCode>
                <c:ptCount val="6"/>
                <c:pt idx="0">
                  <c:v>10.1</c:v>
                </c:pt>
                <c:pt idx="1">
                  <c:v>11.6</c:v>
                </c:pt>
                <c:pt idx="2">
                  <c:v>25.2</c:v>
                </c:pt>
                <c:pt idx="3">
                  <c:v>19.4</c:v>
                </c:pt>
                <c:pt idx="4">
                  <c:v>17.6</c:v>
                </c:pt>
                <c:pt idx="5">
                  <c:v>15.9</c:v>
                </c:pt>
              </c:numCache>
            </c:numRef>
          </c:val>
          <c:smooth val="0"/>
        </c:ser>
        <c:ser>
          <c:idx val="2"/>
          <c:order val="2"/>
          <c:tx>
            <c:strRef>
              <c:f>Sheet1!$D$1</c:f>
              <c:strCache>
                <c:ptCount val="1"/>
                <c:pt idx="0">
                  <c:v>부전동·질병외</c:v>
                </c:pt>
              </c:strCache>
            </c:strRef>
          </c:tx>
          <c:spPr>
            <a:solidFill>
              <a:srgbClr val="b0803b"/>
            </a:solidFill>
            <a:ln w="28575" cap="rnd" cmpd="sng">
              <a:solidFill>
                <a:srgbClr val="b0803b"/>
              </a:solidFill>
            </a:ln>
          </c:spPr>
          <c:marker>
            <c:symbol val="none"/>
            <c:size val="7"/>
          </c:marker>
          <c:cat>
            <c:strRef>
              <c:f>Sheet1!$A$2:$A$7</c:f>
              <c:strCache>
                <c:ptCount val="6"/>
                <c:pt idx="0">
                  <c:v>00~04</c:v>
                </c:pt>
                <c:pt idx="1">
                  <c:v>04~08</c:v>
                </c:pt>
                <c:pt idx="2">
                  <c:v>08~12</c:v>
                </c:pt>
                <c:pt idx="3">
                  <c:v>12~16</c:v>
                </c:pt>
                <c:pt idx="4">
                  <c:v>16~20</c:v>
                </c:pt>
                <c:pt idx="5">
                  <c:v>20~24</c:v>
                </c:pt>
              </c:strCache>
            </c:strRef>
          </c:cat>
          <c:val>
            <c:numRef>
              <c:f>Sheet1!$D$2:$D$7</c:f>
              <c:numCache>
                <c:formatCode>0.0"%"</c:formatCode>
                <c:ptCount val="6"/>
                <c:pt idx="0">
                  <c:v>16.2</c:v>
                </c:pt>
                <c:pt idx="1">
                  <c:v>10.9</c:v>
                </c:pt>
                <c:pt idx="2">
                  <c:v>13.5</c:v>
                </c:pt>
                <c:pt idx="3">
                  <c:v>19.9</c:v>
                </c:pt>
                <c:pt idx="4">
                  <c:v>18.9</c:v>
                </c:pt>
                <c:pt idx="5">
                  <c:v>20.7</c:v>
                </c:pt>
              </c:numCache>
            </c:numRef>
          </c:val>
          <c:smooth val="0"/>
        </c:ser>
        <c:dLbls>
          <c:delete val="0"/>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dLblPos val="r"/>
          <c:showLegendKey val="0"/>
          <c:showVal val="0"/>
          <c:showCatName val="0"/>
          <c:showSerName val="0"/>
          <c:showPercent val="0"/>
          <c:showBubbleSize val="0"/>
          <c:showLeaderLines val="0"/>
        </c:dLbls>
        <c:marker val="1"/>
        <c:smooth val="0"/>
        <c:axId val="48650112"/>
        <c:axId val="48672768"/>
      </c:lineChart>
      <c:catAx>
        <c:axId val="48650112"/>
        <c:scaling>
          <c:orientation val="minMax"/>
        </c:scaling>
        <c:axPos val="b"/>
        <c:crossAx val="48672768"/>
        <c:delete val="0"/>
        <c:numFmt formatCode="General" sourceLinked="1"/>
        <c:majorTickMark val="none"/>
        <c:minorTickMark val="none"/>
        <c:tickLblPos val="nextTo"/>
        <c:spPr>
          <a:ln w="9525">
            <a:solidFill>
              <a:srgbClr val="666666"/>
            </a:solid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auto val="1"/>
        <c:lblAlgn val="ctr"/>
        <c:lblOffset val="100"/>
        <c:tickMarkSkip val="1"/>
        <c:noMultiLvlLbl val="0"/>
      </c:catAx>
      <c:valAx>
        <c:axId val="48672768"/>
        <c:scaling>
          <c:orientation val="minMax"/>
          <c:max val="30"/>
          <c:min val="0"/>
        </c:scaling>
        <c:axPos val="l"/>
        <c:crossAx val="48650112"/>
        <c:delete val="0"/>
        <c:majorGridlines>
          <c:spPr>
            <a:ln w="4763">
              <a:solidFill>
                <a:srgbClr val="d9e1e5"/>
              </a:solidFill>
            </a:ln>
          </c:spPr>
        </c:majorGridlines>
        <c:numFmt formatCode="0.0&quot;%&quot;" sourceLinked="1"/>
        <c:majorTickMark val="none"/>
        <c:minorTickMark val="none"/>
        <c:tickLblPos val="nextTo"/>
        <c:spPr>
          <a:ln w="0">
            <a:no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crossBetween val="between"/>
      </c:valAx>
      <c:spPr>
        <a:solidFill>
          <a:srgbClr val="ffffff"/>
        </a:solidFill>
        <a:ln w="0">
          <a:noFill/>
        </a:ln>
      </c:spPr>
    </c:plotArea>
    <c:legend>
      <c:legendPos val="b"/>
      <c:layout/>
      <c:overlay val="0"/>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legend>
    <c:plotVisOnly val="0"/>
    <c:dispBlanksAs val="gap"/>
  </c:chart>
  <c:spPr>
    <a:solidFill>
      <a:srgbClr val="ffffff"/>
    </a:solidFill>
    <a:ln w="0">
      <a:noFill/>
    </a:ln>
  </c:spPr>
  <c:extLst>
    <c:ext uri="CC8EB2C9-7E31-499d-B8F2-F6CE61031016">
      <ho:hncChartStyle xmlns:ho="http://schemas.haansoft.com/office/8.0" layoutIndex="-1" colorIndex="-1" styleIndex="-1"/>
    </c:ext>
  </c:extLst>
  <c:externalData r:id="rId1">
    <c:autoUpdate val="0"/>
  </c:externalData>
</c:chartSpace>
</file>

<file path=ppt/charts/chart5.xml><?xml version="1.0" encoding="utf-8"?>
<c:chartSpace xmlns:r="http://schemas.openxmlformats.org/officeDocument/2006/relationships" xmlns:a="http://schemas.openxmlformats.org/drawingml/2006/main" xmlns:c="http://schemas.openxmlformats.org/drawingml/2006/chart">
  <c:date1904 val="0"/>
  <mc:AlternateContent xmlns:mc="http://schemas.openxmlformats.org/markup-compatibility/2006">
    <mc:Choice xmlns:c14="http://schemas.microsoft.com/office/drawing/2007/8/2/chart" Requires="c14">
      <c14:style val="102"/>
    </mc:Choice>
    <mc:Fallback>
      <c:style val="2"/>
    </mc:Fallback>
  </mc:AlternateContent>
  <c:roundedCorners val="0"/>
  <c:chart>
    <c:title>
      <c:layout/>
      <c:overlay val="0"/>
      <c:txPr>
        <a:bodyPr rot="0" vert="horz" wrap="none" lIns="0" tIns="0" rIns="0" bIns="0" anchor="ctr" anchorCtr="1"/>
        <a:p>
          <a:pPr algn="l">
            <a:defRPr sz="1400" b="0" i="0" u="none"/>
          </a:pPr>
          <a:endParaRPr/>
        </a:p>
      </c:txPr>
    </c:title>
    <c:autoTitleDeleted val="0"/>
    <c:plotArea>
      <c:layout/>
      <c:barChart>
        <c:barDir val="col"/>
        <c:grouping val="clustered"/>
        <c:varyColors val="0"/>
        <c:ser>
          <c:idx val="0"/>
          <c:order val="0"/>
          <c:tx>
            <c:strRef>
              <c:f>Sheet1!$B$1</c:f>
              <c:strCache>
                <c:ptCount val="1"/>
                <c:pt idx="0">
                  <c:v>65세 이상 비중(%)</c:v>
                </c:pt>
              </c:strCache>
            </c:strRef>
          </c:tx>
          <c:spPr>
            <a:solidFill>
              <a:srgbClr val="0c493a"/>
            </a:solidFill>
            <a:ln w="28575">
              <a:solidFill>
                <a:srgbClr val="0c493a"/>
              </a:solidFill>
            </a:ln>
          </c:spPr>
          <c:invertIfNegative val="0"/>
          <c:cat>
            <c:strRef>
              <c:f>Sheet1!$A$2:$A$6</c:f>
              <c:strCache>
                <c:ptCount val="5"/>
                <c:pt idx="0">
                  <c:v>다대1동</c:v>
                </c:pt>
                <c:pt idx="1">
                  <c:v>다대2동</c:v>
                </c:pt>
                <c:pt idx="2">
                  <c:v>금곡동</c:v>
                </c:pt>
                <c:pt idx="3">
                  <c:v>부전1동</c:v>
                </c:pt>
                <c:pt idx="4">
                  <c:v>부전2동</c:v>
                </c:pt>
              </c:strCache>
            </c:strRef>
          </c:cat>
          <c:val>
            <c:numRef>
              <c:f>Sheet1!$B$2:$B$6</c:f>
              <c:numCache>
                <c:formatCode>0.0"%"</c:formatCode>
                <c:ptCount val="5"/>
                <c:pt idx="0">
                  <c:v>23.3</c:v>
                </c:pt>
                <c:pt idx="1">
                  <c:v>27</c:v>
                </c:pt>
                <c:pt idx="2">
                  <c:v>29.4</c:v>
                </c:pt>
                <c:pt idx="3">
                  <c:v>18.8</c:v>
                </c:pt>
                <c:pt idx="4">
                  <c:v>13.1</c:v>
                </c:pt>
              </c:numCache>
            </c:numRef>
          </c:val>
        </c:ser>
        <c:dLbls>
          <c:delete val="0"/>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dLblPos val="outEnd"/>
          <c:showLegendKey val="0"/>
          <c:showVal val="1"/>
          <c:showCatName val="0"/>
          <c:showSerName val="0"/>
          <c:showPercent val="0"/>
          <c:showBubbleSize val="0"/>
          <c:showLeaderLines val="0"/>
        </c:dLbls>
        <c:gapWidth val="60"/>
        <c:overlap val="0"/>
        <c:axId val="48650112"/>
        <c:axId val="48672768"/>
      </c:barChart>
      <c:catAx>
        <c:axId val="48650112"/>
        <c:scaling>
          <c:orientation val="minMax"/>
        </c:scaling>
        <c:axPos val="b"/>
        <c:crossAx val="48672768"/>
        <c:delete val="0"/>
        <c:numFmt formatCode="General" sourceLinked="1"/>
        <c:majorTickMark val="none"/>
        <c:minorTickMark val="none"/>
        <c:tickLblPos val="nextTo"/>
        <c:spPr>
          <a:ln w="9525">
            <a:solidFill>
              <a:srgbClr val="666666"/>
            </a:solid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auto val="1"/>
        <c:lblAlgn val="ctr"/>
        <c:lblOffset val="100"/>
        <c:tickMarkSkip val="1"/>
        <c:noMultiLvlLbl val="0"/>
      </c:catAx>
      <c:valAx>
        <c:axId val="48672768"/>
        <c:scaling>
          <c:orientation val="minMax"/>
          <c:max val="40"/>
          <c:min val="0"/>
        </c:scaling>
        <c:axPos val="l"/>
        <c:crossAx val="48650112"/>
        <c:delete val="0"/>
        <c:majorGridlines>
          <c:spPr>
            <a:ln w="4763">
              <a:solidFill>
                <a:srgbClr val="d9e1e5"/>
              </a:solidFill>
            </a:ln>
          </c:spPr>
        </c:majorGridlines>
        <c:numFmt formatCode="0.0&quot;%&quot;" sourceLinked="1"/>
        <c:majorTickMark val="none"/>
        <c:minorTickMark val="none"/>
        <c:tickLblPos val="nextTo"/>
        <c:spPr>
          <a:ln w="0">
            <a:noFill/>
          </a:ln>
        </c:spPr>
        <c:txPr>
          <a:bodyPr rot="0" vert="horz" wrap="none" lIns="0" tIns="0" rIns="0" bIns="0" anchor="ctr" anchorCtr="1"/>
          <a:p>
            <a:pPr algn="l">
              <a:defRPr sz="1350" b="0" i="0" u="none">
                <a:solidFill>
                  <a:srgbClr val="20352d"/>
                </a:solidFill>
                <a:latin typeface="Malgun Gothic"/>
                <a:ea typeface="Malgun Gothic"/>
                <a:cs typeface="Malgun Gothic"/>
                <a:sym typeface="Malgun Gothic"/>
              </a:defRPr>
            </a:pPr>
            <a:endParaRPr/>
          </a:p>
        </c:txPr>
        <c:crosses val="autoZero"/>
        <c:crossBetween val="between"/>
      </c:valAx>
      <c:spPr>
        <a:solidFill>
          <a:srgbClr val="ffffff"/>
        </a:solidFill>
        <a:ln w="0">
          <a:noFill/>
        </a:ln>
      </c:spPr>
    </c:plotArea>
    <c:plotVisOnly val="0"/>
    <c:dispBlanksAs val="gap"/>
  </c:chart>
  <c:spPr>
    <a:solidFill>
      <a:srgbClr val="ffffff"/>
    </a:solidFill>
    <a:ln w="0">
      <a:noFill/>
    </a:ln>
  </c:spPr>
  <c:extLst>
    <c:ext uri="CC8EB2C9-7E31-499d-B8F2-F6CE61031016">
      <ho:hncChartStyle xmlns:ho="http://schemas.haansoft.com/office/8.0" layoutIndex="-1" colorIndex="-1" styleIndex="-1"/>
    </c:ext>
  </c:extLs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idx="0"/>
          </p:nvPr>
        </p:nvSpPr>
        <p:spPr>
          <a:prstGeom prst="rect">
            <a:avLst/>
          </a:prstGeom>
        </p:spPr>
        <p:txBody>
          <a:bodyPr/>
          <a:lstStyle/>
          <a:p>
            <a:pPr>
              <a:defRPr/>
            </a:pPr>
            <a:r>
              <a:rPr lang="ko-KR" altLang="en-US"/>
              <a:t/>
            </a:r>
            <a:endParaRPr lang="ko-KR" altLang="en-US"/>
          </a:p>
        </p:txBody>
      </p:sp>
      <p:sp>
        <p:nvSpPr>
          <p:cNvPr id="3" name="Date Placeholder"/>
          <p:cNvSpPr>
            <a:spLocks noGrp="1"/>
          </p:cNvSpPr>
          <p:nvPr>
            <p:ph type="dt" sz="quarter" idx="1"/>
          </p:nvPr>
        </p:nvSpPr>
        <p:spPr>
          <a:prstGeom prst="rect">
            <a:avLst/>
          </a:prstGeom>
        </p:spPr>
        <p:txBody>
          <a:bodyPr/>
          <a:lstStyle/>
          <a:p>
            <a:pPr>
              <a:defRPr/>
            </a:pPr>
            <a:r>
              <a:rPr lang="ko-KR" altLang="en-US"/>
              <a:t/>
            </a:r>
            <a:endParaRPr lang="ko-KR" altLang="en-US"/>
          </a:p>
        </p:txBody>
      </p:sp>
      <p:sp>
        <p:nvSpPr>
          <p:cNvPr id="4" name="Slide Image Placeholder"/>
          <p:cNvSpPr>
            <a:spLocks noGrp="1" noRot="1" noChangeAspect="1" noTextEdit="1"/>
          </p:cNvSpPr>
          <p:nvPr>
            <p:ph type="sldImg" idx="2"/>
          </p:nvPr>
        </p:nvSpPr>
        <p:spPr>
          <a:prstGeom prst="rect">
            <a:avLst/>
          </a:prstGeom>
        </p:spPr>
        <p:txBody>
          <a:bodyPr/>
          <a:lstStyle/>
          <a:p>
            <a:pPr>
              <a:defRPr/>
            </a:pPr>
            <a:endParaRPr lang="ko-KR" altLang="en-US"/>
          </a:p>
        </p:txBody>
      </p:sp>
      <p:sp>
        <p:nvSpPr>
          <p:cNvPr id="5" name="Notes Placeholder"/>
          <p:cNvSpPr>
            <a:spLocks noGrp="1"/>
          </p:cNvSpPr>
          <p:nvPr>
            <p:ph type="body" sz="quarter" idx="3"/>
          </p:nvPr>
        </p:nvSpPr>
        <p:spPr>
          <a:prstGeom prst="rect">
            <a:avLst/>
          </a:prstGeom>
        </p:spPr>
        <p:txBody>
          <a:bodyPr/>
          <a:lstStyle/>
          <a:p>
            <a:pPr>
              <a:defRPr/>
            </a:pPr>
            <a:r>
              <a:rPr lang="ko-KR" altLang="en-US"/>
              <a:t/>
            </a:r>
            <a:endParaRPr lang="ko-KR" altLang="en-US"/>
          </a:p>
        </p:txBody>
      </p:sp>
      <p:sp>
        <p:nvSpPr>
          <p:cNvPr id="6" name="Footer Placeholder"/>
          <p:cNvSpPr>
            <a:spLocks noGrp="1"/>
          </p:cNvSpPr>
          <p:nvPr>
            <p:ph type="ftr" sz="quarter" idx="4"/>
          </p:nvPr>
        </p:nvSpPr>
        <p:spPr>
          <a:prstGeom prst="rect">
            <a:avLst/>
          </a:prstGeom>
        </p:spPr>
        <p:txBody>
          <a:bodyPr/>
          <a:lstStyle/>
          <a:p>
            <a:pPr>
              <a:defRPr/>
            </a:pPr>
            <a:r>
              <a:rPr lang="ko-KR" altLang="en-US"/>
              <a:t/>
            </a:r>
            <a:endParaRPr lang="ko-KR" altLang="en-US"/>
          </a:p>
        </p:txBody>
      </p:sp>
      <p:sp>
        <p:nvSpPr>
          <p:cNvPr id="7" name="Slide Number Placeholder"/>
          <p:cNvSpPr>
            <a:spLocks noGrp="1"/>
          </p:cNvSpPr>
          <p:nvPr>
            <p:ph type="sldNum" sz="quarter" idx="5"/>
          </p:nvPr>
        </p:nvSpPr>
        <p:spPr>
          <a:prstGeom prst="rect">
            <a:avLst/>
          </a:prstGeom>
        </p:spPr>
        <p:txBody>
          <a:bodyPr/>
          <a:lstStyle/>
          <a:p>
            <a:pPr>
              <a:defRPr/>
            </a:pPr>
            <a:r>
              <a:rPr lang="ko-KR" altLang="en-US"/>
              <a:t/>
            </a:r>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지역별 신고 특성을 비교하고 기존 보건사업의 이용 경로를 점검하는 제안. 정책 효과를 실측한 연구는 아니다.</a:t>
            </a:r>
            <a:endParaRPr lang="ko-KR" altLang="en-US"/>
          </a:p>
          <a:p>
            <a:pPr lvl="0">
              <a:defRPr/>
            </a:pPr>
            <a:endParaRPr lang="ko-KR" altLang="en-US"/>
          </a:p>
          <a:p>
            <a:pPr lvl="0">
              <a:defRPr/>
            </a:pPr>
            <a:r>
              <a:rPr lang="ko-KR" altLang="en-US"/>
              <a:t>출처: 사용자 제공: 2026년 Big Data 활용 대회 작성 서식 (2).hwp, 보고서 1~5절, 2026-09-18.</a:t>
            </a:r>
            <a:endParaRPr lang="ko-KR" altLang="en-US"/>
          </a:p>
          <a:p>
            <a:pPr lvl="0">
              <a:defRPr/>
            </a:pPr>
            <a:r>
              <a:rPr lang="ko-KR" altLang="en-US"/>
              <a:t>재집계: data/processed/신고17개-로컬전처리-20260917-133450/C_2020~2024.csv.gz. 정상처리, 업무운행·훈련출동·구급차소독 제외 후 벌집제거 제외. 총 555,786건.</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발표 목차. 페이지 범위는 표지와 목차를 포함한 최종 22장 기준.</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질병190,682+질병외188,863+부상42,522=422,067건. 전체555,786건의75.94056%. 지역 선정은 전 지역에 대한 정책 우선순위 확정이 아니다.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출처 기관: 부산소방재난본부, 행정안전부, 소상공인시장진흥공단, 부산광역시, SGIS, 질병관리청, 부산 Big-데이터웨이브, 각 보건소. 시설 위치·인력 보유량만으로 출동 가능성이나 서비스 부족을 단정하지 않는다.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704689/1334514=52.8049%. 선택17개 항목 완전기재 자료는 위치정보와 접수경로의 선택 영향을 갖는다. 원자료 전체의 대표성을 자동으로 부여하지 않는다.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기타유형133719건. 보고서의4개 범주를 원자료 재집계로 검산했다. 분류명 질병외와 사고원인은 다르다.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부산진구64,059가 원자료 재집계값이다. 첨부HWP 표64,509는 총합과450건 차이. 정정값은16구군합555,786, 상위5구252,014와 일치한다.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표의 사례 수치는 첨부HWP. 다대·금곡·부전의 건수 및시간은현재로컬C자료에서벌집제거제외후재집계하여검산. 시간은신고접수시각이다.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동분모:[["다대동",10952],["금곡동",9293]] 제외부산 구성비:34.254103084609255,34.2304475995118. 같은 자료의기술적구성비비교이며 통계적유의성 검정은 제시하지 않는다.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6시간구간별값은원자료재집계. 다대질병910/4054=22.45%,금곡912/3615=25.23%,부전질병외956/4625=20.67%.</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추가 검증: tmp/ppt-build/robustness.py 및 robustness.json. 주 분석 조건 고정 후 2020~2024 중 한 해씩 제외한 5개 집계. 해당 동과 해당 동을 제외한 부산의 질병 구성비 차이. 5개 비교는 서로 자료가 겹치므로 독립 표본이 아니며 통계적 유의성 검정이 아님. 기존 보고서의 30개 조건 검증과 별개인 신규 재집계.</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기존사업의존재및확인상태는첨부HWP3~4절을기준으로표시. 금곡운영내용은원문에서재확인대상이므로현재확정운영정보로격상하지않았다.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본 슬라이드는 분석 후 제안한 검증 설계이며 공백의 발생 또는 서비스 실패를 확인한 실측 결과가 아님. 주민 동의와 기관의 기존 기록 범위 내에서 단계별 집계 확인, 119 개인 기록과 임의 연계하지 않음.</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웹 캡처: 로컬 web/final, http://127.0.0.1:8766/, 2026-09-18. 실제 조작 화면. C조건 574,662건, 벌집제거 포함. 지도 출처 표기 유지. 전체지도와구군접수비중, 소방관서 위치를탐색. 현재경계색은개별사건좌표나위험도면적이아니다.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웹 캡처: 로컬 web/final, http://127.0.0.1:8766/, 2026-09-18. 실제 조작 화면. C조건 574,662건, 벌집제거 포함. 지도 출처 표기 유지. 다대동C조건11,058건은벌집제거포함. 원문신고동의구급대분류구성및5개년추세화면.</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웹 캡처: 로컬 web/final, http://127.0.0.1:8766/, 2026-09-18. 실제 조작 화면. C조건 574,662건, 벌집제거 포함. 지도 출처 표기 유지. 두패널은같은사용자조작에서캡처한원본이미지. 주민후보선택은신고를해당행정동에배정한결과가아니다.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첨부보고서의정량기대효과를측정가능한분모와비교설계로구체화한제안. 첫교육완료율의추적기간은기관과사전확정. 예산·목표수치는확보되지않아표시하지않는다.</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신규 제안인 운영·평가 절차. 확정 일정·예산·효과 수치 없음. 같은 추적기간의 대상자에 대해 완료 여부와 관찰 미완료를 구분하고 표본 크기, 교육 기회, 계절적 변화 등을 함께 보고할 필요.</a:t>
            </a:r>
            <a:endParaRPr lang="ko-KR" altLang="en-US"/>
          </a:p>
          <a:p>
            <a:pPr lvl="0">
              <a:defRPr/>
            </a:pPr>
            <a:endParaRPr/>
          </a:p>
          <a:p>
            <a:pPr lvl="0">
              <a:defRPr/>
            </a:pPr>
            <a:r>
              <a:rPr/>
              <a:t>출처: 사용자 제공: 2026년 Big Data 활용 대회 작성 서식 (2).hwp, 보고서 1~5절, 2026-09-18.</a:t>
            </a:r>
            <a:endParaRPr/>
          </a:p>
          <a:p>
            <a:pPr lvl="0">
              <a:defRPr/>
            </a:pPr>
            <a:r>
              <a:rPr/>
              <a:t>재집계: data/processed/신고17개-로컬전처리-20260917-133450/C_2020~2024.csv.gz. 정상처리, 업무운행·훈련출동·구급차소독 제외 후 벌집제거 제외. 총 555,786건.</a:t>
            </a:r>
            <a:endParaRPr/>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notesSlides/notesSlide1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ko-KR" altLang="en-US"/>
              <a:t>교육 부족이나 건강 악화의 인과 입증이 아니다. 기존 사업의 절차를 확인하고 시범 평가한다.</a:t>
            </a:r>
            <a:endParaRPr lang="ko-KR" altLang="en-US"/>
          </a:p>
          <a:p>
            <a:pPr lvl="0">
              <a:defRPr/>
            </a:pPr>
            <a:endParaRPr lang="ko-KR" altLang="en-US"/>
          </a:p>
          <a:p>
            <a:pPr lvl="0">
              <a:defRPr/>
            </a:pPr>
            <a:r>
              <a:rPr lang="ko-KR" altLang="en-US"/>
              <a:t>출처: 사용자 제공: 2026년 Big Data 활용 대회 작성 서식 (2).hwp, 보고서 1~5절, 2026-09-18.</a:t>
            </a:r>
            <a:endParaRPr lang="ko-KR" altLang="en-US"/>
          </a:p>
          <a:p>
            <a:pPr lvl="0">
              <a:defRPr/>
            </a:pPr>
            <a:r>
              <a:rPr lang="ko-KR" altLang="en-US"/>
              <a:t>재집계: data/processed/신고17개-로컬전처리-20260917-133450/C_2020~2024.csv.gz. 정상처리, 업무운행·훈련출동·구급차소독 제외 후 벌집제거 제외. 총 555,786건.</a:t>
            </a:r>
            <a:endParaRPr lang="ko-KR" altLang="en-US"/>
          </a:p>
        </p:txBody>
      </p:sp>
      <p:sp>
        <p:nvSpPr>
          <p:cNvPr id="4" name="Slide Number Placeholder 3"/>
          <p:cNvSpPr>
            <a:spLocks noGrp="1"/>
          </p:cNvSpPr>
          <p:nvPr>
            <p:ph type="sldNum" idx="5"/>
          </p:nvPr>
        </p:nvSpPr>
        <p:spPr/>
        <p:txBody>
          <a:bodyPr/>
          <a:lstStyle/>
          <a:p>
            <a:pPr>
              <a:defRPr/>
            </a:pPr>
            <a:r>
              <a:rPr lang="ko-KR" altLang="en-US"/>
              <a:t/>
            </a:r>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74f56017e84843a8" Type="http://schemas.openxmlformats.org/officeDocument/2006/relationships/slideMaster" Target="../slideMasters/slideMaster1.xml"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c1c894a1a7b4837" Type="http://schemas.openxmlformats.org/officeDocument/2006/relationships/theme" Target="../theme/theme1.xml"  /><Relationship Id="Rb76b57121a95471d" Type="http://schemas.openxmlformats.org/officeDocument/2006/relationships/slideLayout" Target="../slideLayouts/slideLayout1.xml"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6b57121a9547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46aec5c1e9df49eb" Type="http://schemas.openxmlformats.org/officeDocument/2006/relationships/notesSlide" Target="../notesSlides/notesSlide2.xml"  /><Relationship Id="R6a9ef3befb0d443f"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1.xml"  /><Relationship Id="rId3" Type="http://schemas.openxmlformats.org/officeDocument/2006/relationships/chart" Target="../charts/chart1.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1.xml"  /><Relationship Id="rId3" Type="http://schemas.openxmlformats.org/officeDocument/2006/relationships/chart" Target="../charts/chart2.xml"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7.xml"  /><Relationship Id="rId2" Type="http://schemas.openxmlformats.org/officeDocument/2006/relationships/slideLayout" Target="../slideLayouts/slideLayout1.xml"  /><Relationship Id="rId3" Type="http://schemas.openxmlformats.org/officeDocument/2006/relationships/chart" Target="../charts/chart3.xml"  /></Relationships>
</file>

<file path=ppt/slides/_rels/slide8.xml.rels><?xml version="1.0" encoding="UTF-8" standalone="yes" ?><Relationships xmlns="http://schemas.openxmlformats.org/package/2006/relationships"><Relationship Id="R786737d1bb854a8f" Type="http://schemas.openxmlformats.org/officeDocument/2006/relationships/notesSlide" Target="../notesSlides/notesSlide8.xml"  /><Relationship Id="Rb3fe5cada67f404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7f65de8bda334692" Type="http://schemas.openxmlformats.org/officeDocument/2006/relationships/notesSlide" Target="../notesSlides/notesSlide9.xml"  /><Relationship Id="Ra78e10dc4da74895" Type="http://schemas.openxmlformats.org/officeDocument/2006/relationships/slideLayout" Target="../slideLayouts/slideLayout1.xml"  /><Relationship Id="Ra87c75fa23004010" Type="http://schemas.openxmlformats.org/officeDocument/2006/relationships/chart" Target="../charts/chart4.xml"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10.xml"  /><Relationship Id="rId2" Type="http://schemas.openxmlformats.org/officeDocument/2006/relationships/slideLayout" Target="../slideLayouts/slideLayout1.xml"  /><Relationship Id="rId3" Type="http://schemas.openxmlformats.org/officeDocument/2006/relationships/chart" Target="../charts/chart4.xml"  /></Relationships>
</file>

<file path=ppt/slides/_rels/slide11.xml.rels><?xml version="1.0" encoding="UTF-8" standalone="yes" ?><Relationships xmlns="http://schemas.openxmlformats.org/package/2006/relationships"><Relationship Id="Ra04833f9a31a4e86" Type="http://schemas.openxmlformats.org/officeDocument/2006/relationships/slideLayout" Target="../slideLayouts/slideLayout1.xml"  /><Relationship Id="rId1" Type="http://schemas.openxmlformats.org/officeDocument/2006/relationships/chart" Target="../charts/chart5.xml"  /></Relationships>
</file>

<file path=ppt/slides/_rels/slide12.xml.rels><?xml version="1.0" encoding="UTF-8" standalone="yes" ?><Relationships xmlns="http://schemas.openxmlformats.org/package/2006/relationships"><Relationship Id="R68ee5f3849224b5f" Type="http://schemas.openxmlformats.org/officeDocument/2006/relationships/notesSlide" Target="../notesSlides/notesSlide11.xml"  /><Relationship Id="Rd30c4d9229544b27"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1" Type="http://schemas.openxmlformats.org/officeDocument/2006/relationships/notesSlide" Target="../notesSlides/notesSlide13.xml"  /><Relationship Id="rId2"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a6a2fe976cdd4cea"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289310d7cb3447d7"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notesSlide" Target="../notesSlides/notesSlide14.xml"  /><Relationship Id="rId2" Type="http://schemas.openxmlformats.org/officeDocument/2006/relationships/slideLayout" Target="../slideLayouts/slideLayout1.xml"  /><Relationship Id="rId3" Type="http://schemas.openxmlformats.org/officeDocument/2006/relationships/image" Target="../media/image1.png"  /></Relationships>
</file>

<file path=ppt/slides/_rels/slide18.xml.rels><?xml version="1.0" encoding="UTF-8" standalone="yes" ?><Relationships xmlns="http://schemas.openxmlformats.org/package/2006/relationships"><Relationship Id="rId1" Type="http://schemas.openxmlformats.org/officeDocument/2006/relationships/notesSlide" Target="../notesSlides/notesSlide15.xml"  /><Relationship Id="rId2" Type="http://schemas.openxmlformats.org/officeDocument/2006/relationships/slideLayout" Target="../slideLayouts/slideLayout1.xml"  /><Relationship Id="rId3" Type="http://schemas.openxmlformats.org/officeDocument/2006/relationships/image" Target="../media/image2.png"  /></Relationships>
</file>

<file path=ppt/slides/_rels/slide19.xml.rels><?xml version="1.0" encoding="UTF-8" standalone="yes" ?><Relationships xmlns="http://schemas.openxmlformats.org/package/2006/relationships"><Relationship Id="rId1" Type="http://schemas.openxmlformats.org/officeDocument/2006/relationships/notesSlide" Target="../notesSlides/notesSlide16.xml"  /><Relationship Id="rId2" Type="http://schemas.openxmlformats.org/officeDocument/2006/relationships/slideLayout" Target="../slideLayouts/slideLayout1.xml"  /><Relationship Id="rId3" Type="http://schemas.openxmlformats.org/officeDocument/2006/relationships/image" Target="../media/image3.png"  /><Relationship Id="rId4" Type="http://schemas.openxmlformats.org/officeDocument/2006/relationships/image" Target="../media/image4.png"  /><Relationship Id="rId5" Type="http://schemas.openxmlformats.org/officeDocument/2006/relationships/image" Target="../media/image5.png"  /></Relationships>
</file>

<file path=ppt/slides/_rels/slide20.xml.rels><?xml version="1.0" encoding="UTF-8" standalone="yes" ?><Relationships xmlns="http://schemas.openxmlformats.org/package/2006/relationships"><Relationship Id="R5ca4876cd3884413" Type="http://schemas.openxmlformats.org/officeDocument/2006/relationships/notesSlide" Target="../notesSlides/notesSlide17.xml"  /><Relationship Id="Rb498ef18e3aa4502"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1" Type="http://schemas.openxmlformats.org/officeDocument/2006/relationships/notesSlide" Target="../notesSlides/notesSlide18.xml"  /><Relationship Id="rId2"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1" Type="http://schemas.openxmlformats.org/officeDocument/2006/relationships/notesSlide" Target="../notesSlides/notesSlide19.xml"  /><Relationship Id="rId2"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4" name="직사각형 3"/>
          <p:cNvSpPr>
            <a:spLocks noGrp="1"/>
          </p:cNvSpPr>
          <p:nvPr/>
        </p:nvSpPr>
        <p:spPr>
          <a:xfrm>
            <a:off x="0" y="6381750"/>
            <a:ext cx="12192000" cy="476250"/>
          </a:xfrm>
          <a:prstGeom prst="rect">
            <a:avLst/>
          </a:prstGeom>
          <a:solidFill>
            <a:srgbClr val="0c493a"/>
          </a:solidFill>
          <a:ln w="0">
            <a:noFill/>
          </a:ln>
        </p:spPr>
        <p:txBody>
          <a:bodyPr anchor="ctr"/>
          <a:p>
            <a:pPr algn="ctr">
              <a:defRPr/>
            </a:pPr>
            <a:endParaRPr lang="ko-KR" altLang="en-US"/>
          </a:p>
        </p:txBody>
      </p:sp>
      <p:sp>
        <p:nvSpPr>
          <p:cNvPr id="5" name="AI데이터과학 미래인재양성 집중 프로그램 2026"/>
          <p:cNvSpPr>
            <a:spLocks noGrp="1"/>
          </p:cNvSpPr>
          <p:nvPr/>
        </p:nvSpPr>
        <p:spPr>
          <a:xfrm>
            <a:off x="857250" y="2143125"/>
            <a:ext cx="10477500" cy="1619250"/>
          </a:xfrm>
          <a:prstGeom prst="rect">
            <a:avLst/>
          </a:prstGeom>
          <a:noFill/>
          <a:ln w="0">
            <a:noFill/>
          </a:ln>
        </p:spPr>
        <p:txBody>
          <a:bodyPr anchor="ctr">
            <a:noAutofit/>
          </a:bodyPr>
          <a:lstStyle/>
          <a:p>
            <a:pPr algn="ctr">
              <a:defRPr sz="3675" b="1">
                <a:solidFill>
                  <a:srgbClr val="20352d"/>
                </a:solidFill>
                <a:latin typeface="맑은 고딕"/>
                <a:ea typeface="맑은 고딕"/>
                <a:cs typeface="맑은 고딕"/>
              </a:defRPr>
            </a:pPr>
            <a:r>
              <a:rPr sz="3675">
                <a:solidFill>
                  <a:schemeClr val="tx1"/>
                </a:solidFill>
                <a:latin typeface="맑은 고딕"/>
                <a:ea typeface="맑은 고딕"/>
                <a:cs typeface="맑은 고딕"/>
              </a:rPr>
              <a:t>부산시 119 신고 특성에 따른</a:t>
            </a:r>
            <a:endParaRPr sz="3675">
              <a:solidFill>
                <a:schemeClr val="tx1"/>
              </a:solidFill>
              <a:latin typeface="맑은 고딕"/>
              <a:ea typeface="맑은 고딕"/>
              <a:cs typeface="맑은 고딕"/>
            </a:endParaRPr>
          </a:p>
          <a:p>
            <a:pPr algn="ctr">
              <a:defRPr sz="3675" b="1">
                <a:solidFill>
                  <a:srgbClr val="20352d"/>
                </a:solidFill>
                <a:latin typeface="맑은 고딕"/>
                <a:ea typeface="맑은 고딕"/>
                <a:cs typeface="맑은 고딕"/>
              </a:defRPr>
            </a:pPr>
            <a:r>
              <a:rPr sz="3675">
                <a:solidFill>
                  <a:schemeClr val="tx1"/>
                </a:solidFill>
                <a:latin typeface="맑은 고딕"/>
                <a:ea typeface="맑은 고딕"/>
                <a:cs typeface="맑은 고딕"/>
              </a:rPr>
              <a:t>맞춤형 예방안 제안</a:t>
            </a:r>
            <a:endParaRPr lang="ko-KR" altLang="en-US" sz="3675">
              <a:solidFill>
                <a:schemeClr val="tx1"/>
              </a:solidFill>
              <a:latin typeface="맑은 고딕"/>
              <a:ea typeface="맑은 고딕"/>
              <a:cs typeface="맑은 고딕"/>
            </a:endParaRPr>
          </a:p>
        </p:txBody>
      </p:sp>
      <p:sp>
        <p:nvSpPr>
          <p:cNvPr id="6" name="다대동·금곡동의 질병 신고와 기존 건강교육 참여 경로 검토"/>
          <p:cNvSpPr>
            <a:spLocks noGrp="1"/>
          </p:cNvSpPr>
          <p:nvPr/>
        </p:nvSpPr>
        <p:spPr>
          <a:xfrm>
            <a:off x="1143000" y="4010025"/>
            <a:ext cx="9906000" cy="504825"/>
          </a:xfrm>
          <a:prstGeom prst="rect">
            <a:avLst/>
          </a:prstGeom>
          <a:noFill/>
          <a:ln w="0">
            <a:noFill/>
          </a:ln>
        </p:spPr>
        <p:txBody>
          <a:bodyPr anchor="ctr">
            <a:noAutofit/>
          </a:bodyPr>
          <a:lstStyle/>
          <a:p>
            <a:pPr algn="ctr">
              <a:defRPr sz="1875" b="0">
                <a:solidFill>
                  <a:srgbClr val="53675e"/>
                </a:solidFill>
                <a:latin typeface="맑은 고딕"/>
                <a:ea typeface="맑은 고딕"/>
                <a:cs typeface="맑은 고딕"/>
              </a:defRPr>
            </a:pPr>
            <a:r>
              <a:rPr sz="1875" b="1">
                <a:solidFill>
                  <a:srgbClr val="808080"/>
                </a:solidFill>
                <a:latin typeface="맑은 고딕"/>
                <a:ea typeface="맑은 고딕"/>
                <a:cs typeface="맑은 고딕"/>
              </a:rPr>
              <a:t>AI데이터과학 미래인재양성</a:t>
            </a:r>
            <a:r>
              <a:rPr lang="ko-KR" altLang="en-US" sz="1875" b="1">
                <a:solidFill>
                  <a:srgbClr val="808080"/>
                </a:solidFill>
                <a:latin typeface="맑은 고딕"/>
                <a:ea typeface="맑은 고딕"/>
                <a:cs typeface="맑은 고딕"/>
              </a:rPr>
              <a:t> </a:t>
            </a:r>
            <a:r>
              <a:rPr sz="1875" b="1">
                <a:solidFill>
                  <a:srgbClr val="808080"/>
                </a:solidFill>
                <a:latin typeface="맑은 고딕"/>
                <a:ea typeface="맑은 고딕"/>
                <a:cs typeface="맑은 고딕"/>
              </a:rPr>
              <a:t>집중 프로그램 2026</a:t>
            </a:r>
            <a:endParaRPr sz="1875" b="1">
              <a:solidFill>
                <a:srgbClr val="808080"/>
              </a:solidFill>
              <a:latin typeface="맑은 고딕"/>
              <a:ea typeface="맑은 고딕"/>
              <a:cs typeface="맑은 고딕"/>
            </a:endParaRPr>
          </a:p>
        </p:txBody>
      </p:sp>
      <p:sp>
        <p:nvSpPr>
          <p:cNvPr id="7" name="한남대학교"/>
          <p:cNvSpPr>
            <a:spLocks noGrp="1"/>
          </p:cNvSpPr>
          <p:nvPr/>
        </p:nvSpPr>
        <p:spPr>
          <a:xfrm>
            <a:off x="1143000" y="4981575"/>
            <a:ext cx="9906000" cy="457200"/>
          </a:xfrm>
          <a:prstGeom prst="rect">
            <a:avLst/>
          </a:prstGeom>
          <a:noFill/>
          <a:ln w="0">
            <a:noFill/>
          </a:ln>
        </p:spPr>
        <p:txBody>
          <a:bodyPr anchor="ctr">
            <a:noAutofit/>
          </a:bodyPr>
          <a:lstStyle/>
          <a:p>
            <a:pPr algn="ctr">
              <a:defRPr sz="2100" b="0">
                <a:solidFill>
                  <a:srgbClr val="53675e"/>
                </a:solidFill>
                <a:latin typeface="맑은 고딕"/>
                <a:ea typeface="맑은 고딕"/>
                <a:cs typeface="맑은 고딕"/>
              </a:defRPr>
            </a:pPr>
            <a:r>
              <a:rPr sz="2100" b="0">
                <a:solidFill>
                  <a:srgbClr val="53675e"/>
                </a:solidFill>
                <a:latin typeface="맑은 고딕"/>
                <a:ea typeface="맑은 고딕"/>
                <a:cs typeface="맑은 고딕"/>
              </a:rPr>
              <a:t>한남대학교</a:t>
            </a:r>
            <a:endParaRPr sz="21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heme-top-band">
            <a:extLst xmlns:a="http://schemas.openxmlformats.org/drawingml/2006/main">
              <a:ext uri="{FF2B5EF4-FFF2-40B4-BE49-F238E27FC236}">
                <a16:creationId xmlns:a16="http://schemas.microsoft.com/office/drawing/2014/main" id="{4DDAFA3B-B248-4857-9212-4AB19091D4EF}"/>
              </a:ext>
            </a:extLst>
          </p:cNvPr>
          <p:cNvSpPr>
            <a:spLocks xmlns:a="http://schemas.openxmlformats.org/drawingml/2006/main" noGrp="1"/>
          </p:cNvSpPr>
          <p:nvPr/>
        </p:nvSpPr>
        <p:spPr>
          <a:xfrm xmlns:a="http://schemas.openxmlformats.org/drawingml/2006/main">
            <a:off x="0" y="0"/>
            <a:ext cx="12192000" cy="200025"/>
          </a:xfrm>
          <a:custGeom xmlns:a="http://schemas.openxmlformats.org/drawingml/2006/main">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xmlns:a="http://schemas.openxmlformats.org/drawingml/2006/main">
            <a:srgbClr val="0C493A"/>
          </a:solidFill>
          <a:ln xmlns:a="http://schemas.openxmlformats.org/drawingml/2006/main" w="0">
            <a:noFill/>
          </a:ln>
        </p:spPr>
      </p:sp>
      <p:sp>
        <p:nvSpPr>
          <p:cNvPr id="6" name="theme-bottom-band">
            <a:extLst xmlns:a="http://schemas.openxmlformats.org/drawingml/2006/main">
              <a:ext uri="{FF2B5EF4-FFF2-40B4-BE49-F238E27FC236}">
                <a16:creationId xmlns:a16="http://schemas.microsoft.com/office/drawing/2014/main" id="{B7C567E3-83F7-425C-96FF-24DAC2B9F36F}"/>
              </a:ext>
            </a:extLst>
          </p:cNvPr>
          <p:cNvSpPr>
            <a:spLocks xmlns:a="http://schemas.openxmlformats.org/drawingml/2006/main" noGrp="1"/>
          </p:cNvSpPr>
          <p:nvPr/>
        </p:nvSpPr>
        <p:spPr>
          <a:xfrm xmlns:a="http://schemas.openxmlformats.org/drawingml/2006/main">
            <a:off x="0" y="6657975"/>
            <a:ext cx="12192000" cy="200025"/>
          </a:xfrm>
          <a:custGeom xmlns:a="http://schemas.openxmlformats.org/drawingml/2006/main">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xmlns:a="http://schemas.openxmlformats.org/drawingml/2006/main">
            <a:srgbClr val="0C493A"/>
          </a:solidFill>
          <a:ln xmlns:a="http://schemas.openxmlformats.org/drawingml/2006/main" w="0">
            <a:noFill/>
          </a:ln>
        </p:spPr>
      </p:sp>
      <p:sp>
        <p:nvSpPr>
          <p:cNvPr id="12" name="직사각형 36">
            <a:extLst xmlns:a="http://schemas.openxmlformats.org/drawingml/2006/main">
              <a:ext uri="{FF2B5EF4-FFF2-40B4-BE49-F238E27FC236}">
                <a16:creationId xmlns:a16="http://schemas.microsoft.com/office/drawing/2014/main" id="{4B2D9E24-1D13-4361-ABD0-C4F91B718A45}"/>
              </a:ext>
            </a:extLst>
          </p:cNvPr>
          <p:cNvSpPr>
            <a:spLocks xmlns:a="http://schemas.openxmlformats.org/drawingml/2006/main" noGrp="1"/>
          </p:cNvSpPr>
          <p:nvPr/>
        </p:nvSpPr>
        <p:spPr>
          <a:xfrm xmlns:a="http://schemas.openxmlformats.org/drawingml/2006/main">
            <a:off x="609600" y="5991225"/>
            <a:ext cx="10972800" cy="466725"/>
          </a:xfrm>
          <a:prstGeom xmlns:a="http://schemas.openxmlformats.org/drawingml/2006/main" prst="rect">
            <a:avLst/>
          </a:prstGeom>
          <a:solidFill xmlns:a="http://schemas.openxmlformats.org/drawingml/2006/main">
            <a:srgbClr val="0C493A"/>
          </a:solidFill>
          <a:ln xmlns:a="http://schemas.openxmlformats.org/drawingml/2006/main" w="0">
            <a:noFill/>
          </a:ln>
        </p:spPr>
      </p:sp>
      <p:sp>
        <p:nvSpPr>
          <p:cNvPr id="13" name="목차">
            <a:extLst xmlns:a="http://schemas.openxmlformats.org/drawingml/2006/main">
              <a:ext uri="{FF2B5EF4-FFF2-40B4-BE49-F238E27FC236}">
                <a16:creationId xmlns:a16="http://schemas.microsoft.com/office/drawing/2014/main" id="{61A577AE-5A6E-4426-A014-697565149AF3}"/>
              </a:ext>
            </a:extLst>
          </p:cNvPr>
          <p:cNvSpPr>
            <a:spLocks xmlns:a="http://schemas.openxmlformats.org/drawingml/2006/main" noGrp="1"/>
          </p:cNvSpPr>
          <p:nvPr/>
        </p:nvSpPr>
        <p:spPr>
          <a:xfrm xmlns:a="http://schemas.openxmlformats.org/drawingml/2006/main">
            <a:off x="609600" y="323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0C493A"/>
                </a:solidFill>
                <a:latin typeface="Malgun Gothic"/>
                <a:ea typeface="Malgun Gothic"/>
                <a:cs typeface="Malgun Gothic"/>
              </a:defRPr>
            </a:pPr>
            <a:r>
              <a:rPr sz="2850" b="1">
                <a:solidFill>
                  <a:srgbClr val="0C493A"/>
                </a:solidFill>
                <a:latin typeface="Malgun Gothic"/>
                <a:ea typeface="Malgun Gothic"/>
                <a:cs typeface="Malgun Gothic"/>
              </a:rPr>
              <a:t>목차</a:t>
            </a:r>
          </a:p>
        </p:txBody>
      </p:sp>
      <p:sp>
        <p:nvSpPr>
          <p:cNvPr id="14" name="부산 전체 분석에서 기존 서비스의 보완안까지">
            <a:extLst xmlns:a="http://schemas.openxmlformats.org/drawingml/2006/main">
              <a:ext uri="{FF2B5EF4-FFF2-40B4-BE49-F238E27FC236}">
                <a16:creationId xmlns:a16="http://schemas.microsoft.com/office/drawing/2014/main" id="{AA64530C-41F5-4548-B3FE-42102E232475}"/>
              </a:ext>
            </a:extLst>
          </p:cNvPr>
          <p:cNvSpPr>
            <a:spLocks xmlns:a="http://schemas.openxmlformats.org/drawingml/2006/main" noGrp="1"/>
          </p:cNvSpPr>
          <p:nvPr/>
        </p:nvSpPr>
        <p:spPr>
          <a:xfrm xmlns:a="http://schemas.openxmlformats.org/drawingml/2006/main">
            <a:off x="609600" y="10001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52D"/>
                </a:solidFill>
                <a:latin typeface="Malgun Gothic"/>
                <a:ea typeface="Malgun Gothic"/>
                <a:cs typeface="Malgun Gothic"/>
              </a:defRPr>
            </a:pPr>
            <a:r>
              <a:rPr sz="2025" b="1">
                <a:solidFill>
                  <a:srgbClr val="20352D"/>
                </a:solidFill>
                <a:latin typeface="Malgun Gothic"/>
                <a:ea typeface="Malgun Gothic"/>
                <a:cs typeface="Malgun Gothic"/>
              </a:rPr>
              <a:t>부산 전체 분석에서 기존 서비스의 보완안까지</a:t>
            </a:r>
          </a:p>
        </p:txBody>
      </p:sp>
      <p:sp>
        <p:nvSpPr>
          <p:cNvPr id="15" name="01">
            <a:extLst xmlns:a="http://schemas.openxmlformats.org/drawingml/2006/main">
              <a:ext uri="{FF2B5EF4-FFF2-40B4-BE49-F238E27FC236}">
                <a16:creationId xmlns:a16="http://schemas.microsoft.com/office/drawing/2014/main" id="{0888DAD6-0217-42FE-A4B7-A68475889E05}"/>
              </a:ext>
            </a:extLst>
          </p:cNvPr>
          <p:cNvSpPr>
            <a:spLocks xmlns:a="http://schemas.openxmlformats.org/drawingml/2006/main" noGrp="1"/>
          </p:cNvSpPr>
          <p:nvPr/>
        </p:nvSpPr>
        <p:spPr>
          <a:xfrm xmlns:a="http://schemas.openxmlformats.org/drawingml/2006/main">
            <a:off x="762000" y="1952625"/>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C493A"/>
                </a:solidFill>
                <a:latin typeface="Malgun Gothic"/>
                <a:ea typeface="Malgun Gothic"/>
                <a:cs typeface="Malgun Gothic"/>
              </a:defRPr>
            </a:pPr>
            <a:r>
              <a:rPr sz="1950" b="1">
                <a:solidFill>
                  <a:srgbClr val="0C493A"/>
                </a:solidFill>
                <a:latin typeface="Malgun Gothic"/>
                <a:ea typeface="Malgun Gothic"/>
                <a:cs typeface="Malgun Gothic"/>
              </a:rPr>
              <a:t>01</a:t>
            </a:r>
          </a:p>
        </p:txBody>
      </p:sp>
      <p:sp>
        <p:nvSpPr>
          <p:cNvPr id="16" name="연구 배경과 목적">
            <a:extLst xmlns:a="http://schemas.openxmlformats.org/drawingml/2006/main">
              <a:ext uri="{FF2B5EF4-FFF2-40B4-BE49-F238E27FC236}">
                <a16:creationId xmlns:a16="http://schemas.microsoft.com/office/drawing/2014/main" id="{3D68FCE7-2E27-4B65-BE96-15740BB5C095}"/>
              </a:ext>
            </a:extLst>
          </p:cNvPr>
          <p:cNvSpPr>
            <a:spLocks xmlns:a="http://schemas.openxmlformats.org/drawingml/2006/main" noGrp="1"/>
          </p:cNvSpPr>
          <p:nvPr/>
        </p:nvSpPr>
        <p:spPr>
          <a:xfrm xmlns:a="http://schemas.openxmlformats.org/drawingml/2006/main">
            <a:off x="1752600" y="19526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0352D"/>
                </a:solidFill>
                <a:latin typeface="Malgun Gothic"/>
                <a:ea typeface="Malgun Gothic"/>
                <a:cs typeface="Malgun Gothic"/>
              </a:defRPr>
            </a:pPr>
            <a:r>
              <a:rPr sz="2025" b="0">
                <a:solidFill>
                  <a:srgbClr val="20352D"/>
                </a:solidFill>
                <a:latin typeface="Malgun Gothic"/>
                <a:ea typeface="Malgun Gothic"/>
                <a:cs typeface="Malgun Gothic"/>
              </a:rPr>
              <a:t>연구 배경과 목적</a:t>
            </a:r>
          </a:p>
        </p:txBody>
      </p:sp>
      <p:sp>
        <p:nvSpPr>
          <p:cNvPr id="17" name="03">
            <a:extLst xmlns:a="http://schemas.openxmlformats.org/drawingml/2006/main">
              <a:ext uri="{FF2B5EF4-FFF2-40B4-BE49-F238E27FC236}">
                <a16:creationId xmlns:a16="http://schemas.microsoft.com/office/drawing/2014/main" id="{ABF29304-6BB1-48C9-A6BE-04D6E05169E4}"/>
              </a:ext>
            </a:extLst>
          </p:cNvPr>
          <p:cNvSpPr>
            <a:spLocks xmlns:a="http://schemas.openxmlformats.org/drawingml/2006/main" noGrp="1"/>
          </p:cNvSpPr>
          <p:nvPr/>
        </p:nvSpPr>
        <p:spPr>
          <a:xfrm xmlns:a="http://schemas.openxmlformats.org/drawingml/2006/main">
            <a:off x="10096500" y="195262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03</a:t>
            </a:r>
          </a:p>
        </p:txBody>
      </p:sp>
      <p:sp>
        <p:nvSpPr>
          <p:cNvPr id="18" name="02">
            <a:extLst xmlns:a="http://schemas.openxmlformats.org/drawingml/2006/main">
              <a:ext uri="{FF2B5EF4-FFF2-40B4-BE49-F238E27FC236}">
                <a16:creationId xmlns:a16="http://schemas.microsoft.com/office/drawing/2014/main" id="{302FBC0A-CE5A-4117-9926-26F630AB8BC6}"/>
              </a:ext>
            </a:extLst>
          </p:cNvPr>
          <p:cNvSpPr>
            <a:spLocks xmlns:a="http://schemas.openxmlformats.org/drawingml/2006/main" noGrp="1"/>
          </p:cNvSpPr>
          <p:nvPr/>
        </p:nvSpPr>
        <p:spPr>
          <a:xfrm xmlns:a="http://schemas.openxmlformats.org/drawingml/2006/main">
            <a:off x="762000" y="2476500"/>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C493A"/>
                </a:solidFill>
                <a:latin typeface="Malgun Gothic"/>
                <a:ea typeface="Malgun Gothic"/>
                <a:cs typeface="Malgun Gothic"/>
              </a:defRPr>
            </a:pPr>
            <a:r>
              <a:rPr sz="1950" b="1">
                <a:solidFill>
                  <a:srgbClr val="0C493A"/>
                </a:solidFill>
                <a:latin typeface="Malgun Gothic"/>
                <a:ea typeface="Malgun Gothic"/>
                <a:cs typeface="Malgun Gothic"/>
              </a:rPr>
              <a:t>02</a:t>
            </a:r>
          </a:p>
        </p:txBody>
      </p:sp>
      <p:sp>
        <p:nvSpPr>
          <p:cNvPr id="19" name="데이터와 분석 기준">
            <a:extLst xmlns:a="http://schemas.openxmlformats.org/drawingml/2006/main">
              <a:ext uri="{FF2B5EF4-FFF2-40B4-BE49-F238E27FC236}">
                <a16:creationId xmlns:a16="http://schemas.microsoft.com/office/drawing/2014/main" id="{83A9B6A3-9427-48D2-9CDB-A21B1B99D01D}"/>
              </a:ext>
            </a:extLst>
          </p:cNvPr>
          <p:cNvSpPr>
            <a:spLocks xmlns:a="http://schemas.openxmlformats.org/drawingml/2006/main" noGrp="1"/>
          </p:cNvSpPr>
          <p:nvPr/>
        </p:nvSpPr>
        <p:spPr>
          <a:xfrm xmlns:a="http://schemas.openxmlformats.org/drawingml/2006/main">
            <a:off x="1752600" y="247650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0352D"/>
                </a:solidFill>
                <a:latin typeface="Malgun Gothic"/>
                <a:ea typeface="Malgun Gothic"/>
                <a:cs typeface="Malgun Gothic"/>
              </a:defRPr>
            </a:pPr>
            <a:r>
              <a:rPr sz="2025" b="0">
                <a:solidFill>
                  <a:srgbClr val="20352D"/>
                </a:solidFill>
                <a:latin typeface="Malgun Gothic"/>
                <a:ea typeface="Malgun Gothic"/>
                <a:cs typeface="Malgun Gothic"/>
              </a:rPr>
              <a:t>데이터와 분석 기준</a:t>
            </a:r>
          </a:p>
        </p:txBody>
      </p:sp>
      <p:sp>
        <p:nvSpPr>
          <p:cNvPr id="20" name="04–05">
            <a:extLst xmlns:a="http://schemas.openxmlformats.org/drawingml/2006/main">
              <a:ext uri="{FF2B5EF4-FFF2-40B4-BE49-F238E27FC236}">
                <a16:creationId xmlns:a16="http://schemas.microsoft.com/office/drawing/2014/main" id="{D493B87C-C84A-49D3-BC68-E8A2389C52ED}"/>
              </a:ext>
            </a:extLst>
          </p:cNvPr>
          <p:cNvSpPr>
            <a:spLocks xmlns:a="http://schemas.openxmlformats.org/drawingml/2006/main" noGrp="1"/>
          </p:cNvSpPr>
          <p:nvPr/>
        </p:nvSpPr>
        <p:spPr>
          <a:xfrm xmlns:a="http://schemas.openxmlformats.org/drawingml/2006/main">
            <a:off x="10096500" y="2476500"/>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04–05</a:t>
            </a:r>
          </a:p>
        </p:txBody>
      </p:sp>
      <p:sp>
        <p:nvSpPr>
          <p:cNvPr id="21" name="03">
            <a:extLst xmlns:a="http://schemas.openxmlformats.org/drawingml/2006/main">
              <a:ext uri="{FF2B5EF4-FFF2-40B4-BE49-F238E27FC236}">
                <a16:creationId xmlns:a16="http://schemas.microsoft.com/office/drawing/2014/main" id="{FD70F775-E265-479F-A67D-EDFA0FAC7B3B}"/>
              </a:ext>
            </a:extLst>
          </p:cNvPr>
          <p:cNvSpPr>
            <a:spLocks xmlns:a="http://schemas.openxmlformats.org/drawingml/2006/main" noGrp="1"/>
          </p:cNvSpPr>
          <p:nvPr/>
        </p:nvSpPr>
        <p:spPr>
          <a:xfrm xmlns:a="http://schemas.openxmlformats.org/drawingml/2006/main">
            <a:off x="762000" y="3000375"/>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C493A"/>
                </a:solidFill>
                <a:latin typeface="Malgun Gothic"/>
                <a:ea typeface="Malgun Gothic"/>
                <a:cs typeface="Malgun Gothic"/>
              </a:defRPr>
            </a:pPr>
            <a:r>
              <a:rPr sz="1950" b="1">
                <a:solidFill>
                  <a:srgbClr val="0C493A"/>
                </a:solidFill>
                <a:latin typeface="Malgun Gothic"/>
                <a:ea typeface="Malgun Gothic"/>
                <a:cs typeface="Malgun Gothic"/>
              </a:rPr>
              <a:t>03</a:t>
            </a:r>
          </a:p>
        </p:txBody>
      </p:sp>
      <p:sp>
        <p:nvSpPr>
          <p:cNvPr id="22" name="지역별 분석 결과">
            <a:extLst xmlns:a="http://schemas.openxmlformats.org/drawingml/2006/main">
              <a:ext uri="{FF2B5EF4-FFF2-40B4-BE49-F238E27FC236}">
                <a16:creationId xmlns:a16="http://schemas.microsoft.com/office/drawing/2014/main" id="{0CB4420D-01A5-4FEF-A54A-53205A09D23E}"/>
              </a:ext>
            </a:extLst>
          </p:cNvPr>
          <p:cNvSpPr>
            <a:spLocks xmlns:a="http://schemas.openxmlformats.org/drawingml/2006/main" noGrp="1"/>
          </p:cNvSpPr>
          <p:nvPr/>
        </p:nvSpPr>
        <p:spPr>
          <a:xfrm xmlns:a="http://schemas.openxmlformats.org/drawingml/2006/main">
            <a:off x="1752600" y="300037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0352D"/>
                </a:solidFill>
                <a:latin typeface="Malgun Gothic"/>
                <a:ea typeface="Malgun Gothic"/>
                <a:cs typeface="Malgun Gothic"/>
              </a:defRPr>
            </a:pPr>
            <a:r>
              <a:rPr sz="2025" b="0">
                <a:solidFill>
                  <a:srgbClr val="20352D"/>
                </a:solidFill>
                <a:latin typeface="Malgun Gothic"/>
                <a:ea typeface="Malgun Gothic"/>
                <a:cs typeface="Malgun Gothic"/>
              </a:rPr>
              <a:t>지역별 분석 결과</a:t>
            </a:r>
          </a:p>
        </p:txBody>
      </p:sp>
      <p:sp>
        <p:nvSpPr>
          <p:cNvPr id="23" name="06–11">
            <a:extLst xmlns:a="http://schemas.openxmlformats.org/drawingml/2006/main">
              <a:ext uri="{FF2B5EF4-FFF2-40B4-BE49-F238E27FC236}">
                <a16:creationId xmlns:a16="http://schemas.microsoft.com/office/drawing/2014/main" id="{1DC98E4F-62C5-48A9-BF96-F13DC1397A26}"/>
              </a:ext>
            </a:extLst>
          </p:cNvPr>
          <p:cNvSpPr>
            <a:spLocks xmlns:a="http://schemas.openxmlformats.org/drawingml/2006/main" noGrp="1"/>
          </p:cNvSpPr>
          <p:nvPr/>
        </p:nvSpPr>
        <p:spPr>
          <a:xfrm xmlns:a="http://schemas.openxmlformats.org/drawingml/2006/main">
            <a:off x="10096500" y="300037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06–11</a:t>
            </a:r>
          </a:p>
        </p:txBody>
      </p:sp>
      <p:sp>
        <p:nvSpPr>
          <p:cNvPr id="24" name="04">
            <a:extLst xmlns:a="http://schemas.openxmlformats.org/drawingml/2006/main">
              <a:ext uri="{FF2B5EF4-FFF2-40B4-BE49-F238E27FC236}">
                <a16:creationId xmlns:a16="http://schemas.microsoft.com/office/drawing/2014/main" id="{0D09E6F7-A8A6-4909-A473-800CD69BC5FF}"/>
              </a:ext>
            </a:extLst>
          </p:cNvPr>
          <p:cNvSpPr>
            <a:spLocks xmlns:a="http://schemas.openxmlformats.org/drawingml/2006/main" noGrp="1"/>
          </p:cNvSpPr>
          <p:nvPr/>
        </p:nvSpPr>
        <p:spPr>
          <a:xfrm xmlns:a="http://schemas.openxmlformats.org/drawingml/2006/main">
            <a:off x="762000" y="3524250"/>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C493A"/>
                </a:solidFill>
                <a:latin typeface="Malgun Gothic"/>
                <a:ea typeface="Malgun Gothic"/>
                <a:cs typeface="Malgun Gothic"/>
              </a:defRPr>
            </a:pPr>
            <a:r>
              <a:rPr sz="1950" b="1">
                <a:solidFill>
                  <a:srgbClr val="0C493A"/>
                </a:solidFill>
                <a:latin typeface="Malgun Gothic"/>
                <a:ea typeface="Malgun Gothic"/>
                <a:cs typeface="Malgun Gothic"/>
              </a:rPr>
              <a:t>04</a:t>
            </a:r>
          </a:p>
        </p:txBody>
      </p:sp>
      <p:sp>
        <p:nvSpPr>
          <p:cNvPr id="25" name="사례 선정과 검증">
            <a:extLst xmlns:a="http://schemas.openxmlformats.org/drawingml/2006/main">
              <a:ext uri="{FF2B5EF4-FFF2-40B4-BE49-F238E27FC236}">
                <a16:creationId xmlns:a16="http://schemas.microsoft.com/office/drawing/2014/main" id="{A0CC0C7C-F362-4084-A514-E718B6A7640B}"/>
              </a:ext>
            </a:extLst>
          </p:cNvPr>
          <p:cNvSpPr>
            <a:spLocks xmlns:a="http://schemas.openxmlformats.org/drawingml/2006/main" noGrp="1"/>
          </p:cNvSpPr>
          <p:nvPr/>
        </p:nvSpPr>
        <p:spPr>
          <a:xfrm xmlns:a="http://schemas.openxmlformats.org/drawingml/2006/main">
            <a:off x="1752600" y="35242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0352D"/>
                </a:solidFill>
                <a:latin typeface="Malgun Gothic"/>
                <a:ea typeface="Malgun Gothic"/>
                <a:cs typeface="Malgun Gothic"/>
              </a:defRPr>
            </a:pPr>
            <a:r>
              <a:rPr sz="2025" b="0">
                <a:solidFill>
                  <a:srgbClr val="20352D"/>
                </a:solidFill>
                <a:latin typeface="Malgun Gothic"/>
                <a:ea typeface="Malgun Gothic"/>
                <a:cs typeface="Malgun Gothic"/>
              </a:rPr>
              <a:t>사례 선정과 검증</a:t>
            </a:r>
          </a:p>
        </p:txBody>
      </p:sp>
      <p:sp>
        <p:nvSpPr>
          <p:cNvPr id="26" name="12">
            <a:extLst xmlns:a="http://schemas.openxmlformats.org/drawingml/2006/main">
              <a:ext uri="{FF2B5EF4-FFF2-40B4-BE49-F238E27FC236}">
                <a16:creationId xmlns:a16="http://schemas.microsoft.com/office/drawing/2014/main" id="{C775F9CD-F0E6-48DE-ABB6-1FDF1221EDE8}"/>
              </a:ext>
            </a:extLst>
          </p:cNvPr>
          <p:cNvSpPr>
            <a:spLocks xmlns:a="http://schemas.openxmlformats.org/drawingml/2006/main" noGrp="1"/>
          </p:cNvSpPr>
          <p:nvPr/>
        </p:nvSpPr>
        <p:spPr>
          <a:xfrm xmlns:a="http://schemas.openxmlformats.org/drawingml/2006/main">
            <a:off x="10096500" y="3524250"/>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12</a:t>
            </a:r>
          </a:p>
        </p:txBody>
      </p:sp>
      <p:sp>
        <p:nvSpPr>
          <p:cNvPr id="27" name="05">
            <a:extLst xmlns:a="http://schemas.openxmlformats.org/drawingml/2006/main">
              <a:ext uri="{FF2B5EF4-FFF2-40B4-BE49-F238E27FC236}">
                <a16:creationId xmlns:a16="http://schemas.microsoft.com/office/drawing/2014/main" id="{BC1AECF1-B7A5-4C6B-9111-85B952EEAC53}"/>
              </a:ext>
            </a:extLst>
          </p:cNvPr>
          <p:cNvSpPr>
            <a:spLocks xmlns:a="http://schemas.openxmlformats.org/drawingml/2006/main" noGrp="1"/>
          </p:cNvSpPr>
          <p:nvPr/>
        </p:nvSpPr>
        <p:spPr>
          <a:xfrm xmlns:a="http://schemas.openxmlformats.org/drawingml/2006/main">
            <a:off x="762000" y="4048125"/>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C493A"/>
                </a:solidFill>
                <a:latin typeface="Malgun Gothic"/>
                <a:ea typeface="Malgun Gothic"/>
                <a:cs typeface="Malgun Gothic"/>
              </a:defRPr>
            </a:pPr>
            <a:r>
              <a:rPr sz="1950" b="1">
                <a:solidFill>
                  <a:srgbClr val="0C493A"/>
                </a:solidFill>
                <a:latin typeface="Malgun Gothic"/>
                <a:ea typeface="Malgun Gothic"/>
                <a:cs typeface="Malgun Gothic"/>
              </a:rPr>
              <a:t>05</a:t>
            </a:r>
          </a:p>
        </p:txBody>
      </p:sp>
      <p:sp>
        <p:nvSpPr>
          <p:cNvPr id="28" name="기존 대응과 실행 제안">
            <a:extLst xmlns:a="http://schemas.openxmlformats.org/drawingml/2006/main">
              <a:ext uri="{FF2B5EF4-FFF2-40B4-BE49-F238E27FC236}">
                <a16:creationId xmlns:a16="http://schemas.microsoft.com/office/drawing/2014/main" id="{ED1EFBC8-4ACB-4ED3-A17A-EBA8EE09CDA7}"/>
              </a:ext>
            </a:extLst>
          </p:cNvPr>
          <p:cNvSpPr>
            <a:spLocks xmlns:a="http://schemas.openxmlformats.org/drawingml/2006/main" noGrp="1"/>
          </p:cNvSpPr>
          <p:nvPr/>
        </p:nvSpPr>
        <p:spPr>
          <a:xfrm xmlns:a="http://schemas.openxmlformats.org/drawingml/2006/main">
            <a:off x="1752600" y="40481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52D"/>
                </a:solidFill>
                <a:latin typeface="Malgun Gothic"/>
                <a:ea typeface="Malgun Gothic"/>
                <a:cs typeface="Malgun Gothic"/>
              </a:defRPr>
            </a:pPr>
            <a:r>
              <a:rPr sz="2025" b="1">
                <a:solidFill>
                  <a:srgbClr val="20352D"/>
                </a:solidFill>
                <a:latin typeface="Malgun Gothic"/>
                <a:ea typeface="Malgun Gothic"/>
                <a:cs typeface="Malgun Gothic"/>
              </a:rPr>
              <a:t>기존 대응과 실행 제안</a:t>
            </a:r>
          </a:p>
        </p:txBody>
      </p:sp>
      <p:sp>
        <p:nvSpPr>
          <p:cNvPr id="29" name="13–16">
            <a:extLst xmlns:a="http://schemas.openxmlformats.org/drawingml/2006/main">
              <a:ext uri="{FF2B5EF4-FFF2-40B4-BE49-F238E27FC236}">
                <a16:creationId xmlns:a16="http://schemas.microsoft.com/office/drawing/2014/main" id="{44372B3B-BF68-4F44-A139-67823C8F3455}"/>
              </a:ext>
            </a:extLst>
          </p:cNvPr>
          <p:cNvSpPr>
            <a:spLocks xmlns:a="http://schemas.openxmlformats.org/drawingml/2006/main" noGrp="1"/>
          </p:cNvSpPr>
          <p:nvPr/>
        </p:nvSpPr>
        <p:spPr>
          <a:xfrm xmlns:a="http://schemas.openxmlformats.org/drawingml/2006/main">
            <a:off x="10096500" y="404812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13–16</a:t>
            </a:r>
          </a:p>
        </p:txBody>
      </p:sp>
      <p:sp>
        <p:nvSpPr>
          <p:cNvPr id="30" name="06">
            <a:extLst xmlns:a="http://schemas.openxmlformats.org/drawingml/2006/main">
              <a:ext uri="{FF2B5EF4-FFF2-40B4-BE49-F238E27FC236}">
                <a16:creationId xmlns:a16="http://schemas.microsoft.com/office/drawing/2014/main" id="{D4284EC3-0D22-4BA6-8513-8A9C55F36933}"/>
              </a:ext>
            </a:extLst>
          </p:cNvPr>
          <p:cNvSpPr>
            <a:spLocks xmlns:a="http://schemas.openxmlformats.org/drawingml/2006/main" noGrp="1"/>
          </p:cNvSpPr>
          <p:nvPr/>
        </p:nvSpPr>
        <p:spPr>
          <a:xfrm xmlns:a="http://schemas.openxmlformats.org/drawingml/2006/main">
            <a:off x="762000" y="4572000"/>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C493A"/>
                </a:solidFill>
                <a:latin typeface="Malgun Gothic"/>
                <a:ea typeface="Malgun Gothic"/>
                <a:cs typeface="Malgun Gothic"/>
              </a:defRPr>
            </a:pPr>
            <a:r>
              <a:rPr sz="1950" b="1">
                <a:solidFill>
                  <a:srgbClr val="0C493A"/>
                </a:solidFill>
                <a:latin typeface="Malgun Gothic"/>
                <a:ea typeface="Malgun Gothic"/>
                <a:cs typeface="Malgun Gothic"/>
              </a:rPr>
              <a:t>06</a:t>
            </a:r>
          </a:p>
        </p:txBody>
      </p:sp>
      <p:sp>
        <p:nvSpPr>
          <p:cNvPr id="31" name="웹 시각화와 활용">
            <a:extLst xmlns:a="http://schemas.openxmlformats.org/drawingml/2006/main">
              <a:ext uri="{FF2B5EF4-FFF2-40B4-BE49-F238E27FC236}">
                <a16:creationId xmlns:a16="http://schemas.microsoft.com/office/drawing/2014/main" id="{87BEDB1D-AEEA-4053-97E2-70AF86EDAB8E}"/>
              </a:ext>
            </a:extLst>
          </p:cNvPr>
          <p:cNvSpPr>
            <a:spLocks xmlns:a="http://schemas.openxmlformats.org/drawingml/2006/main" noGrp="1"/>
          </p:cNvSpPr>
          <p:nvPr/>
        </p:nvSpPr>
        <p:spPr>
          <a:xfrm xmlns:a="http://schemas.openxmlformats.org/drawingml/2006/main">
            <a:off x="1752600" y="457200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0352D"/>
                </a:solidFill>
                <a:latin typeface="Malgun Gothic"/>
                <a:ea typeface="Malgun Gothic"/>
                <a:cs typeface="Malgun Gothic"/>
              </a:defRPr>
            </a:pPr>
            <a:r>
              <a:rPr sz="2025" b="0">
                <a:solidFill>
                  <a:srgbClr val="20352D"/>
                </a:solidFill>
                <a:latin typeface="Malgun Gothic"/>
                <a:ea typeface="Malgun Gothic"/>
                <a:cs typeface="Malgun Gothic"/>
              </a:rPr>
              <a:t>웹 시각화와 활용</a:t>
            </a:r>
          </a:p>
        </p:txBody>
      </p:sp>
      <p:sp>
        <p:nvSpPr>
          <p:cNvPr id="32" name="17–19">
            <a:extLst xmlns:a="http://schemas.openxmlformats.org/drawingml/2006/main">
              <a:ext uri="{FF2B5EF4-FFF2-40B4-BE49-F238E27FC236}">
                <a16:creationId xmlns:a16="http://schemas.microsoft.com/office/drawing/2014/main" id="{06D99A7E-63DA-40DB-921B-F1A892DA99E0}"/>
              </a:ext>
            </a:extLst>
          </p:cNvPr>
          <p:cNvSpPr>
            <a:spLocks xmlns:a="http://schemas.openxmlformats.org/drawingml/2006/main" noGrp="1"/>
          </p:cNvSpPr>
          <p:nvPr/>
        </p:nvSpPr>
        <p:spPr>
          <a:xfrm xmlns:a="http://schemas.openxmlformats.org/drawingml/2006/main">
            <a:off x="10096500" y="4572000"/>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17–19</a:t>
            </a:r>
          </a:p>
        </p:txBody>
      </p:sp>
      <p:sp>
        <p:nvSpPr>
          <p:cNvPr id="33" name="07">
            <a:extLst xmlns:a="http://schemas.openxmlformats.org/drawingml/2006/main">
              <a:ext uri="{FF2B5EF4-FFF2-40B4-BE49-F238E27FC236}">
                <a16:creationId xmlns:a16="http://schemas.microsoft.com/office/drawing/2014/main" id="{6DA11FF3-FECE-49E8-96C4-EF3244395E6B}"/>
              </a:ext>
            </a:extLst>
          </p:cNvPr>
          <p:cNvSpPr>
            <a:spLocks xmlns:a="http://schemas.openxmlformats.org/drawingml/2006/main" noGrp="1"/>
          </p:cNvSpPr>
          <p:nvPr/>
        </p:nvSpPr>
        <p:spPr>
          <a:xfrm xmlns:a="http://schemas.openxmlformats.org/drawingml/2006/main">
            <a:off x="762000" y="5095875"/>
            <a:ext cx="80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0C493A"/>
                </a:solidFill>
                <a:latin typeface="Malgun Gothic"/>
                <a:ea typeface="Malgun Gothic"/>
                <a:cs typeface="Malgun Gothic"/>
              </a:defRPr>
            </a:pPr>
            <a:r>
              <a:rPr sz="1950" b="1">
                <a:solidFill>
                  <a:srgbClr val="0C493A"/>
                </a:solidFill>
                <a:latin typeface="Malgun Gothic"/>
                <a:ea typeface="Malgun Gothic"/>
                <a:cs typeface="Malgun Gothic"/>
              </a:rPr>
              <a:t>07</a:t>
            </a:r>
          </a:p>
        </p:txBody>
      </p:sp>
      <p:sp>
        <p:nvSpPr>
          <p:cNvPr id="34" name="평가 계획과 결론">
            <a:extLst xmlns:a="http://schemas.openxmlformats.org/drawingml/2006/main">
              <a:ext uri="{FF2B5EF4-FFF2-40B4-BE49-F238E27FC236}">
                <a16:creationId xmlns:a16="http://schemas.microsoft.com/office/drawing/2014/main" id="{A0D023E4-6ED6-428A-BCD8-61FC9DC63C39}"/>
              </a:ext>
            </a:extLst>
          </p:cNvPr>
          <p:cNvSpPr>
            <a:spLocks xmlns:a="http://schemas.openxmlformats.org/drawingml/2006/main" noGrp="1"/>
          </p:cNvSpPr>
          <p:nvPr/>
        </p:nvSpPr>
        <p:spPr>
          <a:xfrm xmlns:a="http://schemas.openxmlformats.org/drawingml/2006/main">
            <a:off x="1752600" y="509587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20352D"/>
                </a:solidFill>
                <a:latin typeface="Malgun Gothic"/>
                <a:ea typeface="Malgun Gothic"/>
                <a:cs typeface="Malgun Gothic"/>
              </a:defRPr>
            </a:pPr>
            <a:r>
              <a:rPr sz="2025" b="0">
                <a:solidFill>
                  <a:srgbClr val="20352D"/>
                </a:solidFill>
                <a:latin typeface="Malgun Gothic"/>
                <a:ea typeface="Malgun Gothic"/>
                <a:cs typeface="Malgun Gothic"/>
              </a:rPr>
              <a:t>평가 계획과 결론</a:t>
            </a:r>
          </a:p>
        </p:txBody>
      </p:sp>
      <p:sp>
        <p:nvSpPr>
          <p:cNvPr id="35" name="20–22">
            <a:extLst xmlns:a="http://schemas.openxmlformats.org/drawingml/2006/main">
              <a:ext uri="{FF2B5EF4-FFF2-40B4-BE49-F238E27FC236}">
                <a16:creationId xmlns:a16="http://schemas.microsoft.com/office/drawing/2014/main" id="{49BFE57B-9D41-4AC5-B6A8-51AC6B3E3A4F}"/>
              </a:ext>
            </a:extLst>
          </p:cNvPr>
          <p:cNvSpPr>
            <a:spLocks xmlns:a="http://schemas.openxmlformats.org/drawingml/2006/main" noGrp="1"/>
          </p:cNvSpPr>
          <p:nvPr/>
        </p:nvSpPr>
        <p:spPr>
          <a:xfrm xmlns:a="http://schemas.openxmlformats.org/drawingml/2006/main">
            <a:off x="10096500" y="5095875"/>
            <a:ext cx="138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20–22</a:t>
            </a:r>
          </a:p>
        </p:txBody>
      </p:sp>
      <p:sp>
        <p:nvSpPr>
          <p:cNvPr id="36" name="문제 파악 → 지역별 차이 분석 → 기존 대응 비교 → 실">
            <a:extLst xmlns:a="http://schemas.openxmlformats.org/drawingml/2006/main">
              <a:ext uri="{FF2B5EF4-FFF2-40B4-BE49-F238E27FC236}">
                <a16:creationId xmlns:a16="http://schemas.microsoft.com/office/drawing/2014/main" id="{805977F6-EAFC-47C0-B498-FE41F9716A49}"/>
              </a:ext>
            </a:extLst>
          </p:cNvPr>
          <p:cNvSpPr>
            <a:spLocks xmlns:a="http://schemas.openxmlformats.org/drawingml/2006/main" noGrp="1"/>
          </p:cNvSpPr>
          <p:nvPr/>
        </p:nvSpPr>
        <p:spPr>
          <a:xfrm xmlns:a="http://schemas.openxmlformats.org/drawingml/2006/main">
            <a:off x="733425" y="6048375"/>
            <a:ext cx="1072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문제 파악 → 지역별 차이 분석 → 기존 대응 비교 → 실행·평가 제안</a:t>
            </a:r>
          </a:p>
        </p:txBody>
      </p:sp>
      <p:sp>
        <p:nvSpPr>
          <p:cNvPr id="37" name="02 / 22">
            <a:extLst xmlns:a="http://schemas.openxmlformats.org/drawingml/2006/main">
              <a:ext uri="{FF2B5EF4-FFF2-40B4-BE49-F238E27FC236}">
                <a16:creationId xmlns:a16="http://schemas.microsoft.com/office/drawing/2014/main" id="{8AC2CFC0-707D-4780-B5CB-E7E4AB882EB8}"/>
              </a:ext>
            </a:extLst>
          </p:cNvPr>
          <p:cNvSpPr>
            <a:spLocks xmlns:a="http://schemas.openxmlformats.org/drawingml/2006/main" noGrp="1"/>
          </p:cNvSpPr>
          <p:nvPr/>
        </p:nvSpPr>
        <p:spPr>
          <a:xfrm xmlns:a="http://schemas.openxmlformats.org/drawingml/2006/main">
            <a:off x="10648950" y="6477000"/>
            <a:ext cx="914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3675E"/>
                </a:solidFill>
                <a:latin typeface="Malgun Gothic"/>
                <a:ea typeface="Malgun Gothic"/>
                <a:cs typeface="Malgun Gothic"/>
              </a:defRPr>
            </a:pPr>
            <a:r>
              <a:rPr sz="900" b="0">
                <a:solidFill>
                  <a:srgbClr val="53675E"/>
                </a:solidFill>
                <a:latin typeface="Malgun Gothic"/>
                <a:ea typeface="Malgun Gothic"/>
                <a:cs typeface="Malgun Gothic"/>
              </a:rPr>
              <a:t>02 / 22</a:t>
            </a:r>
          </a:p>
        </p:txBody>
      </p:sp>
    </p:spTree>
    <p:extLst>
      <p:ext uri="{BB962C8B-B14F-4D97-AF65-F5344CB8AC3E}">
        <p14:creationId xmlns:p14="http://schemas.microsoft.com/office/powerpoint/2010/main" val="1369089232"/>
      </p:ext>
    </p:extLst>
  </p:cSld>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5" name="group-panel"/>
          <p:cNvSpPr>
            <a:spLocks noGrp="1"/>
          </p:cNvSpPr>
          <p:nvPr/>
        </p:nvSpPr>
        <p:spPr>
          <a:xfrm>
            <a:off x="457200" y="1990725"/>
            <a:ext cx="5648325" cy="1838325"/>
          </a:xfrm>
          <a:prstGeom prst="rect">
            <a:avLst/>
          </a:prstGeom>
          <a:solidFill>
            <a:srgbClr val="f0f6f2"/>
          </a:solidFill>
          <a:ln w="9525">
            <a:solidFill>
              <a:srgbClr val="c9ddd1"/>
            </a:solidFill>
          </a:ln>
        </p:spPr>
        <p:txBody>
          <a:bodyPr anchor="ctr"/>
          <a:p>
            <a:pPr algn="ctr">
              <a:defRPr/>
            </a:pPr>
            <a:endParaRPr lang="ko-KR" altLang="en-US"/>
          </a:p>
        </p:txBody>
      </p:sp>
      <p:sp>
        <p:nvSpPr>
          <p:cNvPr id="26" name="group-panel"/>
          <p:cNvSpPr>
            <a:spLocks noGrp="1"/>
          </p:cNvSpPr>
          <p:nvPr/>
        </p:nvSpPr>
        <p:spPr>
          <a:xfrm>
            <a:off x="6410325" y="1990725"/>
            <a:ext cx="5324475" cy="1838325"/>
          </a:xfrm>
          <a:prstGeom prst="rect">
            <a:avLst/>
          </a:prstGeom>
          <a:solidFill>
            <a:srgbClr val="f0f6f2"/>
          </a:solidFill>
          <a:ln w="9525">
            <a:solidFill>
              <a:srgbClr val="c9ddd1"/>
            </a:solidFill>
          </a:ln>
        </p:spPr>
        <p:txBody>
          <a:bodyPr anchor="ctr"/>
          <a:p>
            <a:pPr algn="ctr">
              <a:defRPr/>
            </a:pPr>
            <a:endParaRPr lang="ko-KR" altLang="en-US"/>
          </a:p>
        </p:txBody>
      </p:sp>
      <p:sp>
        <p:nvSpPr>
          <p:cNvPr id="27" name="group-panel"/>
          <p:cNvSpPr>
            <a:spLocks noGrp="1"/>
          </p:cNvSpPr>
          <p:nvPr/>
        </p:nvSpPr>
        <p:spPr>
          <a:xfrm>
            <a:off x="457200" y="4038600"/>
            <a:ext cx="5648325" cy="1714500"/>
          </a:xfrm>
          <a:prstGeom prst="rect">
            <a:avLst/>
          </a:prstGeom>
          <a:solidFill>
            <a:srgbClr val="f0f6f2"/>
          </a:solidFill>
          <a:ln w="9525">
            <a:solidFill>
              <a:srgbClr val="c9ddd1"/>
            </a:solidFill>
          </a:ln>
        </p:spPr>
        <p:txBody>
          <a:bodyPr anchor="ctr"/>
          <a:p>
            <a:pPr algn="ctr">
              <a:defRPr/>
            </a:pPr>
            <a:endParaRPr lang="ko-KR" altLang="en-US"/>
          </a:p>
        </p:txBody>
      </p:sp>
      <p:sp>
        <p:nvSpPr>
          <p:cNvPr id="28" name="group-panel"/>
          <p:cNvSpPr>
            <a:spLocks noGrp="1"/>
          </p:cNvSpPr>
          <p:nvPr/>
        </p:nvSpPr>
        <p:spPr>
          <a:xfrm>
            <a:off x="6410325" y="4038600"/>
            <a:ext cx="5324475" cy="1714500"/>
          </a:xfrm>
          <a:prstGeom prst="rect">
            <a:avLst/>
          </a:prstGeom>
          <a:solidFill>
            <a:srgbClr val="f0f6f2"/>
          </a:solidFill>
          <a:ln w="9525">
            <a:solidFill>
              <a:srgbClr val="c9ddd1"/>
            </a:solidFill>
          </a:ln>
        </p:spPr>
        <p:txBody>
          <a:bodyPr anchor="ctr"/>
          <a:p>
            <a:pPr algn="ctr">
              <a:defRPr/>
            </a:pPr>
            <a:endParaRPr lang="ko-KR" altLang="en-US"/>
          </a:p>
        </p:txBody>
      </p:sp>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1  연구 배경과 목적"/>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01  연구 배경과 목적</a:t>
            </a:r>
            <a:endParaRPr sz="2850" b="1">
              <a:solidFill>
                <a:srgbClr val="0c493a"/>
              </a:solidFill>
              <a:latin typeface="맑은 고딕"/>
              <a:ea typeface="맑은 고딕"/>
              <a:cs typeface="맑은 고딕"/>
            </a:endParaRPr>
          </a:p>
        </p:txBody>
      </p:sp>
      <p:sp>
        <p:nvSpPr>
          <p:cNvPr id="14" name="지역 차이의 확인에서 서비스 참여 과정 점검까지"/>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지역 차이의 확인에서 서비스 참여 과정 점검까지</a:t>
            </a:r>
            <a:endParaRPr sz="2025" b="1">
              <a:solidFill>
                <a:srgbClr val="20352d"/>
              </a:solidFill>
              <a:latin typeface="맑은 고딕"/>
              <a:ea typeface="맑은 고딕"/>
              <a:cs typeface="맑은 고딕"/>
            </a:endParaRPr>
          </a:p>
        </p:txBody>
      </p:sp>
      <p:sp>
        <p:nvSpPr>
          <p:cNvPr id="15" name="분석으로 확인한 특성 → 기관 확인이 필요한 공백 → 조건"/>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분석으로 확인한 특성 → 기관 확인이 필요한 공백 → 조건부 보완안</a:t>
            </a:r>
            <a:endParaRPr sz="1500" b="0">
              <a:solidFill>
                <a:srgbClr val="53675e"/>
              </a:solidFill>
              <a:latin typeface="맑은 고딕"/>
              <a:ea typeface="맑은 고딕"/>
              <a:cs typeface="맑은 고딕"/>
            </a:endParaRPr>
          </a:p>
        </p:txBody>
      </p:sp>
      <p:sp>
        <p:nvSpPr>
          <p:cNvPr id="16" name="555,786건"/>
          <p:cNvSpPr>
            <a:spLocks noGrp="1"/>
          </p:cNvSpPr>
          <p:nvPr/>
        </p:nvSpPr>
        <p:spPr>
          <a:xfrm>
            <a:off x="609600" y="2133600"/>
            <a:ext cx="5524500" cy="895350"/>
          </a:xfrm>
          <a:prstGeom prst="rect">
            <a:avLst/>
          </a:prstGeom>
          <a:noFill/>
          <a:ln w="0">
            <a:noFill/>
          </a:ln>
        </p:spPr>
        <p:txBody>
          <a:bodyPr anchor="ctr">
            <a:noAutofit/>
          </a:bodyPr>
          <a:lstStyle/>
          <a:p>
            <a:pPr algn="l">
              <a:defRPr sz="5550" b="0">
                <a:solidFill>
                  <a:srgbClr val="0c493a"/>
                </a:solidFill>
                <a:latin typeface="맑은 고딕"/>
                <a:ea typeface="맑은 고딕"/>
                <a:cs typeface="맑은 고딕"/>
              </a:defRPr>
            </a:pPr>
            <a:r>
              <a:rPr sz="5550" b="0">
                <a:solidFill>
                  <a:srgbClr val="0c493a"/>
                </a:solidFill>
                <a:latin typeface="맑은 고딕"/>
                <a:ea typeface="맑은 고딕"/>
                <a:cs typeface="맑은 고딕"/>
              </a:rPr>
              <a:t>555,786건</a:t>
            </a:r>
            <a:endParaRPr sz="5550" b="0">
              <a:solidFill>
                <a:srgbClr val="0c493a"/>
              </a:solidFill>
              <a:latin typeface="맑은 고딕"/>
              <a:ea typeface="맑은 고딕"/>
              <a:cs typeface="맑은 고딕"/>
            </a:endParaRPr>
          </a:p>
        </p:txBody>
      </p:sp>
      <p:sp>
        <p:nvSpPr>
          <p:cNvPr id="17" name="2020~2024년 주 분석 대상"/>
          <p:cNvSpPr>
            <a:spLocks noGrp="1"/>
          </p:cNvSpPr>
          <p:nvPr/>
        </p:nvSpPr>
        <p:spPr>
          <a:xfrm>
            <a:off x="609600" y="3076575"/>
            <a:ext cx="5524500" cy="476250"/>
          </a:xfrm>
          <a:prstGeom prst="rect">
            <a:avLst/>
          </a:prstGeom>
          <a:noFill/>
          <a:ln w="0">
            <a:noFill/>
          </a:ln>
        </p:spPr>
        <p:txBody>
          <a:bodyPr anchor="ctr">
            <a:noAutofit/>
          </a:bodyPr>
          <a:lstStyle/>
          <a:p>
            <a:pPr algn="l">
              <a:defRPr sz="1875" b="0">
                <a:solidFill>
                  <a:srgbClr val="53675e"/>
                </a:solidFill>
                <a:latin typeface="맑은 고딕"/>
                <a:ea typeface="맑은 고딕"/>
                <a:cs typeface="맑은 고딕"/>
              </a:defRPr>
            </a:pPr>
            <a:r>
              <a:rPr sz="1875" b="0">
                <a:solidFill>
                  <a:srgbClr val="53675e"/>
                </a:solidFill>
                <a:latin typeface="맑은 고딕"/>
                <a:ea typeface="맑은 고딕"/>
                <a:cs typeface="맑은 고딕"/>
              </a:rPr>
              <a:t>2020~2024년 주 분석 대상</a:t>
            </a:r>
            <a:endParaRPr sz="1875" b="0">
              <a:solidFill>
                <a:srgbClr val="53675e"/>
              </a:solidFill>
              <a:latin typeface="맑은 고딕"/>
              <a:ea typeface="맑은 고딕"/>
              <a:cs typeface="맑은 고딕"/>
            </a:endParaRPr>
          </a:p>
        </p:txBody>
      </p:sp>
      <p:sp>
        <p:nvSpPr>
          <p:cNvPr id="18" name="75.94%"/>
          <p:cNvSpPr>
            <a:spLocks noGrp="1"/>
          </p:cNvSpPr>
          <p:nvPr/>
        </p:nvSpPr>
        <p:spPr>
          <a:xfrm>
            <a:off x="6534150" y="2133600"/>
            <a:ext cx="5143500" cy="895350"/>
          </a:xfrm>
          <a:prstGeom prst="rect">
            <a:avLst/>
          </a:prstGeom>
          <a:noFill/>
          <a:ln w="0">
            <a:noFill/>
          </a:ln>
        </p:spPr>
        <p:txBody>
          <a:bodyPr anchor="ctr">
            <a:noAutofit/>
          </a:bodyPr>
          <a:lstStyle/>
          <a:p>
            <a:pPr algn="l">
              <a:defRPr sz="5550" b="0">
                <a:solidFill>
                  <a:srgbClr val="5d9b83"/>
                </a:solidFill>
                <a:latin typeface="맑은 고딕"/>
                <a:ea typeface="맑은 고딕"/>
                <a:cs typeface="맑은 고딕"/>
              </a:defRPr>
            </a:pPr>
            <a:r>
              <a:rPr sz="5550" b="0">
                <a:solidFill>
                  <a:srgbClr val="5d9b83"/>
                </a:solidFill>
                <a:latin typeface="맑은 고딕"/>
                <a:ea typeface="맑은 고딕"/>
                <a:cs typeface="맑은 고딕"/>
              </a:rPr>
              <a:t>75.94%</a:t>
            </a:r>
            <a:endParaRPr sz="5550" b="0">
              <a:solidFill>
                <a:srgbClr val="5d9b83"/>
              </a:solidFill>
              <a:latin typeface="맑은 고딕"/>
              <a:ea typeface="맑은 고딕"/>
              <a:cs typeface="맑은 고딕"/>
            </a:endParaRPr>
          </a:p>
        </p:txBody>
      </p:sp>
      <p:sp>
        <p:nvSpPr>
          <p:cNvPr id="19" name="질병·질병외·부상의 합계 비중"/>
          <p:cNvSpPr>
            <a:spLocks noGrp="1"/>
          </p:cNvSpPr>
          <p:nvPr/>
        </p:nvSpPr>
        <p:spPr>
          <a:xfrm>
            <a:off x="6572250" y="3076575"/>
            <a:ext cx="5143500" cy="476250"/>
          </a:xfrm>
          <a:prstGeom prst="rect">
            <a:avLst/>
          </a:prstGeom>
          <a:noFill/>
          <a:ln w="0">
            <a:noFill/>
          </a:ln>
        </p:spPr>
        <p:txBody>
          <a:bodyPr anchor="ctr">
            <a:noAutofit/>
          </a:bodyPr>
          <a:lstStyle/>
          <a:p>
            <a:pPr algn="l">
              <a:defRPr sz="1875" b="0">
                <a:solidFill>
                  <a:srgbClr val="53675e"/>
                </a:solidFill>
                <a:latin typeface="맑은 고딕"/>
                <a:ea typeface="맑은 고딕"/>
                <a:cs typeface="맑은 고딕"/>
              </a:defRPr>
            </a:pPr>
            <a:r>
              <a:rPr sz="1875" b="0">
                <a:solidFill>
                  <a:srgbClr val="53675e"/>
                </a:solidFill>
                <a:latin typeface="맑은 고딕"/>
                <a:ea typeface="맑은 고딕"/>
                <a:cs typeface="맑은 고딕"/>
              </a:rPr>
              <a:t>질병·질병외·부상의 합계 비중</a:t>
            </a:r>
            <a:endParaRPr sz="1875" b="0">
              <a:solidFill>
                <a:srgbClr val="53675e"/>
              </a:solidFill>
              <a:latin typeface="맑은 고딕"/>
              <a:ea typeface="맑은 고딕"/>
              <a:cs typeface="맑은 고딕"/>
            </a:endParaRPr>
          </a:p>
        </p:txBody>
      </p:sp>
      <p:sp>
        <p:nvSpPr>
          <p:cNvPr id="20" name="주요 검토 지역"/>
          <p:cNvSpPr>
            <a:spLocks noGrp="1"/>
          </p:cNvSpPr>
          <p:nvPr/>
        </p:nvSpPr>
        <p:spPr>
          <a:xfrm>
            <a:off x="609600" y="4210050"/>
            <a:ext cx="2857500" cy="428625"/>
          </a:xfrm>
          <a:prstGeom prst="rect">
            <a:avLst/>
          </a:prstGeom>
          <a:noFill/>
          <a:ln w="0">
            <a:noFill/>
          </a:ln>
        </p:spPr>
        <p:txBody>
          <a:bodyPr anchor="ctr">
            <a:noAutofit/>
          </a:bodyPr>
          <a:lstStyle/>
          <a:p>
            <a:pPr algn="l">
              <a:defRPr sz="2100" b="1">
                <a:solidFill>
                  <a:srgbClr val="20352d"/>
                </a:solidFill>
                <a:latin typeface="맑은 고딕"/>
                <a:ea typeface="맑은 고딕"/>
                <a:cs typeface="맑은 고딕"/>
              </a:defRPr>
            </a:pPr>
            <a:r>
              <a:rPr sz="2100" b="1">
                <a:solidFill>
                  <a:srgbClr val="20352d"/>
                </a:solidFill>
                <a:latin typeface="맑은 고딕"/>
                <a:ea typeface="맑은 고딕"/>
                <a:cs typeface="맑은 고딕"/>
              </a:rPr>
              <a:t>주요 검토 지역</a:t>
            </a:r>
            <a:endParaRPr sz="2100" b="1">
              <a:solidFill>
                <a:srgbClr val="20352d"/>
              </a:solidFill>
              <a:latin typeface="맑은 고딕"/>
              <a:ea typeface="맑은 고딕"/>
              <a:cs typeface="맑은 고딕"/>
            </a:endParaRPr>
          </a:p>
        </p:txBody>
      </p:sp>
      <p:sp>
        <p:nvSpPr>
          <p:cNvPr id="21" name="다대동과 금곡동의 질병 신고"/>
          <p:cNvSpPr>
            <a:spLocks noGrp="1"/>
          </p:cNvSpPr>
          <p:nvPr/>
        </p:nvSpPr>
        <p:spPr>
          <a:xfrm>
            <a:off x="609600" y="4686300"/>
            <a:ext cx="5810250" cy="762000"/>
          </a:xfrm>
          <a:prstGeom prst="rect">
            <a:avLst/>
          </a:prstGeom>
          <a:noFill/>
          <a:ln w="0">
            <a:noFill/>
          </a:ln>
        </p:spPr>
        <p:txBody>
          <a:bodyPr anchor="ctr">
            <a:noAutofit/>
          </a:bodyPr>
          <a:lstStyle/>
          <a:p>
            <a:pPr algn="l">
              <a:defRPr sz="2175" b="0">
                <a:solidFill>
                  <a:srgbClr val="20352d"/>
                </a:solidFill>
                <a:latin typeface="맑은 고딕"/>
                <a:ea typeface="맑은 고딕"/>
                <a:cs typeface="맑은 고딕"/>
              </a:defRPr>
            </a:pPr>
            <a:r>
              <a:rPr sz="2175" b="0">
                <a:solidFill>
                  <a:srgbClr val="20352d"/>
                </a:solidFill>
                <a:latin typeface="맑은 고딕"/>
                <a:ea typeface="맑은 고딕"/>
                <a:cs typeface="맑은 고딕"/>
              </a:rPr>
              <a:t>다대동과 금곡동의 질병 신고</a:t>
            </a:r>
            <a:endParaRPr sz="2175" b="0">
              <a:solidFill>
                <a:srgbClr val="20352d"/>
              </a:solidFill>
              <a:latin typeface="맑은 고딕"/>
              <a:ea typeface="맑은 고딕"/>
              <a:cs typeface="맑은 고딕"/>
            </a:endParaRPr>
          </a:p>
        </p:txBody>
      </p:sp>
      <p:sp>
        <p:nvSpPr>
          <p:cNvPr id="22" name="개선 제안"/>
          <p:cNvSpPr>
            <a:spLocks noGrp="1"/>
          </p:cNvSpPr>
          <p:nvPr/>
        </p:nvSpPr>
        <p:spPr>
          <a:xfrm>
            <a:off x="6572250" y="4210050"/>
            <a:ext cx="4762500" cy="428625"/>
          </a:xfrm>
          <a:prstGeom prst="rect">
            <a:avLst/>
          </a:prstGeom>
          <a:noFill/>
          <a:ln w="0">
            <a:noFill/>
          </a:ln>
        </p:spPr>
        <p:txBody>
          <a:bodyPr anchor="ctr">
            <a:noAutofit/>
          </a:bodyPr>
          <a:lstStyle/>
          <a:p>
            <a:pPr algn="l">
              <a:defRPr sz="2100" b="1">
                <a:solidFill>
                  <a:srgbClr val="20352d"/>
                </a:solidFill>
                <a:latin typeface="맑은 고딕"/>
                <a:ea typeface="맑은 고딕"/>
                <a:cs typeface="맑은 고딕"/>
              </a:defRPr>
            </a:pPr>
            <a:r>
              <a:rPr sz="2100" b="1">
                <a:solidFill>
                  <a:srgbClr val="20352d"/>
                </a:solidFill>
                <a:latin typeface="맑은 고딕"/>
                <a:ea typeface="맑은 고딕"/>
                <a:cs typeface="맑은 고딕"/>
              </a:rPr>
              <a:t>개선 제안</a:t>
            </a:r>
            <a:endParaRPr sz="2100" b="1">
              <a:solidFill>
                <a:srgbClr val="20352d"/>
              </a:solidFill>
              <a:latin typeface="맑은 고딕"/>
              <a:ea typeface="맑은 고딕"/>
              <a:cs typeface="맑은 고딕"/>
            </a:endParaRPr>
          </a:p>
        </p:txBody>
      </p:sp>
      <p:sp>
        <p:nvSpPr>
          <p:cNvPr id="23" name="기존 상담·교육의 안내 이후 예약과 첫 교육 완료 과정 점"/>
          <p:cNvSpPr>
            <a:spLocks noGrp="1"/>
          </p:cNvSpPr>
          <p:nvPr/>
        </p:nvSpPr>
        <p:spPr>
          <a:xfrm>
            <a:off x="6572250" y="4686300"/>
            <a:ext cx="5143500" cy="952500"/>
          </a:xfrm>
          <a:prstGeom prst="rect">
            <a:avLst/>
          </a:prstGeom>
          <a:noFill/>
          <a:ln w="0">
            <a:noFill/>
          </a:ln>
        </p:spPr>
        <p:txBody>
          <a:bodyPr anchor="ctr">
            <a:noAutofit/>
          </a:bodyPr>
          <a:lstStyle/>
          <a:p>
            <a:pPr algn="l">
              <a:defRPr sz="2175" b="0">
                <a:solidFill>
                  <a:srgbClr val="20352d"/>
                </a:solidFill>
                <a:latin typeface="맑은 고딕"/>
                <a:ea typeface="맑은 고딕"/>
                <a:cs typeface="맑은 고딕"/>
              </a:defRPr>
            </a:pPr>
            <a:r>
              <a:rPr sz="2175" b="0">
                <a:solidFill>
                  <a:srgbClr val="20352d"/>
                </a:solidFill>
                <a:latin typeface="맑은 고딕"/>
                <a:ea typeface="맑은 고딕"/>
                <a:cs typeface="맑은 고딕"/>
              </a:rPr>
              <a:t>기존 상담·교육의 안내 이후</a:t>
            </a:r>
            <a:endParaRPr sz="2175" b="0">
              <a:solidFill>
                <a:srgbClr val="20352d"/>
              </a:solidFill>
              <a:latin typeface="맑은 고딕"/>
              <a:ea typeface="맑은 고딕"/>
              <a:cs typeface="맑은 고딕"/>
            </a:endParaRPr>
          </a:p>
          <a:p>
            <a:pPr algn="l">
              <a:defRPr sz="2175" b="0">
                <a:solidFill>
                  <a:srgbClr val="20352d"/>
                </a:solidFill>
                <a:latin typeface="맑은 고딕"/>
                <a:ea typeface="맑은 고딕"/>
                <a:cs typeface="맑은 고딕"/>
              </a:defRPr>
            </a:pPr>
            <a:r>
              <a:rPr sz="2175" b="0">
                <a:solidFill>
                  <a:srgbClr val="20352d"/>
                </a:solidFill>
                <a:latin typeface="맑은 고딕"/>
                <a:ea typeface="맑은 고딕"/>
                <a:cs typeface="맑은 고딕"/>
              </a:rPr>
              <a:t>예약과 첫 교육 완료 과정 점검</a:t>
            </a:r>
            <a:endParaRPr sz="2175" b="0">
              <a:solidFill>
                <a:srgbClr val="20352d"/>
              </a:solidFill>
              <a:latin typeface="맑은 고딕"/>
              <a:ea typeface="맑은 고딕"/>
              <a:cs typeface="맑은 고딕"/>
            </a:endParaRPr>
          </a:p>
        </p:txBody>
      </p:sp>
      <p:sp>
        <p:nvSpPr>
          <p:cNvPr id="24" name="접수 기록을 집계한 결과이며, 사건 수·환자 수·지역 위험"/>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접수 기록을 집계한 결과이며, 사건 수·환자 수·지역 위험도와 구분.</a:t>
            </a:r>
            <a:endParaRPr sz="1275" b="1">
              <a:solidFill>
                <a:srgbClr val="ffffff"/>
              </a:solidFill>
              <a:latin typeface="맑은 고딕"/>
              <a:ea typeface="맑은 고딕"/>
              <a:cs typeface="맑은 고딕"/>
            </a:endParaRPr>
          </a:p>
        </p:txBody>
      </p:sp>
      <p:sp>
        <p:nvSpPr>
          <p:cNvPr id="29" name="03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03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2  데이터와 분석 기준"/>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02  데이터와 분석 기준</a:t>
            </a:r>
            <a:endParaRPr sz="2850" b="1">
              <a:solidFill>
                <a:srgbClr val="0c493a"/>
              </a:solidFill>
              <a:latin typeface="맑은 고딕"/>
              <a:ea typeface="맑은 고딕"/>
              <a:cs typeface="맑은 고딕"/>
            </a:endParaRPr>
          </a:p>
        </p:txBody>
      </p:sp>
      <p:sp>
        <p:nvSpPr>
          <p:cNvPr id="14" name="신고자료와 지역 배경자료의 역할"/>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신고자료와 지역 배경자료의 역할</a:t>
            </a:r>
            <a:endParaRPr sz="2025" b="1">
              <a:solidFill>
                <a:srgbClr val="20352d"/>
              </a:solidFill>
              <a:latin typeface="맑은 고딕"/>
              <a:ea typeface="맑은 고딕"/>
              <a:cs typeface="맑은 고딕"/>
            </a:endParaRPr>
          </a:p>
        </p:txBody>
      </p:sp>
      <p:sp>
        <p:nvSpPr>
          <p:cNvPr id="15" name="자료마다 기간·공간 단위·분모를 구분하여 활용했음"/>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자료마다 기간·공간 단위·분모를 구분하여 활용했음</a:t>
            </a:r>
            <a:endParaRPr sz="1500" b="0">
              <a:solidFill>
                <a:srgbClr val="53675e"/>
              </a:solidFill>
              <a:latin typeface="맑은 고딕"/>
              <a:ea typeface="맑은 고딕"/>
              <a:cs typeface="맑은 고딕"/>
            </a:endParaRPr>
          </a:p>
        </p:txBody>
      </p:sp>
      <p:graphicFrame>
        <p:nvGraphicFramePr>
          <p:cNvPr id="25" name=""/>
          <p:cNvGraphicFramePr/>
          <p:nvPr/>
        </p:nvGraphicFramePr>
        <p:xfrm>
          <a:off x="609600" y="1857375"/>
          <a:ext cx="10972800" cy="4010027"/>
        </p:xfrm>
        <a:graphic>
          <a:graphicData uri="http://schemas.openxmlformats.org/drawingml/2006/table">
            <a:tbl>
              <a:tblGrid>
                <a:gridCol w="3411711"/>
                <a:gridCol w="3365607"/>
                <a:gridCol w="4195482"/>
              </a:tblGrid>
              <a:tr h="572861">
                <a:tc>
                  <a:txBody>
                    <a:bodyPr vert="horz" lIns="91440" tIns="45720" rIns="91440" bIns="45720" anchor="ctr" anchorCtr="0"/>
                    <a:p>
                      <a:pPr algn="l">
                        <a:defRPr/>
                      </a:pPr>
                      <a:r>
                        <a:rPr sz="1725" b="1">
                          <a:solidFill>
                            <a:srgbClr val="20352d"/>
                          </a:solidFill>
                          <a:latin typeface="맑은 고딕"/>
                          <a:ea typeface="맑은 고딕"/>
                          <a:cs typeface="맑은 고딕"/>
                        </a:rPr>
                        <a:t>자료</a:t>
                      </a:r>
                      <a:endParaRPr sz="1725"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725" b="1">
                          <a:solidFill>
                            <a:srgbClr val="20352d"/>
                          </a:solidFill>
                          <a:latin typeface="맑은 고딕"/>
                          <a:ea typeface="맑은 고딕"/>
                          <a:cs typeface="맑은 고딕"/>
                        </a:rPr>
                        <a:t>기간 / 단위</a:t>
                      </a:r>
                      <a:endParaRPr sz="1725"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725" b="1">
                          <a:solidFill>
                            <a:srgbClr val="20352d"/>
                          </a:solidFill>
                          <a:latin typeface="맑은 고딕"/>
                          <a:ea typeface="맑은 고딕"/>
                          <a:cs typeface="맑은 고딕"/>
                        </a:rPr>
                        <a:t>이 분석에서의 역할</a:t>
                      </a:r>
                      <a:endParaRPr sz="1725" b="1">
                        <a:solidFill>
                          <a:srgbClr val="20352d"/>
                        </a:solidFill>
                        <a:latin typeface="맑은 고딕"/>
                        <a:ea typeface="맑은 고딕"/>
                        <a:cs typeface="맑은 고딕"/>
                      </a:endParaRPr>
                    </a:p>
                  </a:txBody>
                  <a:tcPr marL="91440" marR="91440" anchor="ctr">
                    <a:solidFill>
                      <a:srgbClr val="ddece5"/>
                    </a:solidFill>
                  </a:tcPr>
                </a:tc>
              </a:tr>
              <a:tr h="572861">
                <a:tc>
                  <a:txBody>
                    <a:bodyPr vert="horz" lIns="91440" tIns="45720" rIns="91440" bIns="45720" anchor="ctr" anchorCtr="0"/>
                    <a:p>
                      <a:pPr algn="l">
                        <a:defRPr/>
                      </a:pPr>
                      <a:r>
                        <a:rPr sz="1725" b="0">
                          <a:solidFill>
                            <a:srgbClr val="53675e"/>
                          </a:solidFill>
                          <a:latin typeface="맑은 고딕"/>
                          <a:ea typeface="맑은 고딕"/>
                          <a:cs typeface="맑은 고딕"/>
                        </a:rPr>
                        <a:t>119 신고접수</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2020~2024 / 접수 기록</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유형·지역·시간 비교</a:t>
                      </a:r>
                      <a:endParaRPr sz="1725" b="0">
                        <a:solidFill>
                          <a:srgbClr val="53675e"/>
                        </a:solidFill>
                        <a:latin typeface="맑은 고딕"/>
                        <a:ea typeface="맑은 고딕"/>
                        <a:cs typeface="맑은 고딕"/>
                      </a:endParaRPr>
                    </a:p>
                  </a:txBody>
                  <a:tcPr marL="91440" marR="91440" anchor="ctr">
                    <a:solidFill>
                      <a:srgbClr val="ffffff"/>
                    </a:solidFill>
                  </a:tcPr>
                </a:tc>
              </a:tr>
              <a:tr h="572861">
                <a:tc>
                  <a:txBody>
                    <a:bodyPr vert="horz" lIns="91440" tIns="45720" rIns="91440" bIns="45720" anchor="ctr" anchorCtr="0"/>
                    <a:p>
                      <a:pPr algn="l">
                        <a:defRPr/>
                      </a:pPr>
                      <a:r>
                        <a:rPr sz="1725" b="0">
                          <a:solidFill>
                            <a:srgbClr val="53675e"/>
                          </a:solidFill>
                          <a:latin typeface="맑은 고딕"/>
                          <a:ea typeface="맑은 고딕"/>
                          <a:cs typeface="맑은 고딕"/>
                        </a:rPr>
                        <a:t>주민등록인구·코드</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2020~2024 / 행정동</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연령 배경과 동명 연결</a:t>
                      </a:r>
                      <a:endParaRPr sz="1725" b="0">
                        <a:solidFill>
                          <a:srgbClr val="53675e"/>
                        </a:solidFill>
                        <a:latin typeface="맑은 고딕"/>
                        <a:ea typeface="맑은 고딕"/>
                        <a:cs typeface="맑은 고딕"/>
                      </a:endParaRPr>
                    </a:p>
                  </a:txBody>
                  <a:tcPr marL="91440" marR="91440" anchor="ctr">
                    <a:solidFill>
                      <a:srgbClr val="f4f8f5"/>
                    </a:solidFill>
                  </a:tcPr>
                </a:tc>
              </a:tr>
              <a:tr h="572861">
                <a:tc>
                  <a:txBody>
                    <a:bodyPr vert="horz" lIns="91440" tIns="45720" rIns="91440" bIns="45720" anchor="ctr" anchorCtr="0"/>
                    <a:p>
                      <a:pPr algn="l">
                        <a:defRPr/>
                      </a:pPr>
                      <a:r>
                        <a:rPr sz="1725" b="0">
                          <a:solidFill>
                            <a:srgbClr val="53675e"/>
                          </a:solidFill>
                          <a:latin typeface="맑은 고딕"/>
                          <a:ea typeface="맑은 고딕"/>
                          <a:cs typeface="맑은 고딕"/>
                        </a:rPr>
                        <a:t>상권·생활인구</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20분기 / 2023~2024</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방문·활동 맥락 검토</a:t>
                      </a:r>
                      <a:endParaRPr sz="1725" b="0">
                        <a:solidFill>
                          <a:srgbClr val="53675e"/>
                        </a:solidFill>
                        <a:latin typeface="맑은 고딕"/>
                        <a:ea typeface="맑은 고딕"/>
                        <a:cs typeface="맑은 고딕"/>
                      </a:endParaRPr>
                    </a:p>
                  </a:txBody>
                  <a:tcPr marL="91440" marR="91440" anchor="ctr">
                    <a:solidFill>
                      <a:srgbClr val="ffffff"/>
                    </a:solidFill>
                  </a:tcPr>
                </a:tc>
              </a:tr>
              <a:tr h="572861">
                <a:tc>
                  <a:txBody>
                    <a:bodyPr vert="horz" lIns="91440" tIns="45720" rIns="91440" bIns="45720" anchor="ctr" anchorCtr="0"/>
                    <a:p>
                      <a:pPr algn="l">
                        <a:defRPr/>
                      </a:pPr>
                      <a:r>
                        <a:rPr sz="1725" b="0">
                          <a:solidFill>
                            <a:srgbClr val="53675e"/>
                          </a:solidFill>
                          <a:latin typeface="맑은 고딕"/>
                          <a:ea typeface="맑은 고딕"/>
                          <a:cs typeface="맑은 고딕"/>
                        </a:rPr>
                        <a:t>주택·사업체·경계</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2024 통계 / 2025 경계</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지역 배경과 지도 안내</a:t>
                      </a:r>
                      <a:endParaRPr sz="1725" b="0">
                        <a:solidFill>
                          <a:srgbClr val="53675e"/>
                        </a:solidFill>
                        <a:latin typeface="맑은 고딕"/>
                        <a:ea typeface="맑은 고딕"/>
                        <a:cs typeface="맑은 고딕"/>
                      </a:endParaRPr>
                    </a:p>
                  </a:txBody>
                  <a:tcPr marL="91440" marR="91440" anchor="ctr">
                    <a:solidFill>
                      <a:srgbClr val="f4f8f5"/>
                    </a:solidFill>
                  </a:tcPr>
                </a:tc>
              </a:tr>
              <a:tr h="572861">
                <a:tc>
                  <a:txBody>
                    <a:bodyPr vert="horz" lIns="91440" tIns="45720" rIns="91440" bIns="45720" anchor="ctr" anchorCtr="0"/>
                    <a:p>
                      <a:pPr algn="l">
                        <a:defRPr/>
                      </a:pPr>
                      <a:r>
                        <a:rPr sz="1725" b="0">
                          <a:solidFill>
                            <a:srgbClr val="53675e"/>
                          </a:solidFill>
                          <a:latin typeface="맑은 고딕"/>
                          <a:ea typeface="맑은 고딕"/>
                          <a:cs typeface="맑은 고딕"/>
                        </a:rPr>
                        <a:t>지역사회건강조사</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2023~2024 / 공표 집계</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건강행태·교육 배경</a:t>
                      </a:r>
                      <a:endParaRPr sz="1725" b="0">
                        <a:solidFill>
                          <a:srgbClr val="53675e"/>
                        </a:solidFill>
                        <a:latin typeface="맑은 고딕"/>
                        <a:ea typeface="맑은 고딕"/>
                        <a:cs typeface="맑은 고딕"/>
                      </a:endParaRPr>
                    </a:p>
                  </a:txBody>
                  <a:tcPr marL="91440" marR="91440" anchor="ctr">
                    <a:solidFill>
                      <a:srgbClr val="ffffff"/>
                    </a:solidFill>
                  </a:tcPr>
                </a:tc>
              </a:tr>
              <a:tr h="572861">
                <a:tc>
                  <a:txBody>
                    <a:bodyPr vert="horz" lIns="91440" tIns="45720" rIns="91440" bIns="45720" anchor="ctr" anchorCtr="0"/>
                    <a:p>
                      <a:pPr algn="l">
                        <a:defRPr/>
                      </a:pPr>
                      <a:r>
                        <a:rPr sz="1725" b="0">
                          <a:solidFill>
                            <a:srgbClr val="53675e"/>
                          </a:solidFill>
                          <a:latin typeface="맑은 고딕"/>
                          <a:ea typeface="맑은 고딕"/>
                          <a:cs typeface="맑은 고딕"/>
                        </a:rPr>
                        <a:t>소방관서·보건사업</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2026 / 안내 확인 시점</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위치·운영 조건·기존 대응</a:t>
                      </a:r>
                      <a:endParaRPr sz="1725" b="0">
                        <a:solidFill>
                          <a:srgbClr val="53675e"/>
                        </a:solidFill>
                        <a:latin typeface="맑은 고딕"/>
                        <a:ea typeface="맑은 고딕"/>
                        <a:cs typeface="맑은 고딕"/>
                      </a:endParaRPr>
                    </a:p>
                  </a:txBody>
                  <a:tcPr marL="91440" marR="91440" anchor="ctr">
                    <a:solidFill>
                      <a:srgbClr val="f4f8f5"/>
                    </a:solidFill>
                  </a:tcPr>
                </a:tc>
              </a:tr>
            </a:tbl>
          </a:graphicData>
        </a:graphic>
      </p:graphicFrame>
      <p:sp>
        <p:nvSpPr>
          <p:cNvPr id="17" name="소방관서 위치·인원·차량 자료는 Big-데이터웨이브 활용 "/>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소방관서 위치·인원·차량 자료는 Big-데이터웨이브 활용 자료.</a:t>
            </a:r>
            <a:endParaRPr sz="1275" b="1">
              <a:solidFill>
                <a:srgbClr val="ffffff"/>
              </a:solidFill>
              <a:latin typeface="맑은 고딕"/>
              <a:ea typeface="맑은 고딕"/>
              <a:cs typeface="맑은 고딕"/>
            </a:endParaRPr>
          </a:p>
        </p:txBody>
      </p:sp>
      <p:sp>
        <p:nvSpPr>
          <p:cNvPr id="18" name="04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04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1" name="group-panel"/>
          <p:cNvSpPr>
            <a:spLocks noGrp="1"/>
          </p:cNvSpPr>
          <p:nvPr/>
        </p:nvSpPr>
        <p:spPr>
          <a:xfrm>
            <a:off x="8724900" y="1924050"/>
            <a:ext cx="3009900" cy="3943350"/>
          </a:xfrm>
          <a:prstGeom prst="rect">
            <a:avLst/>
          </a:prstGeom>
          <a:solidFill>
            <a:srgbClr val="f0f6f2"/>
          </a:solidFill>
          <a:ln w="9525">
            <a:solidFill>
              <a:srgbClr val="c9ddd1"/>
            </a:solidFill>
          </a:ln>
        </p:spPr>
        <p:txBody>
          <a:bodyPr anchor="ctr"/>
          <a:p>
            <a:pPr algn="ctr">
              <a:defRPr/>
            </a:pPr>
            <a:endParaRPr lang="ko-KR" altLang="en-US"/>
          </a:p>
        </p:txBody>
      </p:sp>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2  데이터와 분석 기준"/>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02  데이터와 분석 기준</a:t>
            </a:r>
            <a:endParaRPr sz="2850" b="1">
              <a:solidFill>
                <a:srgbClr val="0c493a"/>
              </a:solidFill>
              <a:latin typeface="맑은 고딕"/>
              <a:ea typeface="맑은 고딕"/>
              <a:cs typeface="맑은 고딕"/>
            </a:endParaRPr>
          </a:p>
        </p:txBody>
      </p:sp>
      <p:sp>
        <p:nvSpPr>
          <p:cNvPr id="14" name="주 분석 대상은 555,786건"/>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주 분석 대상은 555,786건</a:t>
            </a:r>
            <a:endParaRPr sz="2025" b="1">
              <a:solidFill>
                <a:srgbClr val="20352d"/>
              </a:solidFill>
              <a:latin typeface="맑은 고딕"/>
              <a:ea typeface="맑은 고딕"/>
              <a:cs typeface="맑은 고딕"/>
            </a:endParaRPr>
          </a:p>
        </p:txBody>
      </p:sp>
      <p:sp>
        <p:nvSpPr>
          <p:cNvPr id="15" name="포함조건을 고정하고 벌집제거 18,876건을 제외했음"/>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포함조건을 고정하고 벌집제거 18,876건을 제외했음</a:t>
            </a:r>
            <a:endParaRPr sz="1500" b="0">
              <a:solidFill>
                <a:srgbClr val="53675e"/>
              </a:solidFill>
              <a:latin typeface="맑은 고딕"/>
              <a:ea typeface="맑은 고딕"/>
              <a:cs typeface="맑은 고딕"/>
            </a:endParaRPr>
          </a:p>
        </p:txBody>
      </p:sp>
      <p:graphicFrame>
        <p:nvGraphicFramePr>
          <p:cNvPr id="30" name="Chart"/>
          <p:cNvGraphicFramePr/>
          <p:nvPr/>
        </p:nvGraphicFramePr>
        <p:xfrm>
          <a:off x="609600" y="2000250"/>
          <a:ext cx="7905750" cy="3905250"/>
        </p:xfrm>
        <a:graphic>
          <a:graphicData uri="http://schemas.openxmlformats.org/drawingml/2006/chart">
            <c:chart r:id="rId3"/>
          </a:graphicData>
        </a:graphic>
      </p:graphicFrame>
      <p:sp>
        <p:nvSpPr>
          <p:cNvPr id="17" name="52.80%"/>
          <p:cNvSpPr>
            <a:spLocks noGrp="1"/>
          </p:cNvSpPr>
          <p:nvPr/>
        </p:nvSpPr>
        <p:spPr>
          <a:xfrm>
            <a:off x="8858250" y="2190750"/>
            <a:ext cx="2762250" cy="762000"/>
          </a:xfrm>
          <a:prstGeom prst="rect">
            <a:avLst/>
          </a:prstGeom>
          <a:noFill/>
          <a:ln w="0">
            <a:noFill/>
          </a:ln>
        </p:spPr>
        <p:txBody>
          <a:bodyPr anchor="ctr">
            <a:noAutofit/>
          </a:bodyPr>
          <a:lstStyle/>
          <a:p>
            <a:pPr algn="l">
              <a:defRPr sz="4200" b="0">
                <a:solidFill>
                  <a:srgbClr val="0c493a"/>
                </a:solidFill>
                <a:latin typeface="맑은 고딕"/>
                <a:ea typeface="맑은 고딕"/>
                <a:cs typeface="맑은 고딕"/>
              </a:defRPr>
            </a:pPr>
            <a:r>
              <a:rPr sz="4200" b="0">
                <a:solidFill>
                  <a:srgbClr val="0c493a"/>
                </a:solidFill>
                <a:latin typeface="맑은 고딕"/>
                <a:ea typeface="맑은 고딕"/>
                <a:cs typeface="맑은 고딕"/>
              </a:rPr>
              <a:t>52.80%</a:t>
            </a:r>
            <a:endParaRPr sz="4200" b="0">
              <a:solidFill>
                <a:srgbClr val="0c493a"/>
              </a:solidFill>
              <a:latin typeface="맑은 고딕"/>
              <a:ea typeface="맑은 고딕"/>
              <a:cs typeface="맑은 고딕"/>
            </a:endParaRPr>
          </a:p>
        </p:txBody>
      </p:sp>
      <p:sp>
        <p:nvSpPr>
          <p:cNvPr id="18" name="완전 기재 자료가 비교집합에서 차지한 비율"/>
          <p:cNvSpPr>
            <a:spLocks noGrp="1"/>
          </p:cNvSpPr>
          <p:nvPr/>
        </p:nvSpPr>
        <p:spPr>
          <a:xfrm>
            <a:off x="8858250" y="3086100"/>
            <a:ext cx="2686050" cy="857250"/>
          </a:xfrm>
          <a:prstGeom prst="rect">
            <a:avLst/>
          </a:prstGeom>
          <a:noFill/>
          <a:ln w="0">
            <a:noFill/>
          </a:ln>
        </p:spPr>
        <p:txBody>
          <a:bodyPr anchor="ctr">
            <a:noAutofit/>
          </a:bodyPr>
          <a:lstStyle/>
          <a:p>
            <a:pPr algn="l">
              <a:defRPr sz="1800" b="0">
                <a:solidFill>
                  <a:srgbClr val="53675e"/>
                </a:solidFill>
                <a:latin typeface="맑은 고딕"/>
                <a:ea typeface="맑은 고딕"/>
                <a:cs typeface="맑은 고딕"/>
              </a:defRPr>
            </a:pPr>
            <a:r>
              <a:rPr sz="1800" b="0">
                <a:solidFill>
                  <a:srgbClr val="53675e"/>
                </a:solidFill>
                <a:latin typeface="맑은 고딕"/>
                <a:ea typeface="맑은 고딕"/>
                <a:cs typeface="맑은 고딕"/>
              </a:rPr>
              <a:t>완전 기재 자료가</a:t>
            </a:r>
            <a:endParaRPr sz="1800" b="0">
              <a:solidFill>
                <a:srgbClr val="53675e"/>
              </a:solidFill>
              <a:latin typeface="맑은 고딕"/>
              <a:ea typeface="맑은 고딕"/>
              <a:cs typeface="맑은 고딕"/>
            </a:endParaRPr>
          </a:p>
          <a:p>
            <a:pPr algn="l">
              <a:defRPr sz="1800" b="0">
                <a:solidFill>
                  <a:srgbClr val="53675e"/>
                </a:solidFill>
                <a:latin typeface="맑은 고딕"/>
                <a:ea typeface="맑은 고딕"/>
                <a:cs typeface="맑은 고딕"/>
              </a:defRPr>
            </a:pPr>
            <a:r>
              <a:rPr sz="1800" b="0">
                <a:solidFill>
                  <a:srgbClr val="53675e"/>
                </a:solidFill>
                <a:latin typeface="맑은 고딕"/>
                <a:ea typeface="맑은 고딕"/>
                <a:cs typeface="맑은 고딕"/>
              </a:rPr>
              <a:t>비교집합에서 차지한 비율</a:t>
            </a:r>
            <a:endParaRPr sz="1800" b="0">
              <a:solidFill>
                <a:srgbClr val="53675e"/>
              </a:solidFill>
              <a:latin typeface="맑은 고딕"/>
              <a:ea typeface="맑은 고딕"/>
              <a:cs typeface="맑은 고딕"/>
            </a:endParaRPr>
          </a:p>
        </p:txBody>
      </p:sp>
      <p:sp>
        <p:nvSpPr>
          <p:cNvPr id="19" name="이동전화 중심의 선택 영향 존재 전체 접수로 일반화 불가"/>
          <p:cNvSpPr>
            <a:spLocks noGrp="1"/>
          </p:cNvSpPr>
          <p:nvPr/>
        </p:nvSpPr>
        <p:spPr>
          <a:xfrm>
            <a:off x="8858250" y="4305300"/>
            <a:ext cx="2686050" cy="1257300"/>
          </a:xfrm>
          <a:prstGeom prst="rect">
            <a:avLst/>
          </a:prstGeom>
          <a:noFill/>
          <a:ln w="0">
            <a:noFill/>
          </a:ln>
        </p:spPr>
        <p:txBody>
          <a:bodyPr anchor="ctr">
            <a:noAutofit/>
          </a:bodyPr>
          <a:lstStyle/>
          <a:p>
            <a:pPr algn="l">
              <a:defRPr sz="1950" b="0">
                <a:solidFill>
                  <a:srgbClr val="20352d"/>
                </a:solidFill>
                <a:latin typeface="맑은 고딕"/>
                <a:ea typeface="맑은 고딕"/>
                <a:cs typeface="맑은 고딕"/>
              </a:defRPr>
            </a:pPr>
            <a:r>
              <a:rPr sz="1950" b="0">
                <a:solidFill>
                  <a:srgbClr val="20352d"/>
                </a:solidFill>
                <a:latin typeface="맑은 고딕"/>
                <a:ea typeface="맑은 고딕"/>
                <a:cs typeface="맑은 고딕"/>
              </a:rPr>
              <a:t>이동전화 중심의</a:t>
            </a:r>
            <a:endParaRPr sz="1950" b="0">
              <a:solidFill>
                <a:srgbClr val="20352d"/>
              </a:solidFill>
              <a:latin typeface="맑은 고딕"/>
              <a:ea typeface="맑은 고딕"/>
              <a:cs typeface="맑은 고딕"/>
            </a:endParaRPr>
          </a:p>
          <a:p>
            <a:pPr algn="l">
              <a:defRPr sz="1950" b="0">
                <a:solidFill>
                  <a:srgbClr val="20352d"/>
                </a:solidFill>
                <a:latin typeface="맑은 고딕"/>
                <a:ea typeface="맑은 고딕"/>
                <a:cs typeface="맑은 고딕"/>
              </a:defRPr>
            </a:pPr>
            <a:r>
              <a:rPr sz="1950" b="0">
                <a:solidFill>
                  <a:srgbClr val="20352d"/>
                </a:solidFill>
                <a:latin typeface="맑은 고딕"/>
                <a:ea typeface="맑은 고딕"/>
                <a:cs typeface="맑은 고딕"/>
              </a:rPr>
              <a:t>선택 영향 존재</a:t>
            </a:r>
            <a:endParaRPr sz="1950" b="0">
              <a:solidFill>
                <a:srgbClr val="20352d"/>
              </a:solidFill>
              <a:latin typeface="맑은 고딕"/>
              <a:ea typeface="맑은 고딕"/>
              <a:cs typeface="맑은 고딕"/>
            </a:endParaRPr>
          </a:p>
          <a:p>
            <a:pPr algn="l">
              <a:defRPr sz="1950" b="0">
                <a:solidFill>
                  <a:srgbClr val="20352d"/>
                </a:solidFill>
                <a:latin typeface="맑은 고딕"/>
                <a:ea typeface="맑은 고딕"/>
                <a:cs typeface="맑은 고딕"/>
              </a:defRPr>
            </a:pPr>
            <a:r>
              <a:rPr sz="1950" b="0">
                <a:solidFill>
                  <a:srgbClr val="20352d"/>
                </a:solidFill>
                <a:latin typeface="맑은 고딕"/>
                <a:ea typeface="맑은 고딕"/>
                <a:cs typeface="맑은 고딕"/>
              </a:rPr>
              <a:t>전체 접수로 일반화 불가</a:t>
            </a:r>
            <a:endParaRPr sz="1950" b="0">
              <a:solidFill>
                <a:srgbClr val="20352d"/>
              </a:solidFill>
              <a:latin typeface="맑은 고딕"/>
              <a:ea typeface="맑은 고딕"/>
              <a:cs typeface="맑은 고딕"/>
            </a:endParaRPr>
          </a:p>
        </p:txBody>
      </p:sp>
      <p:sp>
        <p:nvSpPr>
          <p:cNvPr id="20" name="52.80%의 분모는 비교집합 1,334,514건. 전체 "/>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지역별 비교 기준을 통일했으며, 분석 결과는 선별된 신고자료의 특성으로 해석</a:t>
            </a:r>
            <a:r>
              <a:rPr lang="en-US" altLang="ko-KR" sz="1275" b="1">
                <a:solidFill>
                  <a:srgbClr val="ffffff"/>
                </a:solidFill>
                <a:latin typeface="맑은 고딕"/>
                <a:ea typeface="맑은 고딕"/>
                <a:cs typeface="맑은 고딕"/>
              </a:rPr>
              <a:t>.</a:t>
            </a:r>
            <a:endParaRPr lang="en-US" altLang="ko-KR" sz="1275" b="1">
              <a:solidFill>
                <a:srgbClr val="ffffff"/>
              </a:solidFill>
              <a:latin typeface="맑은 고딕"/>
              <a:ea typeface="맑은 고딕"/>
              <a:cs typeface="맑은 고딕"/>
            </a:endParaRPr>
          </a:p>
        </p:txBody>
      </p:sp>
      <p:sp>
        <p:nvSpPr>
          <p:cNvPr id="22" name="05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05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4" name="group-panel"/>
          <p:cNvSpPr>
            <a:spLocks noGrp="1"/>
          </p:cNvSpPr>
          <p:nvPr/>
        </p:nvSpPr>
        <p:spPr>
          <a:xfrm>
            <a:off x="8724900" y="1924050"/>
            <a:ext cx="3009900" cy="3943350"/>
          </a:xfrm>
          <a:prstGeom prst="rect">
            <a:avLst/>
          </a:prstGeom>
          <a:solidFill>
            <a:srgbClr val="f0f6f2"/>
          </a:solidFill>
          <a:ln w="9525">
            <a:solidFill>
              <a:srgbClr val="c9ddd1"/>
            </a:solidFill>
          </a:ln>
        </p:spPr>
        <p:txBody>
          <a:bodyPr anchor="ctr"/>
          <a:p>
            <a:pPr algn="ctr">
              <a:defRPr/>
            </a:pPr>
            <a:endParaRPr lang="ko-KR" altLang="en-US"/>
          </a:p>
        </p:txBody>
      </p:sp>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5987"/>
            <a:ext cx="10972800" cy="466725"/>
          </a:xfrm>
          <a:prstGeom prst="rect">
            <a:avLst/>
          </a:prstGeom>
          <a:solidFill>
            <a:srgbClr val="0c493a"/>
          </a:solidFill>
          <a:ln w="0">
            <a:noFill/>
          </a:ln>
        </p:spPr>
        <p:txBody>
          <a:bodyPr anchor="ctr"/>
          <a:p>
            <a:pPr algn="ctr">
              <a:defRPr/>
            </a:pPr>
            <a:endParaRPr lang="ko-KR" altLang="en-US"/>
          </a:p>
        </p:txBody>
      </p:sp>
      <p:sp>
        <p:nvSpPr>
          <p:cNvPr id="13" name="03  지역별 분석 결과"/>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03  지역별 분석 결과</a:t>
            </a:r>
            <a:endParaRPr sz="2850" b="1">
              <a:solidFill>
                <a:srgbClr val="0c493a"/>
              </a:solidFill>
              <a:latin typeface="맑은 고딕"/>
              <a:ea typeface="맑은 고딕"/>
              <a:cs typeface="맑은 고딕"/>
            </a:endParaRPr>
          </a:p>
        </p:txBody>
      </p:sp>
      <p:sp>
        <p:nvSpPr>
          <p:cNvPr id="14" name="질병·질병외·부상이 75.94%"/>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질병·질병외·부상이 75.94%</a:t>
            </a:r>
            <a:endParaRPr sz="2025" b="1">
              <a:solidFill>
                <a:srgbClr val="20352d"/>
              </a:solidFill>
              <a:latin typeface="맑은 고딕"/>
              <a:ea typeface="맑은 고딕"/>
              <a:cs typeface="맑은 고딕"/>
            </a:endParaRPr>
          </a:p>
        </p:txBody>
      </p:sp>
      <p:sp>
        <p:nvSpPr>
          <p:cNvPr id="15" name="모든 차트의 기본 기준: 2020~2024년, 주 분석 대"/>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모든 차트의 기본 기준: 2020~2024년, 주 분석 대상 555,786건</a:t>
            </a:r>
            <a:endParaRPr sz="1500" b="0">
              <a:solidFill>
                <a:srgbClr val="53675e"/>
              </a:solidFill>
              <a:latin typeface="맑은 고딕"/>
              <a:ea typeface="맑은 고딕"/>
              <a:cs typeface="맑은 고딕"/>
            </a:endParaRPr>
          </a:p>
        </p:txBody>
      </p:sp>
      <p:graphicFrame>
        <p:nvGraphicFramePr>
          <p:cNvPr id="33" name="Chart"/>
          <p:cNvGraphicFramePr/>
          <p:nvPr/>
        </p:nvGraphicFramePr>
        <p:xfrm>
          <a:off x="609600" y="2000250"/>
          <a:ext cx="7620000" cy="3762375"/>
        </p:xfrm>
        <a:graphic>
          <a:graphicData uri="http://schemas.openxmlformats.org/drawingml/2006/chart">
            <c:chart r:id="rId3"/>
          </a:graphicData>
        </a:graphic>
      </p:graphicFrame>
      <p:sp>
        <p:nvSpPr>
          <p:cNvPr id="17" name="질병 190,682건"/>
          <p:cNvSpPr>
            <a:spLocks noGrp="1"/>
          </p:cNvSpPr>
          <p:nvPr/>
        </p:nvSpPr>
        <p:spPr>
          <a:xfrm>
            <a:off x="8810625" y="2076450"/>
            <a:ext cx="2771775" cy="361950"/>
          </a:xfrm>
          <a:prstGeom prst="rect">
            <a:avLst/>
          </a:prstGeom>
          <a:noFill/>
          <a:ln w="0">
            <a:noFill/>
          </a:ln>
        </p:spPr>
        <p:txBody>
          <a:bodyPr anchor="ctr">
            <a:noAutofit/>
          </a:bodyPr>
          <a:lstStyle/>
          <a:p>
            <a:pPr algn="l">
              <a:defRPr sz="1800" b="1">
                <a:solidFill>
                  <a:srgbClr val="0c493a"/>
                </a:solidFill>
                <a:latin typeface="맑은 고딕"/>
                <a:ea typeface="맑은 고딕"/>
                <a:cs typeface="맑은 고딕"/>
              </a:defRPr>
            </a:pPr>
            <a:r>
              <a:rPr sz="1800" b="1">
                <a:solidFill>
                  <a:srgbClr val="0c493a"/>
                </a:solidFill>
                <a:latin typeface="맑은 고딕"/>
                <a:ea typeface="맑은 고딕"/>
                <a:cs typeface="맑은 고딕"/>
              </a:rPr>
              <a:t>질병 190,682건</a:t>
            </a:r>
            <a:endParaRPr sz="1800" b="1">
              <a:solidFill>
                <a:srgbClr val="0c493a"/>
              </a:solidFill>
              <a:latin typeface="맑은 고딕"/>
              <a:ea typeface="맑은 고딕"/>
              <a:cs typeface="맑은 고딕"/>
            </a:endParaRPr>
          </a:p>
        </p:txBody>
      </p:sp>
      <p:sp>
        <p:nvSpPr>
          <p:cNvPr id="18" name="보건사업과 연결할 주요 검토 유형"/>
          <p:cNvSpPr>
            <a:spLocks noGrp="1"/>
          </p:cNvSpPr>
          <p:nvPr/>
        </p:nvSpPr>
        <p:spPr>
          <a:xfrm>
            <a:off x="8810625" y="2486025"/>
            <a:ext cx="2771775" cy="685800"/>
          </a:xfrm>
          <a:prstGeom prst="rect">
            <a:avLst/>
          </a:prstGeom>
          <a:noFill/>
          <a:ln w="0">
            <a:noFill/>
          </a:ln>
        </p:spPr>
        <p:txBody>
          <a:bodyPr anchor="ctr">
            <a:noAutofit/>
          </a:bodyPr>
          <a:lstStyle/>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보건사업과 연결할</a:t>
            </a:r>
            <a:endParaRPr sz="1575" b="0">
              <a:solidFill>
                <a:srgbClr val="53675e"/>
              </a:solidFill>
              <a:latin typeface="맑은 고딕"/>
              <a:ea typeface="맑은 고딕"/>
              <a:cs typeface="맑은 고딕"/>
            </a:endParaRPr>
          </a:p>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주요 검토 유형</a:t>
            </a:r>
            <a:endParaRPr sz="1575" b="0">
              <a:solidFill>
                <a:srgbClr val="53675e"/>
              </a:solidFill>
              <a:latin typeface="맑은 고딕"/>
              <a:ea typeface="맑은 고딕"/>
              <a:cs typeface="맑은 고딕"/>
            </a:endParaRPr>
          </a:p>
        </p:txBody>
      </p:sp>
      <p:sp>
        <p:nvSpPr>
          <p:cNvPr id="19" name="질병외 188,863건"/>
          <p:cNvSpPr>
            <a:spLocks noGrp="1"/>
          </p:cNvSpPr>
          <p:nvPr/>
        </p:nvSpPr>
        <p:spPr>
          <a:xfrm>
            <a:off x="8810625" y="3295650"/>
            <a:ext cx="2771775" cy="361950"/>
          </a:xfrm>
          <a:prstGeom prst="rect">
            <a:avLst/>
          </a:prstGeom>
          <a:noFill/>
          <a:ln w="0">
            <a:noFill/>
          </a:ln>
        </p:spPr>
        <p:txBody>
          <a:bodyPr anchor="ctr">
            <a:noAutofit/>
          </a:bodyPr>
          <a:lstStyle/>
          <a:p>
            <a:pPr algn="l">
              <a:defRPr sz="1800" b="1">
                <a:solidFill>
                  <a:srgbClr val="0c493a"/>
                </a:solidFill>
                <a:latin typeface="맑은 고딕"/>
                <a:ea typeface="맑은 고딕"/>
                <a:cs typeface="맑은 고딕"/>
              </a:defRPr>
            </a:pPr>
            <a:r>
              <a:rPr sz="1800" b="1">
                <a:solidFill>
                  <a:srgbClr val="0c493a"/>
                </a:solidFill>
                <a:latin typeface="맑은 고딕"/>
                <a:ea typeface="맑은 고딕"/>
                <a:cs typeface="맑은 고딕"/>
              </a:rPr>
              <a:t>질병외 188,863건</a:t>
            </a:r>
            <a:endParaRPr sz="1800" b="1">
              <a:solidFill>
                <a:srgbClr val="0c493a"/>
              </a:solidFill>
              <a:latin typeface="맑은 고딕"/>
              <a:ea typeface="맑은 고딕"/>
              <a:cs typeface="맑은 고딕"/>
            </a:endParaRPr>
          </a:p>
        </p:txBody>
      </p:sp>
      <p:sp>
        <p:nvSpPr>
          <p:cNvPr id="20" name="원자료 분류명 유지 음주·낙상 등 원인 단정 불가"/>
          <p:cNvSpPr>
            <a:spLocks noGrp="1"/>
          </p:cNvSpPr>
          <p:nvPr/>
        </p:nvSpPr>
        <p:spPr>
          <a:xfrm>
            <a:off x="8810625" y="3705225"/>
            <a:ext cx="2771775" cy="685800"/>
          </a:xfrm>
          <a:prstGeom prst="rect">
            <a:avLst/>
          </a:prstGeom>
          <a:noFill/>
          <a:ln w="0">
            <a:noFill/>
          </a:ln>
        </p:spPr>
        <p:txBody>
          <a:bodyPr anchor="ctr">
            <a:noAutofit/>
          </a:bodyPr>
          <a:lstStyle/>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원자료 분류명 유지</a:t>
            </a:r>
            <a:endParaRPr sz="1575" b="0">
              <a:solidFill>
                <a:srgbClr val="53675e"/>
              </a:solidFill>
              <a:latin typeface="맑은 고딕"/>
              <a:ea typeface="맑은 고딕"/>
              <a:cs typeface="맑은 고딕"/>
            </a:endParaRPr>
          </a:p>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음주·낙상 등 원인 단정 불가</a:t>
            </a:r>
            <a:endParaRPr sz="1575" b="0">
              <a:solidFill>
                <a:srgbClr val="53675e"/>
              </a:solidFill>
              <a:latin typeface="맑은 고딕"/>
              <a:ea typeface="맑은 고딕"/>
              <a:cs typeface="맑은 고딕"/>
            </a:endParaRPr>
          </a:p>
        </p:txBody>
      </p:sp>
      <p:sp>
        <p:nvSpPr>
          <p:cNvPr id="21" name="부상 42,522건"/>
          <p:cNvSpPr>
            <a:spLocks noGrp="1"/>
          </p:cNvSpPr>
          <p:nvPr/>
        </p:nvSpPr>
        <p:spPr>
          <a:xfrm>
            <a:off x="8810625" y="4514850"/>
            <a:ext cx="2771775" cy="361950"/>
          </a:xfrm>
          <a:prstGeom prst="rect">
            <a:avLst/>
          </a:prstGeom>
          <a:noFill/>
          <a:ln w="0">
            <a:noFill/>
          </a:ln>
        </p:spPr>
        <p:txBody>
          <a:bodyPr anchor="ctr">
            <a:noAutofit/>
          </a:bodyPr>
          <a:lstStyle/>
          <a:p>
            <a:pPr algn="l">
              <a:defRPr sz="1800" b="1">
                <a:solidFill>
                  <a:srgbClr val="0c493a"/>
                </a:solidFill>
                <a:latin typeface="맑은 고딕"/>
                <a:ea typeface="맑은 고딕"/>
                <a:cs typeface="맑은 고딕"/>
              </a:defRPr>
            </a:pPr>
            <a:r>
              <a:rPr sz="1800" b="1">
                <a:solidFill>
                  <a:srgbClr val="0c493a"/>
                </a:solidFill>
                <a:latin typeface="맑은 고딕"/>
                <a:ea typeface="맑은 고딕"/>
                <a:cs typeface="맑은 고딕"/>
              </a:rPr>
              <a:t>부상 42,522건</a:t>
            </a:r>
            <a:endParaRPr sz="1800" b="1">
              <a:solidFill>
                <a:srgbClr val="0c493a"/>
              </a:solidFill>
              <a:latin typeface="맑은 고딕"/>
              <a:ea typeface="맑은 고딕"/>
              <a:cs typeface="맑은 고딕"/>
            </a:endParaRPr>
          </a:p>
        </p:txBody>
      </p:sp>
      <p:sp>
        <p:nvSpPr>
          <p:cNvPr id="22" name="사고 기전·장소 확인 후 구체적인 예방 활동 검토"/>
          <p:cNvSpPr>
            <a:spLocks noGrp="1"/>
          </p:cNvSpPr>
          <p:nvPr/>
        </p:nvSpPr>
        <p:spPr>
          <a:xfrm>
            <a:off x="8810625" y="4924425"/>
            <a:ext cx="2771775" cy="685800"/>
          </a:xfrm>
          <a:prstGeom prst="rect">
            <a:avLst/>
          </a:prstGeom>
          <a:noFill/>
          <a:ln w="0">
            <a:noFill/>
          </a:ln>
        </p:spPr>
        <p:txBody>
          <a:bodyPr anchor="ctr">
            <a:noAutofit/>
          </a:bodyPr>
          <a:lstStyle/>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사고 기전·장소 확인 후</a:t>
            </a:r>
            <a:endParaRPr sz="1575" b="0">
              <a:solidFill>
                <a:srgbClr val="53675e"/>
              </a:solidFill>
              <a:latin typeface="맑은 고딕"/>
              <a:ea typeface="맑은 고딕"/>
              <a:cs typeface="맑은 고딕"/>
            </a:endParaRPr>
          </a:p>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구체적인 예방 활동 검토</a:t>
            </a:r>
            <a:endParaRPr sz="1575" b="0">
              <a:solidFill>
                <a:srgbClr val="53675e"/>
              </a:solidFill>
              <a:latin typeface="맑은 고딕"/>
              <a:ea typeface="맑은 고딕"/>
              <a:cs typeface="맑은 고딕"/>
            </a:endParaRPr>
          </a:p>
        </p:txBody>
      </p:sp>
      <p:sp>
        <p:nvSpPr>
          <p:cNvPr id="23" name="질병·질병외·부상은 75.94%를 차지하지만, 유형별 해석"/>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질병·질병외·부상이 주요 신고 유형으로 나타나, 유형별 특성에 맞춘 예방 검토가 필요</a:t>
            </a:r>
            <a:endParaRPr lang="ko-KR" altLang="en-US" sz="1275" b="1">
              <a:solidFill>
                <a:srgbClr val="ffffff"/>
              </a:solidFill>
              <a:latin typeface="맑은 고딕"/>
              <a:ea typeface="맑은 고딕"/>
              <a:cs typeface="맑은 고딕"/>
            </a:endParaRPr>
          </a:p>
        </p:txBody>
      </p:sp>
      <p:sp>
        <p:nvSpPr>
          <p:cNvPr id="25" name="06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06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1" name="group-panel"/>
          <p:cNvSpPr>
            <a:spLocks noGrp="1"/>
          </p:cNvSpPr>
          <p:nvPr/>
        </p:nvSpPr>
        <p:spPr>
          <a:xfrm>
            <a:off x="8724900" y="1924050"/>
            <a:ext cx="3009900" cy="3943350"/>
          </a:xfrm>
          <a:prstGeom prst="rect">
            <a:avLst/>
          </a:prstGeom>
          <a:solidFill>
            <a:srgbClr val="f0f6f2"/>
          </a:solidFill>
          <a:ln w="9525">
            <a:solidFill>
              <a:srgbClr val="c9ddd1"/>
            </a:solidFill>
          </a:ln>
        </p:spPr>
        <p:txBody>
          <a:bodyPr anchor="ctr"/>
          <a:p>
            <a:pPr algn="ctr">
              <a:defRPr/>
            </a:pPr>
            <a:endParaRPr lang="ko-KR" altLang="en-US"/>
          </a:p>
        </p:txBody>
      </p:sp>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3  지역별 분석 결과"/>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03  지역별 분석 결과</a:t>
            </a:r>
            <a:endParaRPr sz="2850" b="1">
              <a:solidFill>
                <a:srgbClr val="0c493a"/>
              </a:solidFill>
              <a:latin typeface="맑은 고딕"/>
              <a:ea typeface="맑은 고딕"/>
              <a:cs typeface="맑은 고딕"/>
            </a:endParaRPr>
          </a:p>
        </p:txBody>
      </p:sp>
      <p:sp>
        <p:nvSpPr>
          <p:cNvPr id="14" name="상위 5개 구에 접수의 45.34% 분포"/>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상위 5개 구에 접수의 45.34% 분포</a:t>
            </a:r>
            <a:endParaRPr sz="2025" b="1">
              <a:solidFill>
                <a:srgbClr val="20352d"/>
              </a:solidFill>
              <a:latin typeface="맑은 고딕"/>
              <a:ea typeface="맑은 고딕"/>
              <a:cs typeface="맑은 고딕"/>
            </a:endParaRPr>
          </a:p>
        </p:txBody>
      </p:sp>
      <p:sp>
        <p:nvSpPr>
          <p:cNvPr id="15" name="접수 규모는 지역 심화 분석의 출발점이며 위험도 순위가 아"/>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접수 규모는 지역 심화 분석의 출발점이며 위험도 순위가 아님</a:t>
            </a:r>
            <a:endParaRPr sz="1500" b="0">
              <a:solidFill>
                <a:srgbClr val="53675e"/>
              </a:solidFill>
              <a:latin typeface="맑은 고딕"/>
              <a:ea typeface="맑은 고딕"/>
              <a:cs typeface="맑은 고딕"/>
            </a:endParaRPr>
          </a:p>
        </p:txBody>
      </p:sp>
      <p:graphicFrame>
        <p:nvGraphicFramePr>
          <p:cNvPr id="30" name="Chart"/>
          <p:cNvGraphicFramePr/>
          <p:nvPr/>
        </p:nvGraphicFramePr>
        <p:xfrm>
          <a:off x="609600" y="1943100"/>
          <a:ext cx="7858125" cy="3924300"/>
        </p:xfrm>
        <a:graphic>
          <a:graphicData uri="http://schemas.openxmlformats.org/drawingml/2006/chart">
            <c:chart r:id="rId3"/>
          </a:graphicData>
        </a:graphic>
      </p:graphicFrame>
      <p:sp>
        <p:nvSpPr>
          <p:cNvPr id="17" name="252,014건"/>
          <p:cNvSpPr>
            <a:spLocks noGrp="1"/>
          </p:cNvSpPr>
          <p:nvPr/>
        </p:nvSpPr>
        <p:spPr>
          <a:xfrm>
            <a:off x="8858250" y="2095500"/>
            <a:ext cx="2762250" cy="762000"/>
          </a:xfrm>
          <a:prstGeom prst="rect">
            <a:avLst/>
          </a:prstGeom>
          <a:noFill/>
          <a:ln w="0">
            <a:noFill/>
          </a:ln>
        </p:spPr>
        <p:txBody>
          <a:bodyPr anchor="ctr">
            <a:noAutofit/>
          </a:bodyPr>
          <a:lstStyle/>
          <a:p>
            <a:pPr algn="l">
              <a:defRPr sz="3450" b="0">
                <a:solidFill>
                  <a:srgbClr val="0c493a"/>
                </a:solidFill>
                <a:latin typeface="맑은 고딕"/>
                <a:ea typeface="맑은 고딕"/>
                <a:cs typeface="맑은 고딕"/>
              </a:defRPr>
            </a:pPr>
            <a:r>
              <a:rPr sz="3450" b="0">
                <a:solidFill>
                  <a:srgbClr val="0c493a"/>
                </a:solidFill>
                <a:latin typeface="맑은 고딕"/>
                <a:ea typeface="맑은 고딕"/>
                <a:cs typeface="맑은 고딕"/>
              </a:rPr>
              <a:t>252,014건</a:t>
            </a:r>
            <a:endParaRPr sz="3450" b="0">
              <a:solidFill>
                <a:srgbClr val="0c493a"/>
              </a:solidFill>
              <a:latin typeface="맑은 고딕"/>
              <a:ea typeface="맑은 고딕"/>
              <a:cs typeface="맑은 고딕"/>
            </a:endParaRPr>
          </a:p>
        </p:txBody>
      </p:sp>
      <p:sp>
        <p:nvSpPr>
          <p:cNvPr id="18" name="부산진구·해운대구 사하구·사상구·북구"/>
          <p:cNvSpPr>
            <a:spLocks noGrp="1"/>
          </p:cNvSpPr>
          <p:nvPr/>
        </p:nvSpPr>
        <p:spPr>
          <a:xfrm>
            <a:off x="8858250" y="3048000"/>
            <a:ext cx="2762250" cy="952500"/>
          </a:xfrm>
          <a:prstGeom prst="rect">
            <a:avLst/>
          </a:prstGeom>
          <a:noFill/>
          <a:ln w="0">
            <a:noFill/>
          </a:ln>
        </p:spPr>
        <p:txBody>
          <a:bodyPr anchor="ctr">
            <a:noAutofit/>
          </a:bodyPr>
          <a:lstStyle/>
          <a:p>
            <a:pPr algn="l">
              <a:defRPr sz="1950" b="0">
                <a:solidFill>
                  <a:srgbClr val="20352d"/>
                </a:solidFill>
                <a:latin typeface="맑은 고딕"/>
                <a:ea typeface="맑은 고딕"/>
                <a:cs typeface="맑은 고딕"/>
              </a:defRPr>
            </a:pPr>
            <a:r>
              <a:rPr sz="1950" b="0">
                <a:solidFill>
                  <a:srgbClr val="20352d"/>
                </a:solidFill>
                <a:latin typeface="맑은 고딕"/>
                <a:ea typeface="맑은 고딕"/>
                <a:cs typeface="맑은 고딕"/>
              </a:rPr>
              <a:t>부산진구·해운대구</a:t>
            </a:r>
            <a:endParaRPr sz="1950" b="0">
              <a:solidFill>
                <a:srgbClr val="20352d"/>
              </a:solidFill>
              <a:latin typeface="맑은 고딕"/>
              <a:ea typeface="맑은 고딕"/>
              <a:cs typeface="맑은 고딕"/>
            </a:endParaRPr>
          </a:p>
          <a:p>
            <a:pPr algn="l">
              <a:defRPr sz="1950" b="0">
                <a:solidFill>
                  <a:srgbClr val="20352d"/>
                </a:solidFill>
                <a:latin typeface="맑은 고딕"/>
                <a:ea typeface="맑은 고딕"/>
                <a:cs typeface="맑은 고딕"/>
              </a:defRPr>
            </a:pPr>
            <a:r>
              <a:rPr sz="1950" b="0">
                <a:solidFill>
                  <a:srgbClr val="20352d"/>
                </a:solidFill>
                <a:latin typeface="맑은 고딕"/>
                <a:ea typeface="맑은 고딕"/>
                <a:cs typeface="맑은 고딕"/>
              </a:rPr>
              <a:t>사하구·사상구·북구</a:t>
            </a:r>
            <a:endParaRPr sz="1950" b="0">
              <a:solidFill>
                <a:srgbClr val="20352d"/>
              </a:solidFill>
              <a:latin typeface="맑은 고딕"/>
              <a:ea typeface="맑은 고딕"/>
              <a:cs typeface="맑은 고딕"/>
            </a:endParaRPr>
          </a:p>
        </p:txBody>
      </p:sp>
      <p:sp>
        <p:nvSpPr>
          <p:cNvPr id="19" name="인구와 활동 규모를 보정한 발생률은 별도로 검토 필요"/>
          <p:cNvSpPr>
            <a:spLocks noGrp="1"/>
          </p:cNvSpPr>
          <p:nvPr/>
        </p:nvSpPr>
        <p:spPr>
          <a:xfrm>
            <a:off x="8858250" y="4438650"/>
            <a:ext cx="2714625" cy="1285875"/>
          </a:xfrm>
          <a:prstGeom prst="rect">
            <a:avLst/>
          </a:prstGeom>
          <a:noFill/>
          <a:ln w="0">
            <a:noFill/>
          </a:ln>
        </p:spPr>
        <p:txBody>
          <a:bodyPr anchor="ctr">
            <a:noAutofit/>
          </a:bodyPr>
          <a:lstStyle/>
          <a:p>
            <a:pPr algn="l">
              <a:defRPr sz="1875" b="0">
                <a:solidFill>
                  <a:srgbClr val="53675e"/>
                </a:solidFill>
                <a:latin typeface="맑은 고딕"/>
                <a:ea typeface="맑은 고딕"/>
                <a:cs typeface="맑은 고딕"/>
              </a:defRPr>
            </a:pPr>
            <a:r>
              <a:rPr sz="1875" b="0">
                <a:solidFill>
                  <a:srgbClr val="53675e"/>
                </a:solidFill>
                <a:latin typeface="맑은 고딕"/>
                <a:ea typeface="맑은 고딕"/>
                <a:cs typeface="맑은 고딕"/>
              </a:rPr>
              <a:t>인구와 활동 규모를</a:t>
            </a:r>
            <a:endParaRPr sz="1875" b="0">
              <a:solidFill>
                <a:srgbClr val="53675e"/>
              </a:solidFill>
              <a:latin typeface="맑은 고딕"/>
              <a:ea typeface="맑은 고딕"/>
              <a:cs typeface="맑은 고딕"/>
            </a:endParaRPr>
          </a:p>
          <a:p>
            <a:pPr algn="l">
              <a:defRPr sz="1875" b="0">
                <a:solidFill>
                  <a:srgbClr val="53675e"/>
                </a:solidFill>
                <a:latin typeface="맑은 고딕"/>
                <a:ea typeface="맑은 고딕"/>
                <a:cs typeface="맑은 고딕"/>
              </a:defRPr>
            </a:pPr>
            <a:r>
              <a:rPr sz="1875" b="0">
                <a:solidFill>
                  <a:srgbClr val="53675e"/>
                </a:solidFill>
                <a:latin typeface="맑은 고딕"/>
                <a:ea typeface="맑은 고딕"/>
                <a:cs typeface="맑은 고딕"/>
              </a:rPr>
              <a:t>보정한 발생률은</a:t>
            </a:r>
            <a:endParaRPr sz="1875" b="0">
              <a:solidFill>
                <a:srgbClr val="53675e"/>
              </a:solidFill>
              <a:latin typeface="맑은 고딕"/>
              <a:ea typeface="맑은 고딕"/>
              <a:cs typeface="맑은 고딕"/>
            </a:endParaRPr>
          </a:p>
          <a:p>
            <a:pPr algn="l">
              <a:defRPr sz="1875" b="0">
                <a:solidFill>
                  <a:srgbClr val="53675e"/>
                </a:solidFill>
                <a:latin typeface="맑은 고딕"/>
                <a:ea typeface="맑은 고딕"/>
                <a:cs typeface="맑은 고딕"/>
              </a:defRPr>
            </a:pPr>
            <a:r>
              <a:rPr sz="1875" b="0">
                <a:solidFill>
                  <a:srgbClr val="53675e"/>
                </a:solidFill>
                <a:latin typeface="맑은 고딕"/>
                <a:ea typeface="맑은 고딕"/>
                <a:cs typeface="맑은 고딕"/>
              </a:rPr>
              <a:t>별도로 검토 필요</a:t>
            </a:r>
            <a:endParaRPr sz="1875" b="0">
              <a:solidFill>
                <a:srgbClr val="53675e"/>
              </a:solidFill>
              <a:latin typeface="맑은 고딕"/>
              <a:ea typeface="맑은 고딕"/>
              <a:cs typeface="맑은 고딕"/>
            </a:endParaRPr>
          </a:p>
        </p:txBody>
      </p:sp>
      <p:sp>
        <p:nvSpPr>
          <p:cNvPr id="20" name="부산진구 64,059건: 첨부 보고서의 64,509건을 원"/>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부산진구 등 접수 상위 5개 구를 동별 신고 특성을 심층 검토할 출발점으로 선정</a:t>
            </a:r>
            <a:endParaRPr lang="ko-KR" altLang="en-US" sz="1275" b="1">
              <a:solidFill>
                <a:srgbClr val="ffffff"/>
              </a:solidFill>
              <a:latin typeface="맑은 고딕"/>
              <a:ea typeface="맑은 고딕"/>
              <a:cs typeface="맑은 고딕"/>
            </a:endParaRPr>
          </a:p>
        </p:txBody>
      </p:sp>
      <p:sp>
        <p:nvSpPr>
          <p:cNvPr id="22" name="07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07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heme-top-band">
            <a:extLst xmlns:a="http://schemas.openxmlformats.org/drawingml/2006/main">
              <a:ext uri="{FF2B5EF4-FFF2-40B4-BE49-F238E27FC236}">
                <a16:creationId xmlns:a16="http://schemas.microsoft.com/office/drawing/2014/main" id="{4DDAFA3B-B248-4857-9212-4AB19091D4EF}"/>
              </a:ext>
            </a:extLst>
          </p:cNvPr>
          <p:cNvSpPr>
            <a:spLocks xmlns:a="http://schemas.openxmlformats.org/drawingml/2006/main" noGrp="1"/>
          </p:cNvSpPr>
          <p:nvPr/>
        </p:nvSpPr>
        <p:spPr>
          <a:xfrm xmlns:a="http://schemas.openxmlformats.org/drawingml/2006/main">
            <a:off x="0" y="0"/>
            <a:ext cx="12192000" cy="200025"/>
          </a:xfrm>
          <a:custGeom xmlns:a="http://schemas.openxmlformats.org/drawingml/2006/main">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xmlns:a="http://schemas.openxmlformats.org/drawingml/2006/main">
            <a:srgbClr val="0C493A"/>
          </a:solidFill>
          <a:ln xmlns:a="http://schemas.openxmlformats.org/drawingml/2006/main" w="0">
            <a:noFill/>
          </a:ln>
        </p:spPr>
      </p:sp>
      <p:sp>
        <p:nvSpPr>
          <p:cNvPr id="6" name="theme-bottom-band">
            <a:extLst xmlns:a="http://schemas.openxmlformats.org/drawingml/2006/main">
              <a:ext uri="{FF2B5EF4-FFF2-40B4-BE49-F238E27FC236}">
                <a16:creationId xmlns:a16="http://schemas.microsoft.com/office/drawing/2014/main" id="{B7C567E3-83F7-425C-96FF-24DAC2B9F36F}"/>
              </a:ext>
            </a:extLst>
          </p:cNvPr>
          <p:cNvSpPr>
            <a:spLocks xmlns:a="http://schemas.openxmlformats.org/drawingml/2006/main" noGrp="1"/>
          </p:cNvSpPr>
          <p:nvPr/>
        </p:nvSpPr>
        <p:spPr>
          <a:xfrm xmlns:a="http://schemas.openxmlformats.org/drawingml/2006/main">
            <a:off x="0" y="6657975"/>
            <a:ext cx="12192000" cy="200025"/>
          </a:xfrm>
          <a:custGeom xmlns:a="http://schemas.openxmlformats.org/drawingml/2006/main">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xmlns:a="http://schemas.openxmlformats.org/drawingml/2006/main">
            <a:srgbClr val="0C493A"/>
          </a:solidFill>
          <a:ln xmlns:a="http://schemas.openxmlformats.org/drawingml/2006/main" w="0">
            <a:noFill/>
          </a:ln>
        </p:spPr>
      </p:sp>
      <p:sp>
        <p:nvSpPr>
          <p:cNvPr id="12" name="직사각형 36">
            <a:extLst xmlns:a="http://schemas.openxmlformats.org/drawingml/2006/main">
              <a:ext uri="{FF2B5EF4-FFF2-40B4-BE49-F238E27FC236}">
                <a16:creationId xmlns:a16="http://schemas.microsoft.com/office/drawing/2014/main" id="{4B2D9E24-1D13-4361-ABD0-C4F91B718A45}"/>
              </a:ext>
            </a:extLst>
          </p:cNvPr>
          <p:cNvSpPr>
            <a:spLocks xmlns:a="http://schemas.openxmlformats.org/drawingml/2006/main" noGrp="1"/>
          </p:cNvSpPr>
          <p:nvPr/>
        </p:nvSpPr>
        <p:spPr>
          <a:xfrm xmlns:a="http://schemas.openxmlformats.org/drawingml/2006/main">
            <a:off x="609600" y="5991225"/>
            <a:ext cx="10972800" cy="466725"/>
          </a:xfrm>
          <a:prstGeom xmlns:a="http://schemas.openxmlformats.org/drawingml/2006/main" prst="rect">
            <a:avLst/>
          </a:prstGeom>
          <a:solidFill xmlns:a="http://schemas.openxmlformats.org/drawingml/2006/main">
            <a:srgbClr val="0C493A"/>
          </a:solidFill>
          <a:ln xmlns:a="http://schemas.openxmlformats.org/drawingml/2006/main" w="0">
            <a:noFill/>
          </a:ln>
        </p:spPr>
      </p:sp>
      <p:sp>
        <p:nvSpPr>
          <p:cNvPr id="13" name="03  지역별 분석 결과">
            <a:extLst xmlns:a="http://schemas.openxmlformats.org/drawingml/2006/main">
              <a:ext uri="{FF2B5EF4-FFF2-40B4-BE49-F238E27FC236}">
                <a16:creationId xmlns:a16="http://schemas.microsoft.com/office/drawing/2014/main" id="{3516306B-5124-40F8-A8AB-5ED0F94DACF6}"/>
              </a:ext>
            </a:extLst>
          </p:cNvPr>
          <p:cNvSpPr>
            <a:spLocks xmlns:a="http://schemas.openxmlformats.org/drawingml/2006/main" noGrp="1"/>
          </p:cNvSpPr>
          <p:nvPr/>
        </p:nvSpPr>
        <p:spPr>
          <a:xfrm xmlns:a="http://schemas.openxmlformats.org/drawingml/2006/main">
            <a:off x="609600" y="323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0C493A"/>
                </a:solidFill>
                <a:latin typeface="Malgun Gothic"/>
                <a:ea typeface="Malgun Gothic"/>
                <a:cs typeface="Malgun Gothic"/>
              </a:defRPr>
            </a:pPr>
            <a:r>
              <a:rPr sz="2850" b="1">
                <a:solidFill>
                  <a:srgbClr val="0C493A"/>
                </a:solidFill>
                <a:latin typeface="Malgun Gothic"/>
                <a:ea typeface="Malgun Gothic"/>
                <a:cs typeface="Malgun Gothic"/>
              </a:rPr>
              <a:t>03  지역별 분석 결과</a:t>
            </a:r>
          </a:p>
        </p:txBody>
      </p:sp>
      <p:sp>
        <p:nvSpPr>
          <p:cNvPr id="14" name="같은 구급 신고도 동별 특성 비교">
            <a:extLst xmlns:a="http://schemas.openxmlformats.org/drawingml/2006/main">
              <a:ext uri="{FF2B5EF4-FFF2-40B4-BE49-F238E27FC236}">
                <a16:creationId xmlns:a16="http://schemas.microsoft.com/office/drawing/2014/main" id="{63EAA4D9-FBB6-43B9-8321-71211A2CC513}"/>
              </a:ext>
            </a:extLst>
          </p:cNvPr>
          <p:cNvSpPr>
            <a:spLocks xmlns:a="http://schemas.openxmlformats.org/drawingml/2006/main" noGrp="1"/>
          </p:cNvSpPr>
          <p:nvPr/>
        </p:nvSpPr>
        <p:spPr>
          <a:xfrm xmlns:a="http://schemas.openxmlformats.org/drawingml/2006/main">
            <a:off x="609600" y="952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52D"/>
                </a:solidFill>
                <a:latin typeface="Malgun Gothic"/>
                <a:ea typeface="Malgun Gothic"/>
                <a:cs typeface="Malgun Gothic"/>
              </a:defRPr>
            </a:pPr>
            <a:r>
              <a:rPr sz="2025" b="1">
                <a:solidFill>
                  <a:srgbClr val="20352D"/>
                </a:solidFill>
                <a:latin typeface="Malgun Gothic"/>
                <a:ea typeface="Malgun Gothic"/>
                <a:cs typeface="Malgun Gothic"/>
              </a:rPr>
              <a:t>같은 구급 신고도 동별 특성 비교</a:t>
            </a:r>
          </a:p>
        </p:txBody>
      </p:sp>
      <p:sp>
        <p:nvSpPr>
          <p:cNvPr id="15" name="구성비의 분모는 각 동의 주 분석 대상 전체 접수">
            <a:extLst xmlns:a="http://schemas.openxmlformats.org/drawingml/2006/main">
              <a:ext uri="{FF2B5EF4-FFF2-40B4-BE49-F238E27FC236}">
                <a16:creationId xmlns:a16="http://schemas.microsoft.com/office/drawing/2014/main" id="{6EAB3426-8AD0-49C7-8E81-44911A3446C9}"/>
              </a:ext>
            </a:extLst>
          </p:cNvPr>
          <p:cNvSpPr>
            <a:spLocks xmlns:a="http://schemas.openxmlformats.org/drawingml/2006/main" noGrp="1"/>
          </p:cNvSpPr>
          <p:nvPr/>
        </p:nvSpPr>
        <p:spPr>
          <a:xfrm xmlns:a="http://schemas.openxmlformats.org/drawingml/2006/main">
            <a:off x="609600" y="14001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구성비의 분모는 각 동의 주 분석 대상 전체 접수</a:t>
            </a:r>
          </a:p>
        </p:txBody>
      </p:sp>
      <p:graphicFrame>
        <p:nvGraphicFramePr>
          <p:cNvPr id="25" name=""/>
          <p:cNvGraphicFramePr/>
          <p:nvPr/>
        </p:nvGraphicFramePr>
        <p:xfrm>
          <a:off xmlns:a="http://schemas.openxmlformats.org/drawingml/2006/main" x="609600" y="1943100"/>
          <a:ext xmlns:a="http://schemas.openxmlformats.org/drawingml/2006/main" cx="10972800" cy="3876675"/>
        </p:xfrm>
        <a:graphic xmlns:a="http://schemas.openxmlformats.org/drawingml/2006/main">
          <a:graphicData uri="http://schemas.openxmlformats.org/drawingml/2006/table">
            <a:tbl>
              <a:tblPr/>
              <a:tblGrid>
                <a:gridCol w="4149378"/>
                <a:gridCol w="1982481"/>
                <a:gridCol w="2120793"/>
                <a:gridCol w="2720148"/>
              </a:tblGrid>
              <a:tr h="484584">
                <a:tc>
                  <a:txBody>
                    <a:bodyPr/>
                    <a:lstStyle/>
                    <a:p>
                      <a:pPr algn="l"/>
                      <a:r>
                        <a:rPr sz="1575" b="1">
                          <a:solidFill>
                            <a:srgbClr val="20352D"/>
                          </a:solidFill>
                          <a:latin typeface="Malgun Gothic"/>
                          <a:ea typeface="Malgun Gothic"/>
                          <a:cs typeface="Malgun Gothic"/>
                        </a:rPr>
                        <a:t>신고 지역명·유형</a:t>
                      </a:r>
                    </a:p>
                  </a:txBody>
                  <a:tcPr marL="91440" marR="91440" marT="45720" marB="45720" anchor="ctr">
                    <a:solidFill>
                      <a:srgbClr val="DDECE5"/>
                    </a:solidFill>
                  </a:tcPr>
                </a:tc>
                <a:tc>
                  <a:txBody>
                    <a:bodyPr/>
                    <a:lstStyle/>
                    <a:p>
                      <a:pPr algn="l"/>
                      <a:r>
                        <a:rPr sz="1575" b="1">
                          <a:solidFill>
                            <a:srgbClr val="20352D"/>
                          </a:solidFill>
                          <a:latin typeface="Malgun Gothic"/>
                          <a:ea typeface="Malgun Gothic"/>
                          <a:cs typeface="Malgun Gothic"/>
                        </a:rPr>
                        <a:t>접수 건수</a:t>
                      </a:r>
                    </a:p>
                  </a:txBody>
                  <a:tcPr marL="91440" marR="91440" marT="45720" marB="45720" anchor="ctr">
                    <a:solidFill>
                      <a:srgbClr val="DDECE5"/>
                    </a:solidFill>
                  </a:tcPr>
                </a:tc>
                <a:tc>
                  <a:txBody>
                    <a:bodyPr/>
                    <a:lstStyle/>
                    <a:p>
                      <a:pPr algn="l"/>
                      <a:r>
                        <a:rPr sz="1575" b="1">
                          <a:solidFill>
                            <a:srgbClr val="20352D"/>
                          </a:solidFill>
                          <a:latin typeface="Malgun Gothic"/>
                          <a:ea typeface="Malgun Gothic"/>
                          <a:cs typeface="Malgun Gothic"/>
                        </a:rPr>
                        <a:t>동 내 구성비</a:t>
                      </a:r>
                    </a:p>
                  </a:txBody>
                  <a:tcPr marL="91440" marR="91440" marT="45720" marB="45720" anchor="ctr">
                    <a:solidFill>
                      <a:srgbClr val="DDECE5"/>
                    </a:solidFill>
                  </a:tcPr>
                </a:tc>
                <a:tc>
                  <a:txBody>
                    <a:bodyPr/>
                    <a:lstStyle/>
                    <a:p>
                      <a:pPr algn="l"/>
                      <a:r>
                        <a:rPr sz="1575" b="1">
                          <a:solidFill>
                            <a:srgbClr val="20352D"/>
                          </a:solidFill>
                          <a:latin typeface="Malgun Gothic"/>
                          <a:ea typeface="Malgun Gothic"/>
                          <a:cs typeface="Malgun Gothic"/>
                        </a:rPr>
                        <a:t>최다 접수 구간</a:t>
                      </a:r>
                    </a:p>
                  </a:txBody>
                  <a:tcPr marL="91440" marR="91440" marT="45720" marB="45720" anchor="ctr">
                    <a:solidFill>
                      <a:srgbClr val="DDECE5"/>
                    </a:solidFill>
                  </a:tcPr>
                </a:tc>
              </a:tr>
              <a:tr h="484584">
                <a:tc>
                  <a:txBody>
                    <a:bodyPr/>
                    <a:lstStyle/>
                    <a:p>
                      <a:pPr algn="l"/>
                      <a:r>
                        <a:rPr sz="1575" b="0">
                          <a:solidFill>
                            <a:srgbClr val="53675E"/>
                          </a:solidFill>
                          <a:latin typeface="Malgun Gothic"/>
                          <a:ea typeface="Malgun Gothic"/>
                          <a:cs typeface="Malgun Gothic"/>
                        </a:rPr>
                        <a:t>다대동 · 질병</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4,054</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37.0%</a:t>
                      </a:r>
                    </a:p>
                  </a:txBody>
                  <a:tcPr marL="91440" marR="91440" marT="45720" marB="45720" anchor="ctr">
                    <a:solidFill>
                      <a:srgbClr val="FFFFFF"/>
                    </a:solidFill>
                  </a:tcPr>
                </a:tc>
                <a:tc>
                  <a:txBody>
                    <a:bodyPr/>
                    <a:lstStyle/>
                    <a:p>
                      <a:pPr algn="l"/>
                      <a:r>
                        <a:rPr sz="1575" b="0">
                          <a:solidFill>
                            <a:srgbClr val="53675E"/>
                          </a:solidFill>
                          <a:latin typeface="Malgun Gothic"/>
                          <a:ea typeface="Malgun Gothic"/>
                          <a:cs typeface="Malgun Gothic"/>
                        </a:rPr>
                        <a:t>08~12시 미만</a:t>
                      </a:r>
                    </a:p>
                  </a:txBody>
                  <a:tcPr marL="91440" marR="91440" marT="45720" marB="45720" anchor="ctr">
                    <a:solidFill>
                      <a:srgbClr val="FFFFFF"/>
                    </a:solidFill>
                  </a:tcPr>
                </a:tc>
              </a:tr>
              <a:tr h="484584">
                <a:tc>
                  <a:txBody>
                    <a:bodyPr/>
                    <a:lstStyle/>
                    <a:p>
                      <a:pPr algn="l"/>
                      <a:r>
                        <a:rPr sz="1575" b="0">
                          <a:solidFill>
                            <a:srgbClr val="53675E"/>
                          </a:solidFill>
                          <a:latin typeface="Malgun Gothic"/>
                          <a:ea typeface="Malgun Gothic"/>
                          <a:cs typeface="Malgun Gothic"/>
                        </a:rPr>
                        <a:t>금곡동 · 질병</a:t>
                      </a:r>
                    </a:p>
                  </a:txBody>
                  <a:tcPr marL="91440" marR="91440" marT="45720" marB="45720" anchor="ctr">
                    <a:solidFill>
                      <a:srgbClr val="F4F8F5"/>
                    </a:solidFill>
                  </a:tcPr>
                </a:tc>
                <a:tc>
                  <a:txBody>
                    <a:bodyPr/>
                    <a:lstStyle/>
                    <a:p>
                      <a:pPr algn="ctr"/>
                      <a:r>
                        <a:rPr sz="1575" b="0">
                          <a:solidFill>
                            <a:srgbClr val="53675E"/>
                          </a:solidFill>
                          <a:latin typeface="Malgun Gothic"/>
                          <a:ea typeface="Malgun Gothic"/>
                          <a:cs typeface="Malgun Gothic"/>
                        </a:rPr>
                        <a:t>3,615</a:t>
                      </a:r>
                    </a:p>
                  </a:txBody>
                  <a:tcPr marL="91440" marR="91440" marT="45720" marB="45720" anchor="ctr">
                    <a:solidFill>
                      <a:srgbClr val="F4F8F5"/>
                    </a:solidFill>
                  </a:tcPr>
                </a:tc>
                <a:tc>
                  <a:txBody>
                    <a:bodyPr/>
                    <a:lstStyle/>
                    <a:p>
                      <a:pPr algn="ctr"/>
                      <a:r>
                        <a:rPr sz="1575" b="0">
                          <a:solidFill>
                            <a:srgbClr val="53675E"/>
                          </a:solidFill>
                          <a:latin typeface="Malgun Gothic"/>
                          <a:ea typeface="Malgun Gothic"/>
                          <a:cs typeface="Malgun Gothic"/>
                        </a:rPr>
                        <a:t>38.9%</a:t>
                      </a:r>
                    </a:p>
                  </a:txBody>
                  <a:tcPr marL="91440" marR="91440" marT="45720" marB="45720" anchor="ctr">
                    <a:solidFill>
                      <a:srgbClr val="F4F8F5"/>
                    </a:solidFill>
                  </a:tcPr>
                </a:tc>
                <a:tc>
                  <a:txBody>
                    <a:bodyPr/>
                    <a:lstStyle/>
                    <a:p>
                      <a:pPr algn="l"/>
                      <a:r>
                        <a:rPr sz="1575" b="0">
                          <a:solidFill>
                            <a:srgbClr val="53675E"/>
                          </a:solidFill>
                          <a:latin typeface="Malgun Gothic"/>
                          <a:ea typeface="Malgun Gothic"/>
                          <a:cs typeface="Malgun Gothic"/>
                        </a:rPr>
                        <a:t>08~12시 미만</a:t>
                      </a:r>
                    </a:p>
                  </a:txBody>
                  <a:tcPr marL="91440" marR="91440" marT="45720" marB="45720" anchor="ctr">
                    <a:solidFill>
                      <a:srgbClr val="F4F8F5"/>
                    </a:solidFill>
                  </a:tcPr>
                </a:tc>
              </a:tr>
              <a:tr h="484584">
                <a:tc>
                  <a:txBody>
                    <a:bodyPr/>
                    <a:lstStyle/>
                    <a:p>
                      <a:pPr algn="l"/>
                      <a:r>
                        <a:rPr sz="1575" b="0">
                          <a:solidFill>
                            <a:srgbClr val="53675E"/>
                          </a:solidFill>
                          <a:latin typeface="Malgun Gothic"/>
                          <a:ea typeface="Malgun Gothic"/>
                          <a:cs typeface="Malgun Gothic"/>
                        </a:rPr>
                        <a:t>부전동 · 질병외</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4,625</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38.4%</a:t>
                      </a:r>
                    </a:p>
                  </a:txBody>
                  <a:tcPr marL="91440" marR="91440" marT="45720" marB="45720" anchor="ctr">
                    <a:solidFill>
                      <a:srgbClr val="FFFFFF"/>
                    </a:solidFill>
                  </a:tcPr>
                </a:tc>
                <a:tc>
                  <a:txBody>
                    <a:bodyPr/>
                    <a:lstStyle/>
                    <a:p>
                      <a:pPr algn="l"/>
                      <a:r>
                        <a:rPr sz="1575" b="0">
                          <a:solidFill>
                            <a:srgbClr val="53675E"/>
                          </a:solidFill>
                          <a:latin typeface="Malgun Gothic"/>
                          <a:ea typeface="Malgun Gothic"/>
                          <a:cs typeface="Malgun Gothic"/>
                        </a:rPr>
                        <a:t>20~24시 미만</a:t>
                      </a:r>
                    </a:p>
                  </a:txBody>
                  <a:tcPr marL="91440" marR="91440" marT="45720" marB="45720" anchor="ctr">
                    <a:solidFill>
                      <a:srgbClr val="FFFFFF"/>
                    </a:solidFill>
                  </a:tcPr>
                </a:tc>
              </a:tr>
              <a:tr h="484584">
                <a:tc>
                  <a:txBody>
                    <a:bodyPr/>
                    <a:lstStyle/>
                    <a:p>
                      <a:pPr algn="l"/>
                      <a:r>
                        <a:rPr sz="1575" b="0">
                          <a:solidFill>
                            <a:srgbClr val="53675E"/>
                          </a:solidFill>
                          <a:latin typeface="Malgun Gothic"/>
                          <a:ea typeface="Malgun Gothic"/>
                          <a:cs typeface="Malgun Gothic"/>
                        </a:rPr>
                        <a:t>부전동 · 부상</a:t>
                      </a:r>
                    </a:p>
                  </a:txBody>
                  <a:tcPr marL="91440" marR="91440" marT="45720" marB="45720" anchor="ctr">
                    <a:solidFill>
                      <a:srgbClr val="F4F8F5"/>
                    </a:solidFill>
                  </a:tcPr>
                </a:tc>
                <a:tc>
                  <a:txBody>
                    <a:bodyPr/>
                    <a:lstStyle/>
                    <a:p>
                      <a:pPr algn="ctr"/>
                      <a:r>
                        <a:rPr sz="1575" b="0">
                          <a:solidFill>
                            <a:srgbClr val="53675E"/>
                          </a:solidFill>
                          <a:latin typeface="Malgun Gothic"/>
                          <a:ea typeface="Malgun Gothic"/>
                          <a:cs typeface="Malgun Gothic"/>
                        </a:rPr>
                        <a:t>1,178</a:t>
                      </a:r>
                    </a:p>
                  </a:txBody>
                  <a:tcPr marL="91440" marR="91440" marT="45720" marB="45720" anchor="ctr">
                    <a:solidFill>
                      <a:srgbClr val="F4F8F5"/>
                    </a:solidFill>
                  </a:tcPr>
                </a:tc>
                <a:tc>
                  <a:txBody>
                    <a:bodyPr/>
                    <a:lstStyle/>
                    <a:p>
                      <a:pPr algn="ctr"/>
                      <a:r>
                        <a:rPr sz="1575" b="0">
                          <a:solidFill>
                            <a:srgbClr val="53675E"/>
                          </a:solidFill>
                          <a:latin typeface="Malgun Gothic"/>
                          <a:ea typeface="Malgun Gothic"/>
                          <a:cs typeface="Malgun Gothic"/>
                        </a:rPr>
                        <a:t>9.8%</a:t>
                      </a:r>
                    </a:p>
                  </a:txBody>
                  <a:tcPr marL="91440" marR="91440" marT="45720" marB="45720" anchor="ctr">
                    <a:solidFill>
                      <a:srgbClr val="F4F8F5"/>
                    </a:solidFill>
                  </a:tcPr>
                </a:tc>
                <a:tc>
                  <a:txBody>
                    <a:bodyPr/>
                    <a:lstStyle/>
                    <a:p>
                      <a:pPr algn="l"/>
                      <a:r>
                        <a:rPr sz="1575" b="0">
                          <a:solidFill>
                            <a:srgbClr val="53675E"/>
                          </a:solidFill>
                          <a:latin typeface="Malgun Gothic"/>
                          <a:ea typeface="Malgun Gothic"/>
                          <a:cs typeface="Malgun Gothic"/>
                        </a:rPr>
                        <a:t>20~24시 미만</a:t>
                      </a:r>
                    </a:p>
                  </a:txBody>
                  <a:tcPr marL="91440" marR="91440" marT="45720" marB="45720" anchor="ctr">
                    <a:solidFill>
                      <a:srgbClr val="F4F8F5"/>
                    </a:solidFill>
                  </a:tcPr>
                </a:tc>
              </a:tr>
              <a:tr h="484584">
                <a:tc>
                  <a:txBody>
                    <a:bodyPr/>
                    <a:lstStyle/>
                    <a:p>
                      <a:pPr algn="l"/>
                      <a:r>
                        <a:rPr sz="1575" b="0">
                          <a:solidFill>
                            <a:srgbClr val="53675E"/>
                          </a:solidFill>
                          <a:latin typeface="Malgun Gothic"/>
                          <a:ea typeface="Malgun Gothic"/>
                          <a:cs typeface="Malgun Gothic"/>
                        </a:rPr>
                        <a:t>우동 · 질병</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3,985</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32.9%</a:t>
                      </a:r>
                    </a:p>
                  </a:txBody>
                  <a:tcPr marL="91440" marR="91440" marT="45720" marB="45720" anchor="ctr">
                    <a:solidFill>
                      <a:srgbClr val="FFFFFF"/>
                    </a:solidFill>
                  </a:tcPr>
                </a:tc>
                <a:tc>
                  <a:txBody>
                    <a:bodyPr/>
                    <a:lstStyle/>
                    <a:p>
                      <a:pPr algn="l"/>
                      <a:r>
                        <a:rPr sz="1575" b="0">
                          <a:solidFill>
                            <a:srgbClr val="53675E"/>
                          </a:solidFill>
                          <a:latin typeface="Malgun Gothic"/>
                          <a:ea typeface="Malgun Gothic"/>
                          <a:cs typeface="Malgun Gothic"/>
                        </a:rPr>
                        <a:t>12~16시 미만</a:t>
                      </a:r>
                    </a:p>
                  </a:txBody>
                  <a:tcPr marL="91440" marR="91440" marT="45720" marB="45720" anchor="ctr">
                    <a:solidFill>
                      <a:srgbClr val="FFFFFF"/>
                    </a:solidFill>
                  </a:tcPr>
                </a:tc>
              </a:tr>
              <a:tr h="484584">
                <a:tc>
                  <a:txBody>
                    <a:bodyPr/>
                    <a:lstStyle/>
                    <a:p>
                      <a:pPr algn="l"/>
                      <a:r>
                        <a:rPr sz="1575" b="0">
                          <a:solidFill>
                            <a:srgbClr val="53675E"/>
                          </a:solidFill>
                          <a:latin typeface="Malgun Gothic"/>
                          <a:ea typeface="Malgun Gothic"/>
                          <a:cs typeface="Malgun Gothic"/>
                        </a:rPr>
                        <a:t>좌동 · 질병</a:t>
                      </a:r>
                    </a:p>
                  </a:txBody>
                  <a:tcPr marL="91440" marR="91440" marT="45720" marB="45720" anchor="ctr">
                    <a:solidFill>
                      <a:srgbClr val="F4F8F5"/>
                    </a:solidFill>
                  </a:tcPr>
                </a:tc>
                <a:tc>
                  <a:txBody>
                    <a:bodyPr/>
                    <a:lstStyle/>
                    <a:p>
                      <a:pPr algn="ctr"/>
                      <a:r>
                        <a:rPr sz="1575" b="0">
                          <a:solidFill>
                            <a:srgbClr val="53675E"/>
                          </a:solidFill>
                          <a:latin typeface="Malgun Gothic"/>
                          <a:ea typeface="Malgun Gothic"/>
                          <a:cs typeface="Malgun Gothic"/>
                        </a:rPr>
                        <a:t>3,593</a:t>
                      </a:r>
                    </a:p>
                  </a:txBody>
                  <a:tcPr marL="91440" marR="91440" marT="45720" marB="45720" anchor="ctr">
                    <a:solidFill>
                      <a:srgbClr val="F4F8F5"/>
                    </a:solidFill>
                  </a:tcPr>
                </a:tc>
                <a:tc>
                  <a:txBody>
                    <a:bodyPr/>
                    <a:lstStyle/>
                    <a:p>
                      <a:pPr algn="ctr"/>
                      <a:r>
                        <a:rPr sz="1575" b="0">
                          <a:solidFill>
                            <a:srgbClr val="53675E"/>
                          </a:solidFill>
                          <a:latin typeface="Malgun Gothic"/>
                          <a:ea typeface="Malgun Gothic"/>
                          <a:cs typeface="Malgun Gothic"/>
                        </a:rPr>
                        <a:t>36.6%</a:t>
                      </a:r>
                    </a:p>
                  </a:txBody>
                  <a:tcPr marL="91440" marR="91440" marT="45720" marB="45720" anchor="ctr">
                    <a:solidFill>
                      <a:srgbClr val="F4F8F5"/>
                    </a:solidFill>
                  </a:tcPr>
                </a:tc>
                <a:tc>
                  <a:txBody>
                    <a:bodyPr/>
                    <a:lstStyle/>
                    <a:p>
                      <a:pPr algn="l"/>
                      <a:r>
                        <a:rPr sz="1575" b="0">
                          <a:solidFill>
                            <a:srgbClr val="53675E"/>
                          </a:solidFill>
                          <a:latin typeface="Malgun Gothic"/>
                          <a:ea typeface="Malgun Gothic"/>
                          <a:cs typeface="Malgun Gothic"/>
                        </a:rPr>
                        <a:t>08~12시 미만</a:t>
                      </a:r>
                    </a:p>
                  </a:txBody>
                  <a:tcPr marL="91440" marR="91440" marT="45720" marB="45720" anchor="ctr">
                    <a:solidFill>
                      <a:srgbClr val="F4F8F5"/>
                    </a:solidFill>
                  </a:tcPr>
                </a:tc>
              </a:tr>
              <a:tr h="484584">
                <a:tc>
                  <a:txBody>
                    <a:bodyPr/>
                    <a:lstStyle/>
                    <a:p>
                      <a:pPr algn="l"/>
                      <a:r>
                        <a:rPr sz="1575" b="0">
                          <a:solidFill>
                            <a:srgbClr val="53675E"/>
                          </a:solidFill>
                          <a:latin typeface="Malgun Gothic"/>
                          <a:ea typeface="Malgun Gothic"/>
                          <a:cs typeface="Malgun Gothic"/>
                        </a:rPr>
                        <a:t>모라동 / 주례동 · 질병</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2,839 / 2,463</a:t>
                      </a:r>
                    </a:p>
                  </a:txBody>
                  <a:tcPr marL="91440" marR="91440" marT="45720" marB="45720" anchor="ctr">
                    <a:solidFill>
                      <a:srgbClr val="FFFFFF"/>
                    </a:solidFill>
                  </a:tcPr>
                </a:tc>
                <a:tc>
                  <a:txBody>
                    <a:bodyPr/>
                    <a:lstStyle/>
                    <a:p>
                      <a:pPr algn="ctr"/>
                      <a:r>
                        <a:rPr sz="1575" b="0">
                          <a:solidFill>
                            <a:srgbClr val="53675E"/>
                          </a:solidFill>
                          <a:latin typeface="Malgun Gothic"/>
                          <a:ea typeface="Malgun Gothic"/>
                          <a:cs typeface="Malgun Gothic"/>
                        </a:rPr>
                        <a:t>37.8% / 35.9%</a:t>
                      </a:r>
                    </a:p>
                  </a:txBody>
                  <a:tcPr marL="91440" marR="91440" marT="45720" marB="45720" anchor="ctr">
                    <a:solidFill>
                      <a:srgbClr val="FFFFFF"/>
                    </a:solidFill>
                  </a:tcPr>
                </a:tc>
                <a:tc>
                  <a:txBody>
                    <a:bodyPr/>
                    <a:lstStyle/>
                    <a:p>
                      <a:pPr algn="l"/>
                      <a:r>
                        <a:rPr sz="1575" b="0">
                          <a:solidFill>
                            <a:srgbClr val="53675E"/>
                          </a:solidFill>
                          <a:latin typeface="Malgun Gothic"/>
                          <a:ea typeface="Malgun Gothic"/>
                          <a:cs typeface="Malgun Gothic"/>
                        </a:rPr>
                        <a:t>08~12시 미만</a:t>
                      </a:r>
                    </a:p>
                  </a:txBody>
                  <a:tcPr marL="91440" marR="91440" marT="45720" marB="45720" anchor="ctr">
                    <a:solidFill>
                      <a:srgbClr val="FFFFFF"/>
                    </a:solidFill>
                  </a:tcPr>
                </a:tc>
              </a:tr>
            </a:tbl>
          </a:graphicData>
        </a:graphic>
      </p:graphicFrame>
      <p:sp>
        <p:nvSpPr>
          <p:cNvPr id="17" name="같은 구급 신고도 지역별 유형 구성과 시간 분포를 나눠 검">
            <a:extLst xmlns:a="http://schemas.openxmlformats.org/drawingml/2006/main">
              <a:ext uri="{FF2B5EF4-FFF2-40B4-BE49-F238E27FC236}">
                <a16:creationId xmlns:a16="http://schemas.microsoft.com/office/drawing/2014/main" id="{14009187-C7F4-446C-ACFE-DC0BBAB39BD1}"/>
              </a:ext>
            </a:extLst>
          </p:cNvPr>
          <p:cNvSpPr>
            <a:spLocks xmlns:a="http://schemas.openxmlformats.org/drawingml/2006/main" noGrp="1"/>
          </p:cNvSpPr>
          <p:nvPr/>
        </p:nvSpPr>
        <p:spPr>
          <a:xfrm xmlns:a="http://schemas.openxmlformats.org/drawingml/2006/main">
            <a:off x="733425" y="6048375"/>
            <a:ext cx="1072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같은 구급 신고도 지역별 유형 구성과 시간 분포를 나눠 검토할 필요.</a:t>
            </a:r>
          </a:p>
        </p:txBody>
      </p:sp>
      <p:sp>
        <p:nvSpPr>
          <p:cNvPr id="18" name="08 / 22">
            <a:extLst xmlns:a="http://schemas.openxmlformats.org/drawingml/2006/main">
              <a:ext uri="{FF2B5EF4-FFF2-40B4-BE49-F238E27FC236}">
                <a16:creationId xmlns:a16="http://schemas.microsoft.com/office/drawing/2014/main" id="{FB1696C9-D033-46D9-83DA-023A115408C6}"/>
              </a:ext>
            </a:extLst>
          </p:cNvPr>
          <p:cNvSpPr>
            <a:spLocks xmlns:a="http://schemas.openxmlformats.org/drawingml/2006/main" noGrp="1"/>
          </p:cNvSpPr>
          <p:nvPr/>
        </p:nvSpPr>
        <p:spPr>
          <a:xfrm xmlns:a="http://schemas.openxmlformats.org/drawingml/2006/main">
            <a:off x="10648950" y="6477000"/>
            <a:ext cx="914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3675E"/>
                </a:solidFill>
                <a:latin typeface="Malgun Gothic"/>
                <a:ea typeface="Malgun Gothic"/>
                <a:cs typeface="Malgun Gothic"/>
              </a:defRPr>
            </a:pPr>
            <a:r>
              <a:rPr sz="900" b="0">
                <a:solidFill>
                  <a:srgbClr val="53675E"/>
                </a:solidFill>
                <a:latin typeface="Malgun Gothic"/>
                <a:ea typeface="Malgun Gothic"/>
                <a:cs typeface="Malgun Gothic"/>
              </a:rPr>
              <a:t>08 / 22</a:t>
            </a:r>
          </a:p>
        </p:txBody>
      </p:sp>
    </p:spTree>
    <p:extLst>
      <p:ext uri="{BB962C8B-B14F-4D97-AF65-F5344CB8AC3E}">
        <p14:creationId xmlns:p14="http://schemas.microsoft.com/office/powerpoint/2010/main" val="13690892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group-panel">
            <a:extLst xmlns:a="http://schemas.openxmlformats.org/drawingml/2006/main">
              <a:ext uri="{FF2B5EF4-FFF2-40B4-BE49-F238E27FC236}">
                <a16:creationId xmlns:a16="http://schemas.microsoft.com/office/drawing/2014/main" id="{B242D85E-DAFD-4286-B259-DC8AD99708DB}"/>
              </a:ext>
            </a:extLst>
          </p:cNvPr>
          <p:cNvSpPr>
            <a:spLocks xmlns:a="http://schemas.openxmlformats.org/drawingml/2006/main" noGrp="1"/>
          </p:cNvSpPr>
          <p:nvPr/>
        </p:nvSpPr>
        <p:spPr>
          <a:xfrm xmlns:a="http://schemas.openxmlformats.org/drawingml/2006/main">
            <a:off x="8724900" y="1924050"/>
            <a:ext cx="3009900" cy="3943350"/>
          </a:xfrm>
          <a:prstGeom xmlns:a="http://schemas.openxmlformats.org/drawingml/2006/main" prst="rect">
            <a:avLst/>
          </a:prstGeom>
          <a:solidFill xmlns:a="http://schemas.openxmlformats.org/drawingml/2006/main">
            <a:srgbClr val="F0F6F2"/>
          </a:solidFill>
          <a:ln xmlns:a="http://schemas.openxmlformats.org/drawingml/2006/main" w="9525">
            <a:solidFill>
              <a:srgbClr val="C9DDD1"/>
            </a:solidFill>
          </a:ln>
        </p:spPr>
      </p:sp>
      <p:sp>
        <p:nvSpPr>
          <p:cNvPr id="5" name="theme-top-band">
            <a:extLst xmlns:a="http://schemas.openxmlformats.org/drawingml/2006/main">
              <a:ext uri="{FF2B5EF4-FFF2-40B4-BE49-F238E27FC236}">
                <a16:creationId xmlns:a16="http://schemas.microsoft.com/office/drawing/2014/main" id="{4DDAFA3B-B248-4857-9212-4AB19091D4EF}"/>
              </a:ext>
            </a:extLst>
          </p:cNvPr>
          <p:cNvSpPr>
            <a:spLocks xmlns:a="http://schemas.openxmlformats.org/drawingml/2006/main" noGrp="1"/>
          </p:cNvSpPr>
          <p:nvPr/>
        </p:nvSpPr>
        <p:spPr>
          <a:xfrm xmlns:a="http://schemas.openxmlformats.org/drawingml/2006/main">
            <a:off x="0" y="0"/>
            <a:ext cx="12192000" cy="200025"/>
          </a:xfrm>
          <a:custGeom xmlns:a="http://schemas.openxmlformats.org/drawingml/2006/main">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xmlns:a="http://schemas.openxmlformats.org/drawingml/2006/main">
            <a:srgbClr val="0C493A"/>
          </a:solidFill>
          <a:ln xmlns:a="http://schemas.openxmlformats.org/drawingml/2006/main" w="0">
            <a:noFill/>
          </a:ln>
        </p:spPr>
      </p:sp>
      <p:sp>
        <p:nvSpPr>
          <p:cNvPr id="6" name="theme-bottom-band">
            <a:extLst xmlns:a="http://schemas.openxmlformats.org/drawingml/2006/main">
              <a:ext uri="{FF2B5EF4-FFF2-40B4-BE49-F238E27FC236}">
                <a16:creationId xmlns:a16="http://schemas.microsoft.com/office/drawing/2014/main" id="{B7C567E3-83F7-425C-96FF-24DAC2B9F36F}"/>
              </a:ext>
            </a:extLst>
          </p:cNvPr>
          <p:cNvSpPr>
            <a:spLocks xmlns:a="http://schemas.openxmlformats.org/drawingml/2006/main" noGrp="1"/>
          </p:cNvSpPr>
          <p:nvPr/>
        </p:nvSpPr>
        <p:spPr>
          <a:xfrm xmlns:a="http://schemas.openxmlformats.org/drawingml/2006/main">
            <a:off x="0" y="6657975"/>
            <a:ext cx="12192000" cy="200025"/>
          </a:xfrm>
          <a:custGeom xmlns:a="http://schemas.openxmlformats.org/drawingml/2006/main">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xmlns:a="http://schemas.openxmlformats.org/drawingml/2006/main">
            <a:srgbClr val="0C493A"/>
          </a:solidFill>
          <a:ln xmlns:a="http://schemas.openxmlformats.org/drawingml/2006/main" w="0">
            <a:noFill/>
          </a:ln>
        </p:spPr>
      </p:sp>
      <p:sp>
        <p:nvSpPr>
          <p:cNvPr id="12" name="직사각형 36">
            <a:extLst xmlns:a="http://schemas.openxmlformats.org/drawingml/2006/main">
              <a:ext uri="{FF2B5EF4-FFF2-40B4-BE49-F238E27FC236}">
                <a16:creationId xmlns:a16="http://schemas.microsoft.com/office/drawing/2014/main" id="{4B2D9E24-1D13-4361-ABD0-C4F91B718A45}"/>
              </a:ext>
            </a:extLst>
          </p:cNvPr>
          <p:cNvSpPr>
            <a:spLocks xmlns:a="http://schemas.openxmlformats.org/drawingml/2006/main" noGrp="1"/>
          </p:cNvSpPr>
          <p:nvPr/>
        </p:nvSpPr>
        <p:spPr>
          <a:xfrm xmlns:a="http://schemas.openxmlformats.org/drawingml/2006/main">
            <a:off x="609600" y="5991225"/>
            <a:ext cx="10972800" cy="466725"/>
          </a:xfrm>
          <a:prstGeom xmlns:a="http://schemas.openxmlformats.org/drawingml/2006/main" prst="rect">
            <a:avLst/>
          </a:prstGeom>
          <a:solidFill xmlns:a="http://schemas.openxmlformats.org/drawingml/2006/main">
            <a:srgbClr val="0C493A"/>
          </a:solidFill>
          <a:ln xmlns:a="http://schemas.openxmlformats.org/drawingml/2006/main" w="0">
            <a:noFill/>
          </a:ln>
        </p:spPr>
      </p:sp>
      <p:sp>
        <p:nvSpPr>
          <p:cNvPr id="13" name="03  지역별 분석 결과">
            <a:extLst xmlns:a="http://schemas.openxmlformats.org/drawingml/2006/main">
              <a:ext uri="{FF2B5EF4-FFF2-40B4-BE49-F238E27FC236}">
                <a16:creationId xmlns:a16="http://schemas.microsoft.com/office/drawing/2014/main" id="{9A8B4DC1-708E-4FDB-91B4-0E05CE1643CD}"/>
              </a:ext>
            </a:extLst>
          </p:cNvPr>
          <p:cNvSpPr>
            <a:spLocks xmlns:a="http://schemas.openxmlformats.org/drawingml/2006/main" noGrp="1"/>
          </p:cNvSpPr>
          <p:nvPr/>
        </p:nvSpPr>
        <p:spPr>
          <a:xfrm xmlns:a="http://schemas.openxmlformats.org/drawingml/2006/main">
            <a:off x="609600" y="323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0C493A"/>
                </a:solidFill>
                <a:latin typeface="Malgun Gothic"/>
                <a:ea typeface="Malgun Gothic"/>
                <a:cs typeface="Malgun Gothic"/>
              </a:defRPr>
            </a:pPr>
            <a:r>
              <a:rPr sz="2850" b="1">
                <a:solidFill>
                  <a:srgbClr val="0C493A"/>
                </a:solidFill>
                <a:latin typeface="Malgun Gothic"/>
                <a:ea typeface="Malgun Gothic"/>
                <a:cs typeface="Malgun Gothic"/>
              </a:rPr>
              <a:t>03  지역별 분석 결과</a:t>
            </a:r>
          </a:p>
        </p:txBody>
      </p:sp>
      <p:sp>
        <p:nvSpPr>
          <p:cNvPr id="14" name="질병 구성비 차이: 다대 +2.76%p · 금곡 +4.67">
            <a:extLst xmlns:a="http://schemas.openxmlformats.org/drawingml/2006/main">
              <a:ext uri="{FF2B5EF4-FFF2-40B4-BE49-F238E27FC236}">
                <a16:creationId xmlns:a16="http://schemas.microsoft.com/office/drawing/2014/main" id="{D4FB9981-86BA-4EFF-A6EB-74E0127735C5}"/>
              </a:ext>
            </a:extLst>
          </p:cNvPr>
          <p:cNvSpPr>
            <a:spLocks xmlns:a="http://schemas.openxmlformats.org/drawingml/2006/main" noGrp="1"/>
          </p:cNvSpPr>
          <p:nvPr/>
        </p:nvSpPr>
        <p:spPr>
          <a:xfrm xmlns:a="http://schemas.openxmlformats.org/drawingml/2006/main">
            <a:off x="609600" y="952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52D"/>
                </a:solidFill>
                <a:latin typeface="Malgun Gothic"/>
                <a:ea typeface="Malgun Gothic"/>
                <a:cs typeface="Malgun Gothic"/>
              </a:defRPr>
            </a:pPr>
            <a:r>
              <a:rPr sz="2025" b="1">
                <a:solidFill>
                  <a:srgbClr val="20352D"/>
                </a:solidFill>
                <a:latin typeface="Malgun Gothic"/>
                <a:ea typeface="Malgun Gothic"/>
                <a:cs typeface="Malgun Gothic"/>
              </a:rPr>
              <a:t>질병 구성비 차이: 다대 +2.76%p · 금곡 +4.67%p</a:t>
            </a:r>
          </a:p>
        </p:txBody>
      </p:sp>
      <p:sp>
        <p:nvSpPr>
          <p:cNvPr id="15" name="부산 전체 기준과 해당 동을 제외한 부산 기준을 함께 표시">
            <a:extLst xmlns:a="http://schemas.openxmlformats.org/drawingml/2006/main">
              <a:ext uri="{FF2B5EF4-FFF2-40B4-BE49-F238E27FC236}">
                <a16:creationId xmlns:a16="http://schemas.microsoft.com/office/drawing/2014/main" id="{786676E5-C855-4778-8202-F75AB9DAC48B}"/>
              </a:ext>
            </a:extLst>
          </p:cNvPr>
          <p:cNvSpPr>
            <a:spLocks xmlns:a="http://schemas.openxmlformats.org/drawingml/2006/main" noGrp="1"/>
          </p:cNvSpPr>
          <p:nvPr/>
        </p:nvSpPr>
        <p:spPr>
          <a:xfrm xmlns:a="http://schemas.openxmlformats.org/drawingml/2006/main">
            <a:off x="609600" y="14001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부산 전체 기준과 해당 동을 제외한 부산 기준을 함께 표시</a:t>
            </a:r>
          </a:p>
        </p:txBody>
      </p:sp>
      <p:graphicFrame>
        <p:nvGraphicFramePr>
          <p:cNvPr id="30" name="Chart"/>
          <p:cNvGraphicFramePr/>
          <p:nvPr/>
        </p:nvGraphicFramePr>
        <p:xfrm>
          <a:off xmlns:a="http://schemas.openxmlformats.org/drawingml/2006/main" x="609600" y="2000250"/>
          <a:ext xmlns:a="http://schemas.openxmlformats.org/drawingml/2006/main" cx="7858125" cy="3762375"/>
        </p:xfrm>
        <a:graphic xmlns:a="http://schemas.openxmlformats.org/drawingml/2006/main">
          <a:graphicData uri="http://schemas.openxmlformats.org/drawingml/2006/chart">
            <c:chart xmlns:r="http://schemas.openxmlformats.org/officeDocument/2006/relationships" xmlns:c="http://schemas.openxmlformats.org/drawingml/2006/chart" r:id="Ra87c75fa23004010"/>
          </a:graphicData>
        </a:graphic>
      </p:graphicFrame>
      <p:sp>
        <p:nvSpPr>
          <p:cNvPr id="17" name="부산 전체 34.31%">
            <a:extLst xmlns:a="http://schemas.openxmlformats.org/drawingml/2006/main">
              <a:ext uri="{FF2B5EF4-FFF2-40B4-BE49-F238E27FC236}">
                <a16:creationId xmlns:a16="http://schemas.microsoft.com/office/drawing/2014/main" id="{960235C4-5F20-4FF1-A84B-9AB1BDDF5CD0}"/>
              </a:ext>
            </a:extLst>
          </p:cNvPr>
          <p:cNvSpPr>
            <a:spLocks xmlns:a="http://schemas.openxmlformats.org/drawingml/2006/main" noGrp="1"/>
          </p:cNvSpPr>
          <p:nvPr/>
        </p:nvSpPr>
        <p:spPr>
          <a:xfrm xmlns:a="http://schemas.openxmlformats.org/drawingml/2006/main">
            <a:off x="8858250" y="2133600"/>
            <a:ext cx="2809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0C493A"/>
                </a:solidFill>
                <a:latin typeface="Malgun Gothic"/>
                <a:ea typeface="Malgun Gothic"/>
                <a:cs typeface="Malgun Gothic"/>
              </a:defRPr>
            </a:pPr>
            <a:r>
              <a:rPr sz="2175" b="0">
                <a:solidFill>
                  <a:srgbClr val="0C493A"/>
                </a:solidFill>
                <a:latin typeface="Malgun Gothic"/>
                <a:ea typeface="Malgun Gothic"/>
                <a:cs typeface="Malgun Gothic"/>
              </a:rPr>
              <a:t>부산 전체 34.31%</a:t>
            </a:r>
          </a:p>
        </p:txBody>
      </p:sp>
      <p:sp>
        <p:nvSpPr>
          <p:cNvPr id="18" name="다대동과 금곡동 모두&#10;질병 구성비가 상대적으로&#10;높게 나타난">
            <a:extLst xmlns:a="http://schemas.openxmlformats.org/drawingml/2006/main">
              <a:ext uri="{FF2B5EF4-FFF2-40B4-BE49-F238E27FC236}">
                <a16:creationId xmlns:a16="http://schemas.microsoft.com/office/drawing/2014/main" id="{D6E13E1A-7D50-481E-B2DA-844F28299F95}"/>
              </a:ext>
            </a:extLst>
          </p:cNvPr>
          <p:cNvSpPr>
            <a:spLocks xmlns:a="http://schemas.openxmlformats.org/drawingml/2006/main" noGrp="1"/>
          </p:cNvSpPr>
          <p:nvPr/>
        </p:nvSpPr>
        <p:spPr>
          <a:xfrm xmlns:a="http://schemas.openxmlformats.org/drawingml/2006/main">
            <a:off x="8858250" y="3000375"/>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20352D"/>
                </a:solidFill>
                <a:latin typeface="Malgun Gothic"/>
                <a:ea typeface="Malgun Gothic"/>
                <a:cs typeface="Malgun Gothic"/>
              </a:defRPr>
            </a:pPr>
            <a:r>
              <a:rPr sz="1875" b="0">
                <a:solidFill>
                  <a:srgbClr val="20352D"/>
                </a:solidFill>
                <a:latin typeface="Malgun Gothic"/>
                <a:ea typeface="Malgun Gothic"/>
                <a:cs typeface="Malgun Gothic"/>
              </a:rPr>
              <a:t>다대동과 금곡동 모두</a:t>
            </a:r>
          </a:p>
          <a:p xmlns:a="http://schemas.openxmlformats.org/drawingml/2006/main">
            <a:pPr algn="l">
              <a:defRPr sz="1875" b="0">
                <a:solidFill>
                  <a:srgbClr val="20352D"/>
                </a:solidFill>
                <a:latin typeface="Malgun Gothic"/>
                <a:ea typeface="Malgun Gothic"/>
                <a:cs typeface="Malgun Gothic"/>
              </a:defRPr>
            </a:pPr>
            <a:r>
              <a:rPr sz="1875" b="0">
                <a:solidFill>
                  <a:srgbClr val="20352D"/>
                </a:solidFill>
                <a:latin typeface="Malgun Gothic"/>
                <a:ea typeface="Malgun Gothic"/>
                <a:cs typeface="Malgun Gothic"/>
              </a:rPr>
              <a:t>질병 구성비가 상대적으로</a:t>
            </a:r>
          </a:p>
          <a:p xmlns:a="http://schemas.openxmlformats.org/drawingml/2006/main">
            <a:pPr algn="l">
              <a:defRPr sz="1875" b="0">
                <a:solidFill>
                  <a:srgbClr val="20352D"/>
                </a:solidFill>
                <a:latin typeface="Malgun Gothic"/>
                <a:ea typeface="Malgun Gothic"/>
                <a:cs typeface="Malgun Gothic"/>
              </a:defRPr>
            </a:pPr>
            <a:r>
              <a:rPr sz="1875" b="0">
                <a:solidFill>
                  <a:srgbClr val="20352D"/>
                </a:solidFill>
                <a:latin typeface="Malgun Gothic"/>
                <a:ea typeface="Malgun Gothic"/>
                <a:cs typeface="Malgun Gothic"/>
              </a:rPr>
              <a:t>높게 나타난 사례</a:t>
            </a:r>
          </a:p>
        </p:txBody>
      </p:sp>
      <p:sp>
        <p:nvSpPr>
          <p:cNvPr id="19" name="이 차이만으로&#10;질병 발생 위험이나&#10;건강교육 부족을 입증 불">
            <a:extLst xmlns:a="http://schemas.openxmlformats.org/drawingml/2006/main">
              <a:ext uri="{FF2B5EF4-FFF2-40B4-BE49-F238E27FC236}">
                <a16:creationId xmlns:a16="http://schemas.microsoft.com/office/drawing/2014/main" id="{88510948-BBFF-4559-B388-B52F6B76D725}"/>
              </a:ext>
            </a:extLst>
          </p:cNvPr>
          <p:cNvSpPr>
            <a:spLocks xmlns:a="http://schemas.openxmlformats.org/drawingml/2006/main" noGrp="1"/>
          </p:cNvSpPr>
          <p:nvPr/>
        </p:nvSpPr>
        <p:spPr>
          <a:xfrm xmlns:a="http://schemas.openxmlformats.org/drawingml/2006/main">
            <a:off x="8858250" y="4495800"/>
            <a:ext cx="2714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이 차이만으로</a:t>
            </a:r>
          </a:p>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질병 발생 위험이나</a:t>
            </a:r>
          </a:p>
          <a:p xmlns:a="http://schemas.openxmlformats.org/drawingml/2006/main">
            <a:pPr algn="l">
              <a:defRPr sz="1650" b="0">
                <a:solidFill>
                  <a:srgbClr val="53675E"/>
                </a:solidFill>
                <a:latin typeface="Malgun Gothic"/>
                <a:ea typeface="Malgun Gothic"/>
                <a:cs typeface="Malgun Gothic"/>
              </a:defRPr>
            </a:pPr>
            <a:r>
              <a:rPr sz="1650" b="0">
                <a:solidFill>
                  <a:srgbClr val="53675E"/>
                </a:solidFill>
                <a:latin typeface="Malgun Gothic"/>
                <a:ea typeface="Malgun Gothic"/>
                <a:cs typeface="Malgun Gothic"/>
              </a:rPr>
              <a:t>건강교육 부족을 입증 불가</a:t>
            </a:r>
          </a:p>
        </p:txBody>
      </p:sp>
      <p:sp>
        <p:nvSpPr>
          <p:cNvPr id="20" name="기간·공간 단위·분모가 일치하는 범위에서 개선 판단에 활용">
            <a:extLst xmlns:a="http://schemas.openxmlformats.org/drawingml/2006/main">
              <a:ext uri="{FF2B5EF4-FFF2-40B4-BE49-F238E27FC236}">
                <a16:creationId xmlns:a16="http://schemas.microsoft.com/office/drawing/2014/main" id="{1228E3C2-F3D1-418E-B95D-C8DE8C62A933}"/>
              </a:ext>
            </a:extLst>
          </p:cNvPr>
          <p:cNvSpPr>
            <a:spLocks xmlns:a="http://schemas.openxmlformats.org/drawingml/2006/main" noGrp="1"/>
          </p:cNvSpPr>
          <p:nvPr/>
        </p:nvSpPr>
        <p:spPr>
          <a:xfrm xmlns:a="http://schemas.openxmlformats.org/drawingml/2006/main">
            <a:off x="733425" y="6048375"/>
            <a:ext cx="1072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기간·공간 단위·분모가 일치하는 범위에서 개선 판단에 활용</a:t>
            </a:r>
          </a:p>
        </p:txBody>
      </p:sp>
      <p:sp>
        <p:nvSpPr>
          <p:cNvPr id="22" name="09 / 22">
            <a:extLst xmlns:a="http://schemas.openxmlformats.org/drawingml/2006/main">
              <a:ext uri="{FF2B5EF4-FFF2-40B4-BE49-F238E27FC236}">
                <a16:creationId xmlns:a16="http://schemas.microsoft.com/office/drawing/2014/main" id="{A989DA7E-19A3-4FAE-B06A-2099878BADCD}"/>
              </a:ext>
            </a:extLst>
          </p:cNvPr>
          <p:cNvSpPr>
            <a:spLocks xmlns:a="http://schemas.openxmlformats.org/drawingml/2006/main" noGrp="1"/>
          </p:cNvSpPr>
          <p:nvPr/>
        </p:nvSpPr>
        <p:spPr>
          <a:xfrm xmlns:a="http://schemas.openxmlformats.org/drawingml/2006/main">
            <a:off x="10648950" y="6477000"/>
            <a:ext cx="914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3675E"/>
                </a:solidFill>
                <a:latin typeface="Malgun Gothic"/>
                <a:ea typeface="Malgun Gothic"/>
                <a:cs typeface="Malgun Gothic"/>
              </a:defRPr>
            </a:pPr>
            <a:r>
              <a:rPr sz="900" b="0">
                <a:solidFill>
                  <a:srgbClr val="53675E"/>
                </a:solidFill>
                <a:latin typeface="Malgun Gothic"/>
                <a:ea typeface="Malgun Gothic"/>
                <a:cs typeface="Malgun Gothic"/>
              </a:rPr>
              <a:t>09 / 22</a:t>
            </a:r>
          </a:p>
        </p:txBody>
      </p:sp>
    </p:spTree>
    <p:extLst>
      <p:ext uri="{BB962C8B-B14F-4D97-AF65-F5344CB8AC3E}">
        <p14:creationId xmlns:p14="http://schemas.microsoft.com/office/powerpoint/2010/main" val="1369089232"/>
      </p:ext>
    </p:extLst>
  </p:cSld>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3" name="group-panel"/>
          <p:cNvSpPr>
            <a:spLocks noGrp="1"/>
          </p:cNvSpPr>
          <p:nvPr/>
        </p:nvSpPr>
        <p:spPr>
          <a:xfrm>
            <a:off x="8724900" y="1924050"/>
            <a:ext cx="3009900" cy="3943350"/>
          </a:xfrm>
          <a:prstGeom prst="rect">
            <a:avLst/>
          </a:prstGeom>
          <a:solidFill>
            <a:srgbClr val="f0f6f2"/>
          </a:solidFill>
          <a:ln w="9525">
            <a:solidFill>
              <a:srgbClr val="c9ddd1"/>
            </a:solidFill>
          </a:ln>
        </p:spPr>
        <p:txBody>
          <a:bodyPr anchor="ctr"/>
          <a:p>
            <a:pPr algn="ctr">
              <a:defRPr/>
            </a:pPr>
            <a:endParaRPr lang="ko-KR" altLang="en-US"/>
          </a:p>
        </p:txBody>
      </p:sp>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3  지역별 분석 결과"/>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03  지역별 분석 결과</a:t>
            </a:r>
            <a:endParaRPr sz="2850" b="1">
              <a:solidFill>
                <a:srgbClr val="0c493a"/>
              </a:solidFill>
              <a:latin typeface="맑은 고딕"/>
              <a:ea typeface="맑은 고딕"/>
              <a:cs typeface="맑은 고딕"/>
            </a:endParaRPr>
          </a:p>
        </p:txBody>
      </p:sp>
      <p:sp>
        <p:nvSpPr>
          <p:cNvPr id="14" name="지역·유형별 신고 시간대 차이"/>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지역·유형별 신고 시간대 차이</a:t>
            </a:r>
            <a:endParaRPr sz="2025" b="1">
              <a:solidFill>
                <a:srgbClr val="20352d"/>
              </a:solidFill>
              <a:latin typeface="맑은 고딕"/>
              <a:ea typeface="맑은 고딕"/>
              <a:cs typeface="맑은 고딕"/>
            </a:endParaRPr>
          </a:p>
        </p:txBody>
      </p:sp>
      <p:sp>
        <p:nvSpPr>
          <p:cNvPr id="15" name="지역·유형별 접수 중 해당 시간 구간의 비중"/>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지역·유형별 접수 중 해당 시간 구간의 비중</a:t>
            </a:r>
            <a:endParaRPr sz="1500" b="0">
              <a:solidFill>
                <a:srgbClr val="53675e"/>
              </a:solidFill>
              <a:latin typeface="맑은 고딕"/>
              <a:ea typeface="맑은 고딕"/>
              <a:cs typeface="맑은 고딕"/>
            </a:endParaRPr>
          </a:p>
        </p:txBody>
      </p:sp>
      <p:graphicFrame>
        <p:nvGraphicFramePr>
          <p:cNvPr id="32" name="Chart"/>
          <p:cNvGraphicFramePr/>
          <p:nvPr/>
        </p:nvGraphicFramePr>
        <p:xfrm>
          <a:off x="609600" y="2000250"/>
          <a:ext cx="7905750" cy="3762375"/>
        </p:xfrm>
        <a:graphic>
          <a:graphicData uri="http://schemas.openxmlformats.org/drawingml/2006/chart">
            <c:chart r:id="rId3"/>
          </a:graphicData>
        </a:graphic>
      </p:graphicFrame>
      <p:sp>
        <p:nvSpPr>
          <p:cNvPr id="17" name="08~12시"/>
          <p:cNvSpPr>
            <a:spLocks noGrp="1"/>
          </p:cNvSpPr>
          <p:nvPr/>
        </p:nvSpPr>
        <p:spPr>
          <a:xfrm>
            <a:off x="8858250" y="2076450"/>
            <a:ext cx="2762250" cy="590550"/>
          </a:xfrm>
          <a:prstGeom prst="rect">
            <a:avLst/>
          </a:prstGeom>
          <a:noFill/>
          <a:ln w="0">
            <a:noFill/>
          </a:ln>
        </p:spPr>
        <p:txBody>
          <a:bodyPr anchor="ctr">
            <a:noAutofit/>
          </a:bodyPr>
          <a:lstStyle/>
          <a:p>
            <a:pPr algn="l">
              <a:defRPr sz="3000" b="0">
                <a:solidFill>
                  <a:srgbClr val="0c493a"/>
                </a:solidFill>
                <a:latin typeface="맑은 고딕"/>
                <a:ea typeface="맑은 고딕"/>
                <a:cs typeface="맑은 고딕"/>
              </a:defRPr>
            </a:pPr>
            <a:r>
              <a:rPr sz="3000" b="0">
                <a:solidFill>
                  <a:srgbClr val="0c493a"/>
                </a:solidFill>
                <a:latin typeface="맑은 고딕"/>
                <a:ea typeface="맑은 고딕"/>
                <a:cs typeface="맑은 고딕"/>
              </a:rPr>
              <a:t>08~12시</a:t>
            </a:r>
            <a:endParaRPr sz="3000" b="0">
              <a:solidFill>
                <a:srgbClr val="0c493a"/>
              </a:solidFill>
              <a:latin typeface="맑은 고딕"/>
              <a:ea typeface="맑은 고딕"/>
              <a:cs typeface="맑은 고딕"/>
            </a:endParaRPr>
          </a:p>
        </p:txBody>
      </p:sp>
      <p:sp>
        <p:nvSpPr>
          <p:cNvPr id="18" name="다대·금곡 질병 접수 최다"/>
          <p:cNvSpPr>
            <a:spLocks noGrp="1"/>
          </p:cNvSpPr>
          <p:nvPr/>
        </p:nvSpPr>
        <p:spPr>
          <a:xfrm>
            <a:off x="8858250" y="2705100"/>
            <a:ext cx="2762250" cy="590550"/>
          </a:xfrm>
          <a:prstGeom prst="rect">
            <a:avLst/>
          </a:prstGeom>
          <a:noFill/>
          <a:ln w="0">
            <a:noFill/>
          </a:ln>
        </p:spPr>
        <p:txBody>
          <a:bodyPr anchor="ctr">
            <a:noAutofit/>
          </a:bodyPr>
          <a:lstStyle/>
          <a:p>
            <a:pPr algn="l">
              <a:defRPr sz="1875" b="0">
                <a:solidFill>
                  <a:srgbClr val="20352d"/>
                </a:solidFill>
                <a:latin typeface="맑은 고딕"/>
                <a:ea typeface="맑은 고딕"/>
                <a:cs typeface="맑은 고딕"/>
              </a:defRPr>
            </a:pPr>
            <a:r>
              <a:rPr sz="1875" b="0">
                <a:solidFill>
                  <a:srgbClr val="20352d"/>
                </a:solidFill>
                <a:latin typeface="맑은 고딕"/>
                <a:ea typeface="맑은 고딕"/>
                <a:cs typeface="맑은 고딕"/>
              </a:rPr>
              <a:t>다대·금곡 질병 접수 최다</a:t>
            </a:r>
            <a:endParaRPr sz="1875" b="0">
              <a:solidFill>
                <a:srgbClr val="20352d"/>
              </a:solidFill>
              <a:latin typeface="맑은 고딕"/>
              <a:ea typeface="맑은 고딕"/>
              <a:cs typeface="맑은 고딕"/>
            </a:endParaRPr>
          </a:p>
        </p:txBody>
      </p:sp>
      <p:sp>
        <p:nvSpPr>
          <p:cNvPr id="19" name="20~24시"/>
          <p:cNvSpPr>
            <a:spLocks noGrp="1"/>
          </p:cNvSpPr>
          <p:nvPr/>
        </p:nvSpPr>
        <p:spPr>
          <a:xfrm>
            <a:off x="8858250" y="3609975"/>
            <a:ext cx="2762250" cy="590550"/>
          </a:xfrm>
          <a:prstGeom prst="rect">
            <a:avLst/>
          </a:prstGeom>
          <a:noFill/>
          <a:ln w="0">
            <a:noFill/>
          </a:ln>
        </p:spPr>
        <p:txBody>
          <a:bodyPr anchor="ctr">
            <a:noAutofit/>
          </a:bodyPr>
          <a:lstStyle/>
          <a:p>
            <a:pPr algn="l">
              <a:defRPr sz="3000" b="0">
                <a:solidFill>
                  <a:srgbClr val="b0803b"/>
                </a:solidFill>
                <a:latin typeface="맑은 고딕"/>
                <a:ea typeface="맑은 고딕"/>
                <a:cs typeface="맑은 고딕"/>
              </a:defRPr>
            </a:pPr>
            <a:r>
              <a:rPr sz="3000" b="0">
                <a:solidFill>
                  <a:srgbClr val="b0803b"/>
                </a:solidFill>
                <a:latin typeface="맑은 고딕"/>
                <a:ea typeface="맑은 고딕"/>
                <a:cs typeface="맑은 고딕"/>
              </a:rPr>
              <a:t>20~24시</a:t>
            </a:r>
            <a:endParaRPr sz="3000" b="0">
              <a:solidFill>
                <a:srgbClr val="b0803b"/>
              </a:solidFill>
              <a:latin typeface="맑은 고딕"/>
              <a:ea typeface="맑은 고딕"/>
              <a:cs typeface="맑은 고딕"/>
            </a:endParaRPr>
          </a:p>
        </p:txBody>
      </p:sp>
      <p:sp>
        <p:nvSpPr>
          <p:cNvPr id="20" name="부전동 질병외 접수 최다"/>
          <p:cNvSpPr>
            <a:spLocks noGrp="1"/>
          </p:cNvSpPr>
          <p:nvPr/>
        </p:nvSpPr>
        <p:spPr>
          <a:xfrm>
            <a:off x="8858250" y="4238625"/>
            <a:ext cx="2762250" cy="590550"/>
          </a:xfrm>
          <a:prstGeom prst="rect">
            <a:avLst/>
          </a:prstGeom>
          <a:noFill/>
          <a:ln w="0">
            <a:noFill/>
          </a:ln>
        </p:spPr>
        <p:txBody>
          <a:bodyPr anchor="ctr">
            <a:noAutofit/>
          </a:bodyPr>
          <a:lstStyle/>
          <a:p>
            <a:pPr algn="l">
              <a:defRPr sz="1875" b="0">
                <a:solidFill>
                  <a:srgbClr val="20352d"/>
                </a:solidFill>
                <a:latin typeface="맑은 고딕"/>
                <a:ea typeface="맑은 고딕"/>
                <a:cs typeface="맑은 고딕"/>
              </a:defRPr>
            </a:pPr>
            <a:r>
              <a:rPr sz="1875" b="0">
                <a:solidFill>
                  <a:srgbClr val="20352d"/>
                </a:solidFill>
                <a:latin typeface="맑은 고딕"/>
                <a:ea typeface="맑은 고딕"/>
                <a:cs typeface="맑은 고딕"/>
              </a:rPr>
              <a:t>부전동 질병외 접수 최다</a:t>
            </a:r>
            <a:endParaRPr sz="1875" b="0">
              <a:solidFill>
                <a:srgbClr val="20352d"/>
              </a:solidFill>
              <a:latin typeface="맑은 고딕"/>
              <a:ea typeface="맑은 고딕"/>
              <a:cs typeface="맑은 고딕"/>
            </a:endParaRPr>
          </a:p>
        </p:txBody>
      </p:sp>
      <p:sp>
        <p:nvSpPr>
          <p:cNvPr id="21" name="교육 시간은 참여 가능 시간과 운영 여건을 함께 확인"/>
          <p:cNvSpPr>
            <a:spLocks noGrp="1"/>
          </p:cNvSpPr>
          <p:nvPr/>
        </p:nvSpPr>
        <p:spPr>
          <a:xfrm>
            <a:off x="8858250" y="5010150"/>
            <a:ext cx="2762250" cy="742950"/>
          </a:xfrm>
          <a:prstGeom prst="rect">
            <a:avLst/>
          </a:prstGeom>
          <a:noFill/>
          <a:ln w="0">
            <a:noFill/>
          </a:ln>
        </p:spPr>
        <p:txBody>
          <a:bodyPr anchor="ctr">
            <a:noAutofit/>
          </a:bodyPr>
          <a:lstStyle/>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교육 시간은 참여 가능 시간과</a:t>
            </a:r>
            <a:endParaRPr sz="1575" b="0">
              <a:solidFill>
                <a:srgbClr val="53675e"/>
              </a:solidFill>
              <a:latin typeface="맑은 고딕"/>
              <a:ea typeface="맑은 고딕"/>
              <a:cs typeface="맑은 고딕"/>
            </a:endParaRPr>
          </a:p>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운영 여건을 함께 확인</a:t>
            </a:r>
            <a:endParaRPr sz="1575" b="0">
              <a:solidFill>
                <a:srgbClr val="53675e"/>
              </a:solidFill>
              <a:latin typeface="맑은 고딕"/>
              <a:ea typeface="맑은 고딕"/>
              <a:cs typeface="맑은 고딕"/>
            </a:endParaRPr>
          </a:p>
        </p:txBody>
      </p:sp>
      <p:sp>
        <p:nvSpPr>
          <p:cNvPr id="22" name="구간의 끝 시각은 미포함. 시간대는 접수시각이며 활동의 원"/>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다대·금곡의 질병 신고는 08~12시, 부전의 질병외 신고는 20~24시에 가장 많이 접수됨</a:t>
            </a:r>
            <a:endParaRPr lang="ko-KR" altLang="en-US" sz="1275" b="1">
              <a:solidFill>
                <a:srgbClr val="ffffff"/>
              </a:solidFill>
              <a:latin typeface="맑은 고딕"/>
              <a:ea typeface="맑은 고딕"/>
              <a:cs typeface="맑은 고딕"/>
            </a:endParaRPr>
          </a:p>
        </p:txBody>
      </p:sp>
      <p:sp>
        <p:nvSpPr>
          <p:cNvPr id="24" name="10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10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1" name="group-panel"/>
          <p:cNvSpPr>
            <a:spLocks noGrp="1"/>
          </p:cNvSpPr>
          <p:nvPr/>
        </p:nvSpPr>
        <p:spPr>
          <a:xfrm>
            <a:off x="8724900" y="1924050"/>
            <a:ext cx="3009900" cy="3943350"/>
          </a:xfrm>
          <a:prstGeom prst="rect">
            <a:avLst/>
          </a:prstGeom>
          <a:solidFill>
            <a:srgbClr val="f0f6f2"/>
          </a:solidFill>
          <a:ln w="9525">
            <a:solidFill>
              <a:srgbClr val="c9ddd1"/>
            </a:solidFill>
          </a:ln>
        </p:spPr>
        <p:txBody>
          <a:bodyPr anchor="ctr"/>
          <a:p>
            <a:pPr algn="ctr">
              <a:defRPr/>
            </a:pPr>
            <a:endParaRPr lang="ko-KR" altLang="en-US"/>
          </a:p>
        </p:txBody>
      </p:sp>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3  지역별 분석 결과"/>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03  지역별 분석 결과</a:t>
            </a:r>
            <a:endParaRPr sz="2850" b="1">
              <a:solidFill>
                <a:srgbClr val="0c493a"/>
              </a:solidFill>
              <a:latin typeface="맑은 고딕"/>
              <a:ea typeface="맑은 고딕"/>
              <a:cs typeface="맑은 고딕"/>
            </a:endParaRPr>
          </a:p>
        </p:txBody>
      </p:sp>
      <p:sp>
        <p:nvSpPr>
          <p:cNvPr id="14" name="주민 연령은 안내 방식을 검토하는 배경"/>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주민 연령은 안내 방식을 검토하는 배경</a:t>
            </a:r>
            <a:endParaRPr sz="2025" b="1">
              <a:solidFill>
                <a:srgbClr val="20352d"/>
              </a:solidFill>
              <a:latin typeface="맑은 고딕"/>
              <a:ea typeface="맑은 고딕"/>
              <a:cs typeface="맑은 고딕"/>
            </a:endParaRPr>
          </a:p>
        </p:txBody>
      </p:sp>
      <p:sp>
        <p:nvSpPr>
          <p:cNvPr id="15" name="2024년 12월 말 주민등록인구 기준, 신고 대상자의 나"/>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2024년 12월 말 주민등록인구 기준, 신고 대상자의 나이와 구분</a:t>
            </a:r>
            <a:endParaRPr sz="1500" b="0">
              <a:solidFill>
                <a:srgbClr val="53675e"/>
              </a:solidFill>
              <a:latin typeface="맑은 고딕"/>
              <a:ea typeface="맑은 고딕"/>
              <a:cs typeface="맑은 고딕"/>
            </a:endParaRPr>
          </a:p>
        </p:txBody>
      </p:sp>
      <p:graphicFrame>
        <p:nvGraphicFramePr>
          <p:cNvPr id="30" name="Chart"/>
          <p:cNvGraphicFramePr/>
          <p:nvPr/>
        </p:nvGraphicFramePr>
        <p:xfrm>
          <a:off x="609600" y="2000250"/>
          <a:ext cx="7905750" cy="3762375"/>
        </p:xfrm>
        <a:graphic>
          <a:graphicData uri="http://schemas.openxmlformats.org/drawingml/2006/chart">
            <c:chart r:id="rId1"/>
          </a:graphicData>
        </a:graphic>
      </p:graphicFrame>
      <p:sp>
        <p:nvSpPr>
          <p:cNvPr id="17" name="금곡동 29.38%"/>
          <p:cNvSpPr>
            <a:spLocks noGrp="1"/>
          </p:cNvSpPr>
          <p:nvPr/>
        </p:nvSpPr>
        <p:spPr>
          <a:xfrm>
            <a:off x="8858250" y="2095500"/>
            <a:ext cx="2809875" cy="666750"/>
          </a:xfrm>
          <a:prstGeom prst="rect">
            <a:avLst/>
          </a:prstGeom>
          <a:noFill/>
          <a:ln w="0">
            <a:noFill/>
          </a:ln>
        </p:spPr>
        <p:txBody>
          <a:bodyPr anchor="ctr">
            <a:noAutofit/>
          </a:bodyPr>
          <a:lstStyle/>
          <a:p>
            <a:pPr algn="l">
              <a:defRPr sz="2625" b="0">
                <a:solidFill>
                  <a:srgbClr val="0c493a"/>
                </a:solidFill>
                <a:latin typeface="맑은 고딕"/>
                <a:ea typeface="맑은 고딕"/>
                <a:cs typeface="맑은 고딕"/>
              </a:defRPr>
            </a:pPr>
            <a:r>
              <a:rPr sz="2625" b="0">
                <a:solidFill>
                  <a:srgbClr val="0c493a"/>
                </a:solidFill>
                <a:latin typeface="맑은 고딕"/>
                <a:ea typeface="맑은 고딕"/>
                <a:cs typeface="맑은 고딕"/>
              </a:rPr>
              <a:t>금곡동 29.38%</a:t>
            </a:r>
            <a:endParaRPr sz="2625" b="0">
              <a:solidFill>
                <a:srgbClr val="0c493a"/>
              </a:solidFill>
              <a:latin typeface="맑은 고딕"/>
              <a:ea typeface="맑은 고딕"/>
              <a:cs typeface="맑은 고딕"/>
            </a:endParaRPr>
          </a:p>
        </p:txBody>
      </p:sp>
      <p:sp>
        <p:nvSpPr>
          <p:cNvPr id="18" name="65세 이상 10,209명 전체 주민 34,752명"/>
          <p:cNvSpPr>
            <a:spLocks noGrp="1"/>
          </p:cNvSpPr>
          <p:nvPr/>
        </p:nvSpPr>
        <p:spPr>
          <a:xfrm>
            <a:off x="8858250" y="2933700"/>
            <a:ext cx="2809875" cy="952500"/>
          </a:xfrm>
          <a:prstGeom prst="rect">
            <a:avLst/>
          </a:prstGeom>
          <a:noFill/>
          <a:ln w="0">
            <a:noFill/>
          </a:ln>
        </p:spPr>
        <p:txBody>
          <a:bodyPr anchor="ctr">
            <a:noAutofit/>
          </a:bodyPr>
          <a:lstStyle/>
          <a:p>
            <a:pPr algn="l">
              <a:defRPr sz="1950" b="0">
                <a:solidFill>
                  <a:srgbClr val="20352d"/>
                </a:solidFill>
                <a:latin typeface="맑은 고딕"/>
                <a:ea typeface="맑은 고딕"/>
                <a:cs typeface="맑은 고딕"/>
              </a:defRPr>
            </a:pPr>
            <a:r>
              <a:rPr sz="1950" b="0">
                <a:solidFill>
                  <a:srgbClr val="20352d"/>
                </a:solidFill>
                <a:latin typeface="맑은 고딕"/>
                <a:ea typeface="맑은 고딕"/>
                <a:cs typeface="맑은 고딕"/>
              </a:rPr>
              <a:t>65세 이상 10,209명</a:t>
            </a:r>
            <a:endParaRPr sz="1950" b="0">
              <a:solidFill>
                <a:srgbClr val="20352d"/>
              </a:solidFill>
              <a:latin typeface="맑은 고딕"/>
              <a:ea typeface="맑은 고딕"/>
              <a:cs typeface="맑은 고딕"/>
            </a:endParaRPr>
          </a:p>
          <a:p>
            <a:pPr algn="l">
              <a:defRPr sz="1950" b="0">
                <a:solidFill>
                  <a:srgbClr val="20352d"/>
                </a:solidFill>
                <a:latin typeface="맑은 고딕"/>
                <a:ea typeface="맑은 고딕"/>
                <a:cs typeface="맑은 고딕"/>
              </a:defRPr>
            </a:pPr>
            <a:r>
              <a:rPr sz="1950" b="0">
                <a:solidFill>
                  <a:srgbClr val="20352d"/>
                </a:solidFill>
                <a:latin typeface="맑은 고딕"/>
                <a:ea typeface="맑은 고딕"/>
                <a:cs typeface="맑은 고딕"/>
              </a:rPr>
              <a:t>전체 주민 34,752명</a:t>
            </a:r>
            <a:endParaRPr sz="1950" b="0">
              <a:solidFill>
                <a:srgbClr val="20352d"/>
              </a:solidFill>
              <a:latin typeface="맑은 고딕"/>
              <a:ea typeface="맑은 고딕"/>
              <a:cs typeface="맑은 고딕"/>
            </a:endParaRPr>
          </a:p>
        </p:txBody>
      </p:sp>
      <p:sp>
        <p:nvSpPr>
          <p:cNvPr id="19" name="큰 글씨·전화 안내 등의 접근성 검토에 활용  질병 신고자"/>
          <p:cNvSpPr>
            <a:spLocks noGrp="1"/>
          </p:cNvSpPr>
          <p:nvPr/>
        </p:nvSpPr>
        <p:spPr>
          <a:xfrm>
            <a:off x="8858250" y="4114800"/>
            <a:ext cx="2714625" cy="1685925"/>
          </a:xfrm>
          <a:prstGeom prst="rect">
            <a:avLst/>
          </a:prstGeom>
          <a:noFill/>
          <a:ln w="0">
            <a:noFill/>
          </a:ln>
        </p:spPr>
        <p:txBody>
          <a:bodyPr anchor="ctr">
            <a:noAutofit/>
          </a:bodyPr>
          <a:lstStyle/>
          <a:p>
            <a:pPr algn="l">
              <a:defRPr sz="1650" b="0">
                <a:solidFill>
                  <a:srgbClr val="53675e"/>
                </a:solidFill>
                <a:latin typeface="맑은 고딕"/>
                <a:ea typeface="맑은 고딕"/>
                <a:cs typeface="맑은 고딕"/>
              </a:defRPr>
            </a:pPr>
            <a:r>
              <a:rPr sz="1650" b="0">
                <a:solidFill>
                  <a:srgbClr val="53675e"/>
                </a:solidFill>
                <a:latin typeface="맑은 고딕"/>
                <a:ea typeface="맑은 고딕"/>
                <a:cs typeface="맑은 고딕"/>
              </a:rPr>
              <a:t>큰 글씨·전화 안내 등의</a:t>
            </a:r>
            <a:endParaRPr sz="1650" b="0">
              <a:solidFill>
                <a:srgbClr val="53675e"/>
              </a:solidFill>
              <a:latin typeface="맑은 고딕"/>
              <a:ea typeface="맑은 고딕"/>
              <a:cs typeface="맑은 고딕"/>
            </a:endParaRPr>
          </a:p>
          <a:p>
            <a:pPr algn="l">
              <a:defRPr sz="1650" b="0">
                <a:solidFill>
                  <a:srgbClr val="53675e"/>
                </a:solidFill>
                <a:latin typeface="맑은 고딕"/>
                <a:ea typeface="맑은 고딕"/>
                <a:cs typeface="맑은 고딕"/>
              </a:defRPr>
            </a:pPr>
            <a:r>
              <a:rPr sz="1650" b="0">
                <a:solidFill>
                  <a:srgbClr val="53675e"/>
                </a:solidFill>
                <a:latin typeface="맑은 고딕"/>
                <a:ea typeface="맑은 고딕"/>
                <a:cs typeface="맑은 고딕"/>
              </a:rPr>
              <a:t>접근성 검토에 활용</a:t>
            </a:r>
            <a:endParaRPr sz="1650" b="0">
              <a:solidFill>
                <a:srgbClr val="53675e"/>
              </a:solidFill>
              <a:latin typeface="맑은 고딕"/>
              <a:ea typeface="맑은 고딕"/>
              <a:cs typeface="맑은 고딕"/>
            </a:endParaRPr>
          </a:p>
          <a:p>
            <a:pPr lvl="0">
              <a:defRPr sz="1650" b="0">
                <a:solidFill>
                  <a:srgbClr val="53675e"/>
                </a:solidFill>
                <a:latin typeface="맑은 고딕"/>
                <a:ea typeface="맑은 고딕"/>
                <a:cs typeface="맑은 고딕"/>
              </a:defRPr>
            </a:pPr>
            <a:endParaRPr sz="1650" b="0">
              <a:solidFill>
                <a:srgbClr val="53675e"/>
              </a:solidFill>
              <a:latin typeface="맑은 고딕"/>
              <a:ea typeface="맑은 고딕"/>
              <a:cs typeface="맑은 고딕"/>
            </a:endParaRPr>
          </a:p>
          <a:p>
            <a:pPr algn="l">
              <a:defRPr sz="1650" b="0">
                <a:solidFill>
                  <a:srgbClr val="53675e"/>
                </a:solidFill>
                <a:latin typeface="맑은 고딕"/>
                <a:ea typeface="맑은 고딕"/>
                <a:cs typeface="맑은 고딕"/>
              </a:defRPr>
            </a:pPr>
            <a:r>
              <a:rPr sz="1650" b="0">
                <a:solidFill>
                  <a:srgbClr val="53675e"/>
                </a:solidFill>
                <a:latin typeface="맑은 고딕"/>
                <a:ea typeface="맑은 고딕"/>
                <a:cs typeface="맑은 고딕"/>
              </a:rPr>
              <a:t>질병 신고자의 연령은</a:t>
            </a:r>
            <a:endParaRPr sz="1650" b="0">
              <a:solidFill>
                <a:srgbClr val="53675e"/>
              </a:solidFill>
              <a:latin typeface="맑은 고딕"/>
              <a:ea typeface="맑은 고딕"/>
              <a:cs typeface="맑은 고딕"/>
            </a:endParaRPr>
          </a:p>
          <a:p>
            <a:pPr algn="l">
              <a:defRPr sz="1650" b="0">
                <a:solidFill>
                  <a:srgbClr val="53675e"/>
                </a:solidFill>
                <a:latin typeface="맑은 고딕"/>
                <a:ea typeface="맑은 고딕"/>
                <a:cs typeface="맑은 고딕"/>
              </a:defRPr>
            </a:pPr>
            <a:r>
              <a:rPr sz="1650" b="0">
                <a:solidFill>
                  <a:srgbClr val="53675e"/>
                </a:solidFill>
                <a:latin typeface="맑은 고딕"/>
                <a:ea typeface="맑은 고딕"/>
                <a:cs typeface="맑은 고딕"/>
              </a:rPr>
              <a:t>이 자료로 확인 불가</a:t>
            </a:r>
            <a:endParaRPr sz="1650" b="0">
              <a:solidFill>
                <a:srgbClr val="53675e"/>
              </a:solidFill>
              <a:latin typeface="맑은 고딕"/>
              <a:ea typeface="맑은 고딕"/>
              <a:cs typeface="맑은 고딕"/>
            </a:endParaRPr>
          </a:p>
        </p:txBody>
      </p:sp>
      <p:sp>
        <p:nvSpPr>
          <p:cNvPr id="20" name="기간·공간 단위·분모가 일치하는 범위에서 개선 판단에 활용"/>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기간·공간 단위·분모가 일치하는 범위에서 개선 판단에 활용</a:t>
            </a:r>
            <a:endParaRPr sz="1275" b="1">
              <a:solidFill>
                <a:srgbClr val="ffffff"/>
              </a:solidFill>
              <a:latin typeface="맑은 고딕"/>
              <a:ea typeface="맑은 고딕"/>
              <a:cs typeface="맑은 고딕"/>
            </a:endParaRPr>
          </a:p>
        </p:txBody>
      </p:sp>
      <p:sp>
        <p:nvSpPr>
          <p:cNvPr id="22" name="11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11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heme-top-band">
            <a:extLst xmlns:a="http://schemas.openxmlformats.org/drawingml/2006/main">
              <a:ext uri="{FF2B5EF4-FFF2-40B4-BE49-F238E27FC236}">
                <a16:creationId xmlns:a16="http://schemas.microsoft.com/office/drawing/2014/main" id="{4DDAFA3B-B248-4857-9212-4AB19091D4EF}"/>
              </a:ext>
            </a:extLst>
          </p:cNvPr>
          <p:cNvSpPr>
            <a:spLocks xmlns:a="http://schemas.openxmlformats.org/drawingml/2006/main" noGrp="1"/>
          </p:cNvSpPr>
          <p:nvPr/>
        </p:nvSpPr>
        <p:spPr>
          <a:xfrm xmlns:a="http://schemas.openxmlformats.org/drawingml/2006/main">
            <a:off x="0" y="0"/>
            <a:ext cx="12192000" cy="200025"/>
          </a:xfrm>
          <a:custGeom xmlns:a="http://schemas.openxmlformats.org/drawingml/2006/main">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xmlns:a="http://schemas.openxmlformats.org/drawingml/2006/main">
            <a:srgbClr val="0C493A"/>
          </a:solidFill>
          <a:ln xmlns:a="http://schemas.openxmlformats.org/drawingml/2006/main" w="0">
            <a:noFill/>
          </a:ln>
        </p:spPr>
      </p:sp>
      <p:sp>
        <p:nvSpPr>
          <p:cNvPr id="6" name="theme-bottom-band">
            <a:extLst xmlns:a="http://schemas.openxmlformats.org/drawingml/2006/main">
              <a:ext uri="{FF2B5EF4-FFF2-40B4-BE49-F238E27FC236}">
                <a16:creationId xmlns:a16="http://schemas.microsoft.com/office/drawing/2014/main" id="{B7C567E3-83F7-425C-96FF-24DAC2B9F36F}"/>
              </a:ext>
            </a:extLst>
          </p:cNvPr>
          <p:cNvSpPr>
            <a:spLocks xmlns:a="http://schemas.openxmlformats.org/drawingml/2006/main" noGrp="1"/>
          </p:cNvSpPr>
          <p:nvPr/>
        </p:nvSpPr>
        <p:spPr>
          <a:xfrm xmlns:a="http://schemas.openxmlformats.org/drawingml/2006/main">
            <a:off x="0" y="6657975"/>
            <a:ext cx="12192000" cy="200025"/>
          </a:xfrm>
          <a:custGeom xmlns:a="http://schemas.openxmlformats.org/drawingml/2006/main">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xmlns:a="http://schemas.openxmlformats.org/drawingml/2006/main">
            <a:srgbClr val="0C493A"/>
          </a:solidFill>
          <a:ln xmlns:a="http://schemas.openxmlformats.org/drawingml/2006/main" w="0">
            <a:noFill/>
          </a:ln>
        </p:spPr>
      </p:sp>
      <p:sp>
        <p:nvSpPr>
          <p:cNvPr id="12" name="직사각형 36">
            <a:extLst xmlns:a="http://schemas.openxmlformats.org/drawingml/2006/main">
              <a:ext uri="{FF2B5EF4-FFF2-40B4-BE49-F238E27FC236}">
                <a16:creationId xmlns:a16="http://schemas.microsoft.com/office/drawing/2014/main" id="{4B2D9E24-1D13-4361-ABD0-C4F91B718A45}"/>
              </a:ext>
            </a:extLst>
          </p:cNvPr>
          <p:cNvSpPr>
            <a:spLocks xmlns:a="http://schemas.openxmlformats.org/drawingml/2006/main" noGrp="1"/>
          </p:cNvSpPr>
          <p:nvPr/>
        </p:nvSpPr>
        <p:spPr>
          <a:xfrm xmlns:a="http://schemas.openxmlformats.org/drawingml/2006/main">
            <a:off x="609600" y="5991225"/>
            <a:ext cx="10972800" cy="466725"/>
          </a:xfrm>
          <a:prstGeom xmlns:a="http://schemas.openxmlformats.org/drawingml/2006/main" prst="rect">
            <a:avLst/>
          </a:prstGeom>
          <a:solidFill xmlns:a="http://schemas.openxmlformats.org/drawingml/2006/main">
            <a:srgbClr val="0C493A"/>
          </a:solidFill>
          <a:ln xmlns:a="http://schemas.openxmlformats.org/drawingml/2006/main" w="0">
            <a:noFill/>
          </a:ln>
        </p:spPr>
      </p:sp>
      <p:sp>
        <p:nvSpPr>
          <p:cNvPr id="13" name="04  사례 선정과 검증">
            <a:extLst xmlns:a="http://schemas.openxmlformats.org/drawingml/2006/main">
              <a:ext uri="{FF2B5EF4-FFF2-40B4-BE49-F238E27FC236}">
                <a16:creationId xmlns:a16="http://schemas.microsoft.com/office/drawing/2014/main" id="{2B0E0D30-BC83-45A8-B7E0-7678614F5635}"/>
              </a:ext>
            </a:extLst>
          </p:cNvPr>
          <p:cNvSpPr>
            <a:spLocks xmlns:a="http://schemas.openxmlformats.org/drawingml/2006/main" noGrp="1"/>
          </p:cNvSpPr>
          <p:nvPr/>
        </p:nvSpPr>
        <p:spPr>
          <a:xfrm xmlns:a="http://schemas.openxmlformats.org/drawingml/2006/main">
            <a:off x="609600" y="323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0C493A"/>
                </a:solidFill>
                <a:latin typeface="Malgun Gothic"/>
                <a:ea typeface="Malgun Gothic"/>
                <a:cs typeface="Malgun Gothic"/>
              </a:defRPr>
            </a:pPr>
            <a:r>
              <a:rPr sz="2850" b="1">
                <a:solidFill>
                  <a:srgbClr val="0C493A"/>
                </a:solidFill>
                <a:latin typeface="Malgun Gothic"/>
                <a:ea typeface="Malgun Gothic"/>
                <a:cs typeface="Malgun Gothic"/>
              </a:rPr>
              <a:t>04  사례 선정과 검증</a:t>
            </a:r>
          </a:p>
        </p:txBody>
      </p:sp>
      <p:sp>
        <p:nvSpPr>
          <p:cNvPr id="14" name="다대·금곡 선정 근거와 연도 제외 검증">
            <a:extLst xmlns:a="http://schemas.openxmlformats.org/drawingml/2006/main">
              <a:ext uri="{FF2B5EF4-FFF2-40B4-BE49-F238E27FC236}">
                <a16:creationId xmlns:a16="http://schemas.microsoft.com/office/drawing/2014/main" id="{1FBB9CFF-D968-4CF2-BF35-E1FD8567C3EE}"/>
              </a:ext>
            </a:extLst>
          </p:cNvPr>
          <p:cNvSpPr>
            <a:spLocks xmlns:a="http://schemas.openxmlformats.org/drawingml/2006/main" noGrp="1"/>
          </p:cNvSpPr>
          <p:nvPr/>
        </p:nvSpPr>
        <p:spPr>
          <a:xfrm xmlns:a="http://schemas.openxmlformats.org/drawingml/2006/main">
            <a:off x="609600" y="952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52D"/>
                </a:solidFill>
                <a:latin typeface="Malgun Gothic"/>
                <a:ea typeface="Malgun Gothic"/>
                <a:cs typeface="Malgun Gothic"/>
              </a:defRPr>
            </a:pPr>
            <a:r>
              <a:rPr sz="2025" b="1">
                <a:solidFill>
                  <a:srgbClr val="20352D"/>
                </a:solidFill>
                <a:latin typeface="Malgun Gothic"/>
                <a:ea typeface="Malgun Gothic"/>
                <a:cs typeface="Malgun Gothic"/>
              </a:rPr>
              <a:t>다대·금곡 선정 근거와 연도 제외 검증</a:t>
            </a:r>
          </a:p>
        </p:txBody>
      </p:sp>
      <p:sp>
        <p:nvSpPr>
          <p:cNvPr id="15" name="질병 구성비 차이 = 해당 동 구성비 − 해당 동을 제외한">
            <a:extLst xmlns:a="http://schemas.openxmlformats.org/drawingml/2006/main">
              <a:ext uri="{FF2B5EF4-FFF2-40B4-BE49-F238E27FC236}">
                <a16:creationId xmlns:a16="http://schemas.microsoft.com/office/drawing/2014/main" id="{963D8B6E-D4FC-4903-BEA6-1A3CB1FAA245}"/>
              </a:ext>
            </a:extLst>
          </p:cNvPr>
          <p:cNvSpPr>
            <a:spLocks xmlns:a="http://schemas.openxmlformats.org/drawingml/2006/main" noGrp="1"/>
          </p:cNvSpPr>
          <p:nvPr/>
        </p:nvSpPr>
        <p:spPr>
          <a:xfrm xmlns:a="http://schemas.openxmlformats.org/drawingml/2006/main">
            <a:off x="609600" y="14001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질병 구성비 차이 = 해당 동 구성비 − 해당 동을 제외한 부산 구성비</a:t>
            </a:r>
          </a:p>
        </p:txBody>
      </p:sp>
      <p:graphicFrame>
        <p:nvGraphicFramePr>
          <p:cNvPr id="26" name=""/>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a:tblGrid>
                <a:gridCol w="3688336"/>
                <a:gridCol w="3642232"/>
                <a:gridCol w="3642232"/>
              </a:tblGrid>
              <a:tr h="555625">
                <a:tc>
                  <a:txBody>
                    <a:bodyPr/>
                    <a:lstStyle/>
                    <a:p>
                      <a:pPr algn="l"/>
                      <a:r>
                        <a:rPr sz="1875" b="1">
                          <a:solidFill>
                            <a:srgbClr val="20352D"/>
                          </a:solidFill>
                          <a:latin typeface="Malgun Gothic"/>
                          <a:ea typeface="Malgun Gothic"/>
                          <a:cs typeface="Malgun Gothic"/>
                        </a:rPr>
                        <a:t>제외 연도</a:t>
                      </a:r>
                    </a:p>
                  </a:txBody>
                  <a:tcPr marL="91440" marR="91440" marT="45720" marB="45720" anchor="ctr">
                    <a:solidFill>
                      <a:srgbClr val="DDECE5"/>
                    </a:solidFill>
                  </a:tcPr>
                </a:tc>
                <a:tc>
                  <a:txBody>
                    <a:bodyPr/>
                    <a:lstStyle/>
                    <a:p>
                      <a:pPr algn="l"/>
                      <a:r>
                        <a:rPr sz="1875" b="1">
                          <a:solidFill>
                            <a:srgbClr val="20352D"/>
                          </a:solidFill>
                          <a:latin typeface="Malgun Gothic"/>
                          <a:ea typeface="Malgun Gothic"/>
                          <a:cs typeface="Malgun Gothic"/>
                        </a:rPr>
                        <a:t>다대동 차이</a:t>
                      </a:r>
                    </a:p>
                  </a:txBody>
                  <a:tcPr marL="91440" marR="91440" marT="45720" marB="45720" anchor="ctr">
                    <a:solidFill>
                      <a:srgbClr val="DDECE5"/>
                    </a:solidFill>
                  </a:tcPr>
                </a:tc>
                <a:tc>
                  <a:txBody>
                    <a:bodyPr/>
                    <a:lstStyle/>
                    <a:p>
                      <a:pPr algn="l"/>
                      <a:r>
                        <a:rPr sz="1875" b="1">
                          <a:solidFill>
                            <a:srgbClr val="20352D"/>
                          </a:solidFill>
                          <a:latin typeface="Malgun Gothic"/>
                          <a:ea typeface="Malgun Gothic"/>
                          <a:cs typeface="Malgun Gothic"/>
                        </a:rPr>
                        <a:t>금곡동 차이</a:t>
                      </a:r>
                    </a:p>
                  </a:txBody>
                  <a:tcPr marL="91440" marR="91440" marT="45720" marB="45720" anchor="ctr">
                    <a:solidFill>
                      <a:srgbClr val="DDECE5"/>
                    </a:solidFill>
                  </a:tcPr>
                </a:tc>
              </a:tr>
              <a:tr h="555625">
                <a:tc>
                  <a:txBody>
                    <a:bodyPr/>
                    <a:lstStyle/>
                    <a:p>
                      <a:pPr algn="ctr"/>
                      <a:r>
                        <a:rPr sz="1875" b="0">
                          <a:solidFill>
                            <a:srgbClr val="53675E"/>
                          </a:solidFill>
                          <a:latin typeface="Malgun Gothic"/>
                          <a:ea typeface="Malgun Gothic"/>
                          <a:cs typeface="Malgun Gothic"/>
                        </a:rPr>
                        <a:t>2020</a:t>
                      </a:r>
                    </a:p>
                  </a:txBody>
                  <a:tcPr marL="91440" marR="91440" marT="45720" marB="45720" anchor="ctr">
                    <a:solidFill>
                      <a:srgbClr val="FFFFFF"/>
                    </a:solidFill>
                  </a:tcPr>
                </a:tc>
                <a:tc>
                  <a:txBody>
                    <a:bodyPr/>
                    <a:lstStyle/>
                    <a:p>
                      <a:pPr algn="ctr"/>
                      <a:r>
                        <a:rPr sz="1875" b="0">
                          <a:solidFill>
                            <a:srgbClr val="53675E"/>
                          </a:solidFill>
                          <a:latin typeface="Malgun Gothic"/>
                          <a:ea typeface="Malgun Gothic"/>
                          <a:cs typeface="Malgun Gothic"/>
                        </a:rPr>
                        <a:t>+2.56%p</a:t>
                      </a:r>
                    </a:p>
                  </a:txBody>
                  <a:tcPr marL="91440" marR="91440" marT="45720" marB="45720" anchor="ctr">
                    <a:solidFill>
                      <a:srgbClr val="FFFFFF"/>
                    </a:solidFill>
                  </a:tcPr>
                </a:tc>
                <a:tc>
                  <a:txBody>
                    <a:bodyPr/>
                    <a:lstStyle/>
                    <a:p>
                      <a:pPr algn="ctr"/>
                      <a:r>
                        <a:rPr sz="1875" b="0">
                          <a:solidFill>
                            <a:srgbClr val="53675E"/>
                          </a:solidFill>
                          <a:latin typeface="Malgun Gothic"/>
                          <a:ea typeface="Malgun Gothic"/>
                          <a:cs typeface="Malgun Gothic"/>
                        </a:rPr>
                        <a:t>+4.32%p</a:t>
                      </a:r>
                    </a:p>
                  </a:txBody>
                  <a:tcPr marL="91440" marR="91440" marT="45720" marB="45720" anchor="ctr">
                    <a:solidFill>
                      <a:srgbClr val="FFFFFF"/>
                    </a:solidFill>
                  </a:tcPr>
                </a:tc>
              </a:tr>
              <a:tr h="555625">
                <a:tc>
                  <a:txBody>
                    <a:bodyPr/>
                    <a:lstStyle/>
                    <a:p>
                      <a:pPr algn="ctr"/>
                      <a:r>
                        <a:rPr sz="1875" b="0">
                          <a:solidFill>
                            <a:srgbClr val="53675E"/>
                          </a:solidFill>
                          <a:latin typeface="Malgun Gothic"/>
                          <a:ea typeface="Malgun Gothic"/>
                          <a:cs typeface="Malgun Gothic"/>
                        </a:rPr>
                        <a:t>2021</a:t>
                      </a:r>
                    </a:p>
                  </a:txBody>
                  <a:tcPr marL="91440" marR="91440" marT="45720" marB="45720" anchor="ctr">
                    <a:solidFill>
                      <a:srgbClr val="F4F8F5"/>
                    </a:solidFill>
                  </a:tcPr>
                </a:tc>
                <a:tc>
                  <a:txBody>
                    <a:bodyPr/>
                    <a:lstStyle/>
                    <a:p>
                      <a:pPr algn="ctr"/>
                      <a:r>
                        <a:rPr sz="1875" b="0">
                          <a:solidFill>
                            <a:srgbClr val="53675E"/>
                          </a:solidFill>
                          <a:latin typeface="Malgun Gothic"/>
                          <a:ea typeface="Malgun Gothic"/>
                          <a:cs typeface="Malgun Gothic"/>
                        </a:rPr>
                        <a:t>+2.99%p</a:t>
                      </a:r>
                    </a:p>
                  </a:txBody>
                  <a:tcPr marL="91440" marR="91440" marT="45720" marB="45720" anchor="ctr">
                    <a:solidFill>
                      <a:srgbClr val="F4F8F5"/>
                    </a:solidFill>
                  </a:tcPr>
                </a:tc>
                <a:tc>
                  <a:txBody>
                    <a:bodyPr/>
                    <a:lstStyle/>
                    <a:p>
                      <a:pPr algn="ctr"/>
                      <a:r>
                        <a:rPr sz="1875" b="0">
                          <a:solidFill>
                            <a:srgbClr val="53675E"/>
                          </a:solidFill>
                          <a:latin typeface="Malgun Gothic"/>
                          <a:ea typeface="Malgun Gothic"/>
                          <a:cs typeface="Malgun Gothic"/>
                        </a:rPr>
                        <a:t>+4.33%p</a:t>
                      </a:r>
                    </a:p>
                  </a:txBody>
                  <a:tcPr marL="91440" marR="91440" marT="45720" marB="45720" anchor="ctr">
                    <a:solidFill>
                      <a:srgbClr val="F4F8F5"/>
                    </a:solidFill>
                  </a:tcPr>
                </a:tc>
              </a:tr>
              <a:tr h="555625">
                <a:tc>
                  <a:txBody>
                    <a:bodyPr/>
                    <a:lstStyle/>
                    <a:p>
                      <a:pPr algn="ctr"/>
                      <a:r>
                        <a:rPr sz="1875" b="0">
                          <a:solidFill>
                            <a:srgbClr val="53675E"/>
                          </a:solidFill>
                          <a:latin typeface="Malgun Gothic"/>
                          <a:ea typeface="Malgun Gothic"/>
                          <a:cs typeface="Malgun Gothic"/>
                        </a:rPr>
                        <a:t>2022</a:t>
                      </a:r>
                    </a:p>
                  </a:txBody>
                  <a:tcPr marL="91440" marR="91440" marT="45720" marB="45720" anchor="ctr">
                    <a:solidFill>
                      <a:srgbClr val="FFFFFF"/>
                    </a:solidFill>
                  </a:tcPr>
                </a:tc>
                <a:tc>
                  <a:txBody>
                    <a:bodyPr/>
                    <a:lstStyle/>
                    <a:p>
                      <a:pPr algn="ctr"/>
                      <a:r>
                        <a:rPr sz="1875" b="0">
                          <a:solidFill>
                            <a:srgbClr val="53675E"/>
                          </a:solidFill>
                          <a:latin typeface="Malgun Gothic"/>
                          <a:ea typeface="Malgun Gothic"/>
                          <a:cs typeface="Malgun Gothic"/>
                        </a:rPr>
                        <a:t>+2.77%p</a:t>
                      </a:r>
                    </a:p>
                  </a:txBody>
                  <a:tcPr marL="91440" marR="91440" marT="45720" marB="45720" anchor="ctr">
                    <a:solidFill>
                      <a:srgbClr val="FFFFFF"/>
                    </a:solidFill>
                  </a:tcPr>
                </a:tc>
                <a:tc>
                  <a:txBody>
                    <a:bodyPr/>
                    <a:lstStyle/>
                    <a:p>
                      <a:pPr algn="ctr"/>
                      <a:r>
                        <a:rPr sz="1875" b="0">
                          <a:solidFill>
                            <a:srgbClr val="53675E"/>
                          </a:solidFill>
                          <a:latin typeface="Malgun Gothic"/>
                          <a:ea typeface="Malgun Gothic"/>
                          <a:cs typeface="Malgun Gothic"/>
                        </a:rPr>
                        <a:t>+5.04%p</a:t>
                      </a:r>
                    </a:p>
                  </a:txBody>
                  <a:tcPr marL="91440" marR="91440" marT="45720" marB="45720" anchor="ctr">
                    <a:solidFill>
                      <a:srgbClr val="FFFFFF"/>
                    </a:solidFill>
                  </a:tcPr>
                </a:tc>
              </a:tr>
              <a:tr h="555625">
                <a:tc>
                  <a:txBody>
                    <a:bodyPr/>
                    <a:lstStyle/>
                    <a:p>
                      <a:pPr algn="ctr"/>
                      <a:r>
                        <a:rPr sz="1875" b="0">
                          <a:solidFill>
                            <a:srgbClr val="53675E"/>
                          </a:solidFill>
                          <a:latin typeface="Malgun Gothic"/>
                          <a:ea typeface="Malgun Gothic"/>
                          <a:cs typeface="Malgun Gothic"/>
                        </a:rPr>
                        <a:t>2023</a:t>
                      </a:r>
                    </a:p>
                  </a:txBody>
                  <a:tcPr marL="91440" marR="91440" marT="45720" marB="45720" anchor="ctr">
                    <a:solidFill>
                      <a:srgbClr val="F4F8F5"/>
                    </a:solidFill>
                  </a:tcPr>
                </a:tc>
                <a:tc>
                  <a:txBody>
                    <a:bodyPr/>
                    <a:lstStyle/>
                    <a:p>
                      <a:pPr algn="ctr"/>
                      <a:r>
                        <a:rPr sz="1875" b="0">
                          <a:solidFill>
                            <a:srgbClr val="53675E"/>
                          </a:solidFill>
                          <a:latin typeface="Malgun Gothic"/>
                          <a:ea typeface="Malgun Gothic"/>
                          <a:cs typeface="Malgun Gothic"/>
                        </a:rPr>
                        <a:t>+2.41%p</a:t>
                      </a:r>
                    </a:p>
                  </a:txBody>
                  <a:tcPr marL="91440" marR="91440" marT="45720" marB="45720" anchor="ctr">
                    <a:solidFill>
                      <a:srgbClr val="F4F8F5"/>
                    </a:solidFill>
                  </a:tcPr>
                </a:tc>
                <a:tc>
                  <a:txBody>
                    <a:bodyPr/>
                    <a:lstStyle/>
                    <a:p>
                      <a:pPr algn="ctr"/>
                      <a:r>
                        <a:rPr sz="1875" b="0">
                          <a:solidFill>
                            <a:srgbClr val="53675E"/>
                          </a:solidFill>
                          <a:latin typeface="Malgun Gothic"/>
                          <a:ea typeface="Malgun Gothic"/>
                          <a:cs typeface="Malgun Gothic"/>
                        </a:rPr>
                        <a:t>+4.72%p</a:t>
                      </a:r>
                    </a:p>
                  </a:txBody>
                  <a:tcPr marL="91440" marR="91440" marT="45720" marB="45720" anchor="ctr">
                    <a:solidFill>
                      <a:srgbClr val="F4F8F5"/>
                    </a:solidFill>
                  </a:tcPr>
                </a:tc>
              </a:tr>
              <a:tr h="555625">
                <a:tc>
                  <a:txBody>
                    <a:bodyPr/>
                    <a:lstStyle/>
                    <a:p>
                      <a:pPr algn="ctr"/>
                      <a:r>
                        <a:rPr sz="1875" b="0">
                          <a:solidFill>
                            <a:srgbClr val="53675E"/>
                          </a:solidFill>
                          <a:latin typeface="Malgun Gothic"/>
                          <a:ea typeface="Malgun Gothic"/>
                          <a:cs typeface="Malgun Gothic"/>
                        </a:rPr>
                        <a:t>2024</a:t>
                      </a:r>
                    </a:p>
                  </a:txBody>
                  <a:tcPr marL="91440" marR="91440" marT="45720" marB="45720" anchor="ctr">
                    <a:solidFill>
                      <a:srgbClr val="FFFFFF"/>
                    </a:solidFill>
                  </a:tcPr>
                </a:tc>
                <a:tc>
                  <a:txBody>
                    <a:bodyPr/>
                    <a:lstStyle/>
                    <a:p>
                      <a:pPr algn="ctr"/>
                      <a:r>
                        <a:rPr sz="1875" b="0">
                          <a:solidFill>
                            <a:srgbClr val="53675E"/>
                          </a:solidFill>
                          <a:latin typeface="Malgun Gothic"/>
                          <a:ea typeface="Malgun Gothic"/>
                          <a:cs typeface="Malgun Gothic"/>
                        </a:rPr>
                        <a:t>+3.07%p</a:t>
                      </a:r>
                    </a:p>
                  </a:txBody>
                  <a:tcPr marL="91440" marR="91440" marT="45720" marB="45720" anchor="ctr">
                    <a:solidFill>
                      <a:srgbClr val="FFFFFF"/>
                    </a:solidFill>
                  </a:tcPr>
                </a:tc>
                <a:tc>
                  <a:txBody>
                    <a:bodyPr/>
                    <a:lstStyle/>
                    <a:p>
                      <a:pPr algn="ctr"/>
                      <a:r>
                        <a:rPr sz="1875" b="0">
                          <a:solidFill>
                            <a:srgbClr val="53675E"/>
                          </a:solidFill>
                          <a:latin typeface="Malgun Gothic"/>
                          <a:ea typeface="Malgun Gothic"/>
                          <a:cs typeface="Malgun Gothic"/>
                        </a:rPr>
                        <a:t>+4.92%p</a:t>
                      </a:r>
                    </a:p>
                  </a:txBody>
                  <a:tcPr marL="91440" marR="91440" marT="45720" marB="45720" anchor="ctr">
                    <a:solidFill>
                      <a:srgbClr val="FFFFFF"/>
                    </a:solidFill>
                  </a:tcPr>
                </a:tc>
              </a:tr>
            </a:tbl>
          </a:graphicData>
        </a:graphic>
      </p:graphicFrame>
      <p:sp>
        <p:nvSpPr>
          <p:cNvPr id="17" name="다대 4,054건·37.0%  /  금곡 3,615건·38">
            <a:extLst xmlns:a="http://schemas.openxmlformats.org/drawingml/2006/main">
              <a:ext uri="{FF2B5EF4-FFF2-40B4-BE49-F238E27FC236}">
                <a16:creationId xmlns:a16="http://schemas.microsoft.com/office/drawing/2014/main" id="{F94F7D93-6680-40BA-B782-28AEADEEBFC8}"/>
              </a:ext>
            </a:extLst>
          </p:cNvPr>
          <p:cNvSpPr>
            <a:spLocks xmlns:a="http://schemas.openxmlformats.org/drawingml/2006/main" noGrp="1"/>
          </p:cNvSpPr>
          <p:nvPr/>
        </p:nvSpPr>
        <p:spPr>
          <a:xfrm xmlns:a="http://schemas.openxmlformats.org/drawingml/2006/main">
            <a:off x="609600" y="5353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C493A"/>
                </a:solidFill>
                <a:latin typeface="Malgun Gothic"/>
                <a:ea typeface="Malgun Gothic"/>
                <a:cs typeface="Malgun Gothic"/>
              </a:defRPr>
            </a:pPr>
            <a:r>
              <a:rPr sz="1650" b="1">
                <a:solidFill>
                  <a:srgbClr val="0C493A"/>
                </a:solidFill>
                <a:latin typeface="Malgun Gothic"/>
                <a:ea typeface="Malgun Gothic"/>
                <a:cs typeface="Malgun Gothic"/>
              </a:rPr>
              <a:t>다대 4,054건·37.0%  /  금곡 3,615건·38.9%</a:t>
            </a:r>
          </a:p>
          <a:p xmlns:a="http://schemas.openxmlformats.org/drawingml/2006/main">
            <a:pPr algn="l">
              <a:defRPr sz="1650" b="1">
                <a:solidFill>
                  <a:srgbClr val="0C493A"/>
                </a:solidFill>
                <a:latin typeface="Malgun Gothic"/>
                <a:ea typeface="Malgun Gothic"/>
                <a:cs typeface="Malgun Gothic"/>
              </a:defRPr>
            </a:pPr>
            <a:r>
              <a:rPr sz="1650" b="1">
                <a:solidFill>
                  <a:srgbClr val="0C493A"/>
                </a:solidFill>
                <a:latin typeface="Malgun Gothic"/>
                <a:ea typeface="Malgun Gothic"/>
                <a:cs typeface="Malgun Gothic"/>
              </a:rPr>
              <a:t>규모·구성비·5개 비교의 방향 유지에 근거한 심화 사례 선정</a:t>
            </a:r>
          </a:p>
        </p:txBody>
      </p:sp>
      <p:sp>
        <p:nvSpPr>
          <p:cNvPr id="18" name="전체 지역의 위험도 우선순위 확정은 아님 · 다대 참여 경">
            <a:extLst xmlns:a="http://schemas.openxmlformats.org/drawingml/2006/main">
              <a:ext uri="{FF2B5EF4-FFF2-40B4-BE49-F238E27FC236}">
                <a16:creationId xmlns:a16="http://schemas.microsoft.com/office/drawing/2014/main" id="{D6D76B99-F203-498A-BE99-9EF9481BBA8A}"/>
              </a:ext>
            </a:extLst>
          </p:cNvPr>
          <p:cNvSpPr>
            <a:spLocks xmlns:a="http://schemas.openxmlformats.org/drawingml/2006/main" noGrp="1"/>
          </p:cNvSpPr>
          <p:nvPr/>
        </p:nvSpPr>
        <p:spPr>
          <a:xfrm xmlns:a="http://schemas.openxmlformats.org/drawingml/2006/main">
            <a:off x="733425" y="6048375"/>
            <a:ext cx="1072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전체 지역의 위험도 우선순위 확정은 아님 · 다대 참여 경로 점검, 금곡 현행 운영 재확인</a:t>
            </a:r>
          </a:p>
        </p:txBody>
      </p:sp>
      <p:sp>
        <p:nvSpPr>
          <p:cNvPr id="19" name="12 / 22">
            <a:extLst xmlns:a="http://schemas.openxmlformats.org/drawingml/2006/main">
              <a:ext uri="{FF2B5EF4-FFF2-40B4-BE49-F238E27FC236}">
                <a16:creationId xmlns:a16="http://schemas.microsoft.com/office/drawing/2014/main" id="{9DCAE4B4-AC90-440B-AEA8-6574AB08C8ED}"/>
              </a:ext>
            </a:extLst>
          </p:cNvPr>
          <p:cNvSpPr>
            <a:spLocks xmlns:a="http://schemas.openxmlformats.org/drawingml/2006/main" noGrp="1"/>
          </p:cNvSpPr>
          <p:nvPr/>
        </p:nvSpPr>
        <p:spPr>
          <a:xfrm xmlns:a="http://schemas.openxmlformats.org/drawingml/2006/main">
            <a:off x="10648950" y="6477000"/>
            <a:ext cx="914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3675E"/>
                </a:solidFill>
                <a:latin typeface="Malgun Gothic"/>
                <a:ea typeface="Malgun Gothic"/>
                <a:cs typeface="Malgun Gothic"/>
              </a:defRPr>
            </a:pPr>
            <a:r>
              <a:rPr sz="900" b="0">
                <a:solidFill>
                  <a:srgbClr val="53675E"/>
                </a:solidFill>
                <a:latin typeface="Malgun Gothic"/>
                <a:ea typeface="Malgun Gothic"/>
                <a:cs typeface="Malgun Gothic"/>
              </a:rPr>
              <a:t>12 / 22</a:t>
            </a:r>
          </a:p>
        </p:txBody>
      </p:sp>
    </p:spTree>
    <p:extLst>
      <p:ext uri="{BB962C8B-B14F-4D97-AF65-F5344CB8AC3E}">
        <p14:creationId xmlns:p14="http://schemas.microsoft.com/office/powerpoint/2010/main" val="1369089232"/>
      </p:ext>
    </p:extLst>
  </p:cSld>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5  기존 대응과 실행 제안"/>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05  기존 대응과 실행 제안</a:t>
            </a:r>
            <a:endParaRPr sz="2850" b="1">
              <a:solidFill>
                <a:srgbClr val="0c493a"/>
              </a:solidFill>
              <a:latin typeface="맑은 고딕"/>
              <a:ea typeface="맑은 고딕"/>
              <a:cs typeface="맑은 고딕"/>
            </a:endParaRPr>
          </a:p>
        </p:txBody>
      </p:sp>
      <p:sp>
        <p:nvSpPr>
          <p:cNvPr id="14" name="기존 보건사업의 참여 경로가 검토 대상"/>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기존 보건사업의 참여 경로가 검토 대상</a:t>
            </a:r>
            <a:endParaRPr sz="2025" b="1">
              <a:solidFill>
                <a:srgbClr val="20352d"/>
              </a:solidFill>
              <a:latin typeface="맑은 고딕"/>
              <a:ea typeface="맑은 고딕"/>
              <a:cs typeface="맑은 고딕"/>
            </a:endParaRPr>
          </a:p>
        </p:txBody>
      </p:sp>
      <p:sp>
        <p:nvSpPr>
          <p:cNvPr id="15" name="기존 서비스 확인 후 실제 이용 과정의 어려움 조사"/>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기존 서비스 확인 후 실제 이용 과정의 어려움 조사</a:t>
            </a:r>
            <a:endParaRPr sz="1500" b="0">
              <a:solidFill>
                <a:srgbClr val="53675e"/>
              </a:solidFill>
              <a:latin typeface="맑은 고딕"/>
              <a:ea typeface="맑은 고딕"/>
              <a:cs typeface="맑은 고딕"/>
            </a:endParaRPr>
          </a:p>
        </p:txBody>
      </p:sp>
      <p:graphicFrame>
        <p:nvGraphicFramePr>
          <p:cNvPr id="25" name=""/>
          <p:cNvGraphicFramePr/>
          <p:nvPr/>
        </p:nvGraphicFramePr>
        <p:xfrm>
          <a:off x="609600" y="2095500"/>
          <a:ext cx="10972800" cy="3476625"/>
        </p:xfrm>
        <a:graphic>
          <a:graphicData uri="http://schemas.openxmlformats.org/drawingml/2006/table">
            <a:tbl>
              <a:tblGrid>
                <a:gridCol w="1567543"/>
                <a:gridCol w="4840941"/>
                <a:gridCol w="4564316"/>
              </a:tblGrid>
              <a:tr h="1158875">
                <a:tc>
                  <a:txBody>
                    <a:bodyPr vert="horz" lIns="91440" tIns="45720" rIns="91440" bIns="45720" anchor="ctr" anchorCtr="0"/>
                    <a:p>
                      <a:pPr algn="l">
                        <a:defRPr/>
                      </a:pPr>
                      <a:r>
                        <a:rPr sz="1725" b="1">
                          <a:solidFill>
                            <a:srgbClr val="20352d"/>
                          </a:solidFill>
                          <a:latin typeface="맑은 고딕"/>
                          <a:ea typeface="맑은 고딕"/>
                          <a:cs typeface="맑은 고딕"/>
                        </a:rPr>
                        <a:t>지역</a:t>
                      </a:r>
                      <a:endParaRPr sz="1725"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725" b="1">
                          <a:solidFill>
                            <a:srgbClr val="20352d"/>
                          </a:solidFill>
                          <a:latin typeface="맑은 고딕"/>
                          <a:ea typeface="맑은 고딕"/>
                          <a:cs typeface="맑은 고딕"/>
                        </a:rPr>
                        <a:t>보고서에서 확인한 기존 대응</a:t>
                      </a:r>
                      <a:endParaRPr sz="1725"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725" b="1">
                          <a:solidFill>
                            <a:srgbClr val="20352d"/>
                          </a:solidFill>
                          <a:latin typeface="맑은 고딕"/>
                          <a:ea typeface="맑은 고딕"/>
                          <a:cs typeface="맑은 고딕"/>
                        </a:rPr>
                        <a:t>다음 확인 과제</a:t>
                      </a:r>
                      <a:endParaRPr sz="1725" b="1">
                        <a:solidFill>
                          <a:srgbClr val="20352d"/>
                        </a:solidFill>
                        <a:latin typeface="맑은 고딕"/>
                        <a:ea typeface="맑은 고딕"/>
                        <a:cs typeface="맑은 고딕"/>
                      </a:endParaRPr>
                    </a:p>
                  </a:txBody>
                  <a:tcPr marL="91440" marR="91440" anchor="ctr">
                    <a:solidFill>
                      <a:srgbClr val="ddece5"/>
                    </a:solidFill>
                  </a:tcPr>
                </a:tc>
              </a:tr>
              <a:tr h="1158875">
                <a:tc>
                  <a:txBody>
                    <a:bodyPr vert="horz" lIns="91440" tIns="45720" rIns="91440" bIns="45720" anchor="ctr" anchorCtr="0"/>
                    <a:p>
                      <a:pPr algn="l">
                        <a:defRPr/>
                      </a:pPr>
                      <a:r>
                        <a:rPr sz="1725" b="0">
                          <a:solidFill>
                            <a:srgbClr val="53675e"/>
                          </a:solidFill>
                          <a:latin typeface="맑은 고딕"/>
                          <a:ea typeface="맑은 고딕"/>
                          <a:cs typeface="맑은 고딕"/>
                        </a:rPr>
                        <a:t>다대</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건강생활지원센터의 건강측정·상담</a:t>
                      </a:r>
                      <a:endParaRPr sz="1725" b="0">
                        <a:solidFill>
                          <a:srgbClr val="53675e"/>
                        </a:solidFill>
                        <a:latin typeface="맑은 고딕"/>
                        <a:ea typeface="맑은 고딕"/>
                        <a:cs typeface="맑은 고딕"/>
                      </a:endParaRPr>
                    </a:p>
                    <a:p>
                      <a:pPr algn="l">
                        <a:defRPr/>
                      </a:pPr>
                      <a:r>
                        <a:rPr sz="1725" b="0">
                          <a:solidFill>
                            <a:srgbClr val="53675e"/>
                          </a:solidFill>
                          <a:latin typeface="맑은 고딕"/>
                          <a:ea typeface="맑은 고딕"/>
                          <a:cs typeface="맑은 고딕"/>
                        </a:rPr>
                        <a:t>만성질환관리, 고혈압·당뇨병 교실</a:t>
                      </a:r>
                      <a:endParaRPr sz="1725" b="0">
                        <a:solidFill>
                          <a:srgbClr val="53675e"/>
                        </a:solidFill>
                        <a:latin typeface="맑은 고딕"/>
                        <a:ea typeface="맑은 고딕"/>
                        <a:cs typeface="맑은 고딕"/>
                      </a:endParaRPr>
                    </a:p>
                    <a:p>
                      <a:pPr algn="l">
                        <a:defRPr/>
                      </a:pPr>
                      <a:r>
                        <a:rPr sz="1725" b="0">
                          <a:solidFill>
                            <a:srgbClr val="53675e"/>
                          </a:solidFill>
                          <a:latin typeface="맑은 고딕"/>
                          <a:ea typeface="맑은 고딕"/>
                          <a:cs typeface="맑은 고딕"/>
                        </a:rPr>
                        <a:t>생활터 건강강좌·연계 안내</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상담 후 안내·예약·참여 확인 기능</a:t>
                      </a:r>
                      <a:endParaRPr sz="1725" b="0">
                        <a:solidFill>
                          <a:srgbClr val="53675e"/>
                        </a:solidFill>
                        <a:latin typeface="맑은 고딕"/>
                        <a:ea typeface="맑은 고딕"/>
                        <a:cs typeface="맑은 고딕"/>
                      </a:endParaRPr>
                    </a:p>
                    <a:p>
                      <a:pPr algn="l">
                        <a:defRPr/>
                      </a:pPr>
                      <a:r>
                        <a:rPr sz="1725" b="0">
                          <a:solidFill>
                            <a:srgbClr val="53675e"/>
                          </a:solidFill>
                          <a:latin typeface="맑은 고딕"/>
                          <a:ea typeface="맑은 고딕"/>
                          <a:cs typeface="맑은 고딕"/>
                        </a:rPr>
                        <a:t>교육 정원·운영 일정·실제 수요</a:t>
                      </a:r>
                      <a:endParaRPr sz="1725" b="0">
                        <a:solidFill>
                          <a:srgbClr val="53675e"/>
                        </a:solidFill>
                        <a:latin typeface="맑은 고딕"/>
                        <a:ea typeface="맑은 고딕"/>
                        <a:cs typeface="맑은 고딕"/>
                      </a:endParaRPr>
                    </a:p>
                    <a:p>
                      <a:pPr algn="l">
                        <a:defRPr/>
                      </a:pPr>
                      <a:r>
                        <a:rPr sz="1725" b="0">
                          <a:solidFill>
                            <a:srgbClr val="53675e"/>
                          </a:solidFill>
                          <a:latin typeface="맑은 고딕"/>
                          <a:ea typeface="맑은 고딕"/>
                          <a:cs typeface="맑은 고딕"/>
                        </a:rPr>
                        <a:t>이미 운영 중인 절차와의 중복</a:t>
                      </a:r>
                      <a:endParaRPr sz="1725" b="0">
                        <a:solidFill>
                          <a:srgbClr val="53675e"/>
                        </a:solidFill>
                        <a:latin typeface="맑은 고딕"/>
                        <a:ea typeface="맑은 고딕"/>
                        <a:cs typeface="맑은 고딕"/>
                      </a:endParaRPr>
                    </a:p>
                  </a:txBody>
                  <a:tcPr marL="91440" marR="91440" anchor="ctr">
                    <a:solidFill>
                      <a:srgbClr val="ffffff"/>
                    </a:solidFill>
                  </a:tcPr>
                </a:tc>
              </a:tr>
              <a:tr h="1158875">
                <a:tc>
                  <a:txBody>
                    <a:bodyPr vert="horz" lIns="91440" tIns="45720" rIns="91440" bIns="45720" anchor="ctr" anchorCtr="0"/>
                    <a:p>
                      <a:pPr algn="l">
                        <a:defRPr/>
                      </a:pPr>
                      <a:r>
                        <a:rPr sz="1725" b="0">
                          <a:solidFill>
                            <a:srgbClr val="53675e"/>
                          </a:solidFill>
                          <a:latin typeface="맑은 고딕"/>
                          <a:ea typeface="맑은 고딕"/>
                          <a:cs typeface="맑은 고딕"/>
                        </a:rPr>
                        <a:t>금곡</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마을건강센터와 북구 등록관리사업</a:t>
                      </a:r>
                      <a:endParaRPr sz="1725" b="0">
                        <a:solidFill>
                          <a:srgbClr val="53675e"/>
                        </a:solidFill>
                        <a:latin typeface="맑은 고딕"/>
                        <a:ea typeface="맑은 고딕"/>
                        <a:cs typeface="맑은 고딕"/>
                      </a:endParaRPr>
                    </a:p>
                    <a:p>
                      <a:pPr algn="l">
                        <a:defRPr/>
                      </a:pPr>
                      <a:r>
                        <a:rPr sz="1725" b="0">
                          <a:solidFill>
                            <a:srgbClr val="53675e"/>
                          </a:solidFill>
                          <a:latin typeface="맑은 고딕"/>
                          <a:ea typeface="맑은 고딕"/>
                          <a:cs typeface="맑은 고딕"/>
                        </a:rPr>
                        <a:t>초안에 제시된 사업 정보</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현재 운영 내용과 대상 조건 재확인</a:t>
                      </a:r>
                      <a:endParaRPr sz="1725" b="0">
                        <a:solidFill>
                          <a:srgbClr val="53675e"/>
                        </a:solidFill>
                        <a:latin typeface="맑은 고딕"/>
                        <a:ea typeface="맑은 고딕"/>
                        <a:cs typeface="맑은 고딕"/>
                      </a:endParaRPr>
                    </a:p>
                    <a:p>
                      <a:pPr algn="l">
                        <a:defRPr/>
                      </a:pPr>
                      <a:r>
                        <a:rPr sz="1725" b="0">
                          <a:solidFill>
                            <a:srgbClr val="53675e"/>
                          </a:solidFill>
                          <a:latin typeface="맑은 고딕"/>
                          <a:ea typeface="맑은 고딕"/>
                          <a:cs typeface="맑은 고딕"/>
                        </a:rPr>
                        <a:t>안내 이후 참여 여부의 확인 방식</a:t>
                      </a:r>
                      <a:endParaRPr sz="1725" b="0">
                        <a:solidFill>
                          <a:srgbClr val="53675e"/>
                        </a:solidFill>
                        <a:latin typeface="맑은 고딕"/>
                        <a:ea typeface="맑은 고딕"/>
                        <a:cs typeface="맑은 고딕"/>
                      </a:endParaRPr>
                    </a:p>
                    <a:p>
                      <a:pPr algn="l">
                        <a:defRPr/>
                      </a:pPr>
                      <a:r>
                        <a:rPr sz="1725" b="0">
                          <a:solidFill>
                            <a:srgbClr val="53675e"/>
                          </a:solidFill>
                          <a:latin typeface="맑은 고딕"/>
                          <a:ea typeface="맑은 고딕"/>
                          <a:cs typeface="맑은 고딕"/>
                        </a:rPr>
                        <a:t>미참여 사유와 담당자 업무 여건</a:t>
                      </a:r>
                      <a:endParaRPr sz="1725" b="0">
                        <a:solidFill>
                          <a:srgbClr val="53675e"/>
                        </a:solidFill>
                        <a:latin typeface="맑은 고딕"/>
                        <a:ea typeface="맑은 고딕"/>
                        <a:cs typeface="맑은 고딕"/>
                      </a:endParaRPr>
                    </a:p>
                  </a:txBody>
                  <a:tcPr marL="91440" marR="91440" anchor="ctr">
                    <a:solidFill>
                      <a:srgbClr val="f4f8f5"/>
                    </a:solidFill>
                  </a:tcPr>
                </a:tc>
              </a:tr>
            </a:tbl>
          </a:graphicData>
        </a:graphic>
      </p:graphicFrame>
      <p:sp>
        <p:nvSpPr>
          <p:cNvPr id="17" name="기존 절차가 충분히 운영되고 있다면 추가 도입 불필요."/>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다대는 상담·교육의 참여 경로를 점검하고, 금곡은 현행 사업 운영과 이용 조건을 먼저 확인</a:t>
            </a:r>
            <a:endParaRPr lang="ko-KR" altLang="en-US" sz="1275" b="1">
              <a:solidFill>
                <a:srgbClr val="ffffff"/>
              </a:solidFill>
              <a:latin typeface="맑은 고딕"/>
              <a:ea typeface="맑은 고딕"/>
              <a:cs typeface="맑은 고딕"/>
            </a:endParaRPr>
          </a:p>
        </p:txBody>
      </p:sp>
      <p:sp>
        <p:nvSpPr>
          <p:cNvPr id="18" name="13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13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5  기존 대응과 실행 제안"/>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05  기존 대응과 실행 제안</a:t>
            </a:r>
            <a:endParaRPr sz="2850" b="1">
              <a:solidFill>
                <a:srgbClr val="0c493a"/>
              </a:solidFill>
              <a:latin typeface="맑은 고딕"/>
              <a:ea typeface="맑은 고딕"/>
              <a:cs typeface="맑은 고딕"/>
            </a:endParaRPr>
          </a:p>
        </p:txBody>
      </p:sp>
      <p:sp>
        <p:nvSpPr>
          <p:cNvPr id="14" name="정책 미흡 여부는 참여 과정 자료로 별도 검증"/>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정책 미흡 여부는 참여 과정 자료로 별도 검증</a:t>
            </a:r>
            <a:endParaRPr sz="2025" b="1">
              <a:solidFill>
                <a:srgbClr val="20352d"/>
              </a:solidFill>
              <a:latin typeface="맑은 고딕"/>
              <a:ea typeface="맑은 고딕"/>
              <a:cs typeface="맑은 고딕"/>
            </a:endParaRPr>
          </a:p>
        </p:txBody>
      </p:sp>
      <p:sp>
        <p:nvSpPr>
          <p:cNvPr id="15" name="신고자료로 확인한 지역 특성과 기관 운영자료로 검증할 서비"/>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신고자료로 확인한 지역 특성과 기관 운영자료로 검증할 서비스 공백의 구분</a:t>
            </a:r>
            <a:endParaRPr sz="1500" b="0">
              <a:solidFill>
                <a:srgbClr val="53675e"/>
              </a:solidFill>
              <a:latin typeface="맑은 고딕"/>
              <a:ea typeface="맑은 고딕"/>
              <a:cs typeface="맑은 고딕"/>
            </a:endParaRPr>
          </a:p>
        </p:txBody>
      </p:sp>
      <p:graphicFrame>
        <p:nvGraphicFramePr>
          <p:cNvPr id="25" name=""/>
          <p:cNvGraphicFramePr/>
          <p:nvPr/>
        </p:nvGraphicFramePr>
        <p:xfrm>
          <a:off x="609600" y="2076450"/>
          <a:ext cx="10972800" cy="3476625"/>
        </p:xfrm>
        <a:graphic>
          <a:graphicData uri="http://schemas.openxmlformats.org/drawingml/2006/table">
            <a:tbl>
              <a:tblGrid>
                <a:gridCol w="2812356"/>
                <a:gridCol w="4241587"/>
                <a:gridCol w="3918857"/>
              </a:tblGrid>
              <a:tr h="695325">
                <a:tc>
                  <a:txBody>
                    <a:bodyPr vert="horz" lIns="91440" tIns="45720" rIns="91440" bIns="45720" anchor="ctr" anchorCtr="0"/>
                    <a:p>
                      <a:pPr algn="l">
                        <a:defRPr/>
                      </a:pPr>
                      <a:r>
                        <a:rPr sz="1725" b="1">
                          <a:solidFill>
                            <a:srgbClr val="20352d"/>
                          </a:solidFill>
                          <a:latin typeface="맑은 고딕"/>
                          <a:ea typeface="맑은 고딕"/>
                          <a:cs typeface="맑은 고딕"/>
                        </a:rPr>
                        <a:t>검증할 가설</a:t>
                      </a:r>
                      <a:endParaRPr sz="1725"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725" b="1">
                          <a:solidFill>
                            <a:srgbClr val="20352d"/>
                          </a:solidFill>
                          <a:latin typeface="맑은 고딕"/>
                          <a:ea typeface="맑은 고딕"/>
                          <a:cs typeface="맑은 고딕"/>
                        </a:rPr>
                        <a:t>확인할 자료·질문</a:t>
                      </a:r>
                      <a:endParaRPr sz="1725"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725" b="1">
                          <a:solidFill>
                            <a:srgbClr val="20352d"/>
                          </a:solidFill>
                          <a:latin typeface="맑은 고딕"/>
                          <a:ea typeface="맑은 고딕"/>
                          <a:cs typeface="맑은 고딕"/>
                        </a:rPr>
                        <a:t>확인 결과에 따른 조치</a:t>
                      </a:r>
                      <a:endParaRPr sz="1725" b="1">
                        <a:solidFill>
                          <a:srgbClr val="20352d"/>
                        </a:solidFill>
                        <a:latin typeface="맑은 고딕"/>
                        <a:ea typeface="맑은 고딕"/>
                        <a:cs typeface="맑은 고딕"/>
                      </a:endParaRPr>
                    </a:p>
                  </a:txBody>
                  <a:tcPr marL="91440" marR="91440" anchor="ctr">
                    <a:solidFill>
                      <a:srgbClr val="ddece5"/>
                    </a:solidFill>
                  </a:tcPr>
                </a:tc>
              </a:tr>
              <a:tr h="695325">
                <a:tc>
                  <a:txBody>
                    <a:bodyPr vert="horz" lIns="91440" tIns="45720" rIns="91440" bIns="45720" anchor="ctr" anchorCtr="0"/>
                    <a:p>
                      <a:pPr algn="l">
                        <a:defRPr/>
                      </a:pPr>
                      <a:r>
                        <a:rPr sz="1725" b="0">
                          <a:solidFill>
                            <a:srgbClr val="53675e"/>
                          </a:solidFill>
                          <a:latin typeface="맑은 고딕"/>
                          <a:ea typeface="맑은 고딕"/>
                          <a:cs typeface="맑은 고딕"/>
                        </a:rPr>
                        <a:t>안내 이후 참여 여부의 미확인</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기존 업무에 예약·참여 확인 절차 존재 여부</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기존 기능 활용 또는 누락 단계만 보완</a:t>
                      </a:r>
                      <a:endParaRPr sz="1725" b="0">
                        <a:solidFill>
                          <a:srgbClr val="53675e"/>
                        </a:solidFill>
                        <a:latin typeface="맑은 고딕"/>
                        <a:ea typeface="맑은 고딕"/>
                        <a:cs typeface="맑은 고딕"/>
                      </a:endParaRPr>
                    </a:p>
                  </a:txBody>
                  <a:tcPr marL="91440" marR="91440" anchor="ctr">
                    <a:solidFill>
                      <a:srgbClr val="ffffff"/>
                    </a:solidFill>
                  </a:tcPr>
                </a:tc>
              </a:tr>
              <a:tr h="695325">
                <a:tc>
                  <a:txBody>
                    <a:bodyPr vert="horz" lIns="91440" tIns="45720" rIns="91440" bIns="45720" anchor="ctr" anchorCtr="0"/>
                    <a:p>
                      <a:pPr algn="l">
                        <a:defRPr/>
                      </a:pPr>
                      <a:r>
                        <a:rPr sz="1725" b="0">
                          <a:solidFill>
                            <a:srgbClr val="53675e"/>
                          </a:solidFill>
                          <a:latin typeface="맑은 고딕"/>
                          <a:ea typeface="맑은 고딕"/>
                          <a:cs typeface="맑은 고딕"/>
                        </a:rPr>
                        <a:t>일정·이동·안내 방식의 어려움</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미참여 사유와 실제 참여 가능 시간</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확인된 사유에 맞춘 안내·일정 조정</a:t>
                      </a:r>
                      <a:endParaRPr sz="1725" b="0">
                        <a:solidFill>
                          <a:srgbClr val="53675e"/>
                        </a:solidFill>
                        <a:latin typeface="맑은 고딕"/>
                        <a:ea typeface="맑은 고딕"/>
                        <a:cs typeface="맑은 고딕"/>
                      </a:endParaRPr>
                    </a:p>
                  </a:txBody>
                  <a:tcPr marL="91440" marR="91440" anchor="ctr">
                    <a:solidFill>
                      <a:srgbClr val="f4f8f5"/>
                    </a:solidFill>
                  </a:tcPr>
                </a:tc>
              </a:tr>
              <a:tr h="695325">
                <a:tc>
                  <a:txBody>
                    <a:bodyPr vert="horz" lIns="91440" tIns="45720" rIns="91440" bIns="45720" anchor="ctr" anchorCtr="0"/>
                    <a:p>
                      <a:pPr algn="l">
                        <a:defRPr/>
                      </a:pPr>
                      <a:r>
                        <a:rPr sz="1725" b="0">
                          <a:solidFill>
                            <a:srgbClr val="53675e"/>
                          </a:solidFill>
                          <a:latin typeface="맑은 고딕"/>
                          <a:ea typeface="맑은 고딕"/>
                          <a:cs typeface="맑은 고딕"/>
                        </a:rPr>
                        <a:t>교육 정원 또는 담당 인력의 제약</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대기 현황·교육 일정·담당 업무량</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홍보 확대 전 정원·인력과 운영 범위 협의</a:t>
                      </a:r>
                      <a:endParaRPr sz="1725" b="0">
                        <a:solidFill>
                          <a:srgbClr val="53675e"/>
                        </a:solidFill>
                        <a:latin typeface="맑은 고딕"/>
                        <a:ea typeface="맑은 고딕"/>
                        <a:cs typeface="맑은 고딕"/>
                      </a:endParaRPr>
                    </a:p>
                  </a:txBody>
                  <a:tcPr marL="91440" marR="91440" anchor="ctr">
                    <a:solidFill>
                      <a:srgbClr val="ffffff"/>
                    </a:solidFill>
                  </a:tcPr>
                </a:tc>
              </a:tr>
              <a:tr h="695325">
                <a:tc>
                  <a:txBody>
                    <a:bodyPr vert="horz" lIns="91440" tIns="45720" rIns="91440" bIns="45720" anchor="ctr" anchorCtr="0"/>
                    <a:p>
                      <a:pPr algn="l">
                        <a:defRPr/>
                      </a:pPr>
                      <a:r>
                        <a:rPr sz="1725" b="0">
                          <a:solidFill>
                            <a:srgbClr val="53675e"/>
                          </a:solidFill>
                          <a:latin typeface="맑은 고딕"/>
                          <a:ea typeface="맑은 고딕"/>
                          <a:cs typeface="맑은 고딕"/>
                        </a:rPr>
                        <a:t>별도 보완의 필요성 부재</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기존 절차의 정상 운영과 참여 경로 확인</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새 절차 도입 없이 기존 사업 유지</a:t>
                      </a:r>
                      <a:endParaRPr sz="1725" b="0">
                        <a:solidFill>
                          <a:srgbClr val="53675e"/>
                        </a:solidFill>
                        <a:latin typeface="맑은 고딕"/>
                        <a:ea typeface="맑은 고딕"/>
                        <a:cs typeface="맑은 고딕"/>
                      </a:endParaRPr>
                    </a:p>
                  </a:txBody>
                  <a:tcPr marL="91440" marR="91440" anchor="ctr">
                    <a:solidFill>
                      <a:srgbClr val="f4f8f5"/>
                    </a:solidFill>
                  </a:tcPr>
                </a:tc>
              </a:tr>
            </a:tbl>
          </a:graphicData>
        </a:graphic>
      </p:graphicFrame>
      <p:sp>
        <p:nvSpPr>
          <p:cNvPr id="17" name="운영 공백은 현재 미입증 · 기관 확인과 이용 과정 자료 "/>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예약·참여 여부와 미참여 사유를 조사해 실제로 보완이 필요한 절차와 운영 조건을 판단</a:t>
            </a:r>
            <a:endParaRPr lang="ko-KR" altLang="en-US" sz="1275" b="1">
              <a:solidFill>
                <a:srgbClr val="ffffff"/>
              </a:solidFill>
              <a:latin typeface="맑은 고딕"/>
              <a:ea typeface="맑은 고딕"/>
              <a:cs typeface="맑은 고딕"/>
            </a:endParaRPr>
          </a:p>
        </p:txBody>
      </p:sp>
      <p:sp>
        <p:nvSpPr>
          <p:cNvPr id="18" name="14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14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5  기존 대응과 실행 제안"/>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05  기존 대응과 실행 제안</a:t>
            </a:r>
            <a:endParaRPr sz="2850" b="1">
              <a:solidFill>
                <a:srgbClr val="0c493a"/>
              </a:solidFill>
              <a:latin typeface="맑은 고딕"/>
              <a:ea typeface="맑은 고딕"/>
              <a:cs typeface="맑은 고딕"/>
            </a:endParaRPr>
          </a:p>
        </p:txBody>
      </p:sp>
      <p:sp>
        <p:nvSpPr>
          <p:cNvPr id="14" name="다대 제안: 상담 후 첫 교육 완료까지 확인"/>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다대 제안: 상담 후 첫 교육 완료까지 확인</a:t>
            </a:r>
            <a:endParaRPr sz="2025" b="1">
              <a:solidFill>
                <a:srgbClr val="20352d"/>
              </a:solidFill>
              <a:latin typeface="맑은 고딕"/>
              <a:ea typeface="맑은 고딕"/>
              <a:cs typeface="맑은 고딕"/>
            </a:endParaRPr>
          </a:p>
        </p:txBody>
      </p:sp>
      <p:sp>
        <p:nvSpPr>
          <p:cNvPr id="15" name="건강생활지원센터와 기존 교육 담당자가 검토할 절차"/>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건강생활지원센터와 기존 교육 담당자가 검토할 절차</a:t>
            </a:r>
            <a:endParaRPr sz="1500" b="0">
              <a:solidFill>
                <a:srgbClr val="53675e"/>
              </a:solidFill>
              <a:latin typeface="맑은 고딕"/>
              <a:ea typeface="맑은 고딕"/>
              <a:cs typeface="맑은 고딕"/>
            </a:endParaRPr>
          </a:p>
        </p:txBody>
      </p:sp>
      <p:graphicFrame>
        <p:nvGraphicFramePr>
          <p:cNvPr id="25" name=""/>
          <p:cNvGraphicFramePr/>
          <p:nvPr/>
        </p:nvGraphicFramePr>
        <p:xfrm>
          <a:off x="609600" y="2000250"/>
          <a:ext cx="10972800" cy="3714750"/>
        </p:xfrm>
        <a:graphic>
          <a:graphicData uri="http://schemas.openxmlformats.org/drawingml/2006/table">
            <a:tbl>
              <a:tblGrid>
                <a:gridCol w="3042877"/>
                <a:gridCol w="7929923"/>
              </a:tblGrid>
              <a:tr h="619125">
                <a:tc>
                  <a:txBody>
                    <a:bodyPr vert="horz" lIns="91440" tIns="45720" rIns="91440" bIns="45720" anchor="ctr" anchorCtr="0"/>
                    <a:p>
                      <a:pPr algn="l">
                        <a:defRPr/>
                      </a:pPr>
                      <a:r>
                        <a:rPr sz="1725" b="1">
                          <a:solidFill>
                            <a:srgbClr val="20352d"/>
                          </a:solidFill>
                          <a:latin typeface="맑은 고딕"/>
                          <a:ea typeface="맑은 고딕"/>
                          <a:cs typeface="맑은 고딕"/>
                        </a:rPr>
                        <a:t>절차</a:t>
                      </a:r>
                      <a:endParaRPr sz="1725"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725" b="1">
                          <a:solidFill>
                            <a:srgbClr val="20352d"/>
                          </a:solidFill>
                          <a:latin typeface="맑은 고딕"/>
                          <a:ea typeface="맑은 고딕"/>
                          <a:cs typeface="맑은 고딕"/>
                        </a:rPr>
                        <a:t>담당자가 확인할 내용</a:t>
                      </a:r>
                      <a:endParaRPr sz="1725" b="1">
                        <a:solidFill>
                          <a:srgbClr val="20352d"/>
                        </a:solidFill>
                        <a:latin typeface="맑은 고딕"/>
                        <a:ea typeface="맑은 고딕"/>
                        <a:cs typeface="맑은 고딕"/>
                      </a:endParaRPr>
                    </a:p>
                  </a:txBody>
                  <a:tcPr marL="91440" marR="91440" anchor="ctr">
                    <a:solidFill>
                      <a:srgbClr val="ddece5"/>
                    </a:solidFill>
                  </a:tcPr>
                </a:tc>
              </a:tr>
              <a:tr h="619125">
                <a:tc>
                  <a:txBody>
                    <a:bodyPr vert="horz" lIns="91440" tIns="45720" rIns="91440" bIns="45720" anchor="ctr" anchorCtr="0"/>
                    <a:p>
                      <a:pPr algn="l">
                        <a:defRPr/>
                      </a:pPr>
                      <a:r>
                        <a:rPr sz="1725" b="0">
                          <a:solidFill>
                            <a:srgbClr val="53675e"/>
                          </a:solidFill>
                          <a:latin typeface="맑은 고딕"/>
                          <a:ea typeface="맑은 고딕"/>
                          <a:cs typeface="맑은 고딕"/>
                        </a:rPr>
                        <a:t>01 참여 의향 확인</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사업 조건을 충족하고 교육을 희망하는 주민인지 확인</a:t>
                      </a:r>
                      <a:endParaRPr sz="1725" b="0">
                        <a:solidFill>
                          <a:srgbClr val="53675e"/>
                        </a:solidFill>
                        <a:latin typeface="맑은 고딕"/>
                        <a:ea typeface="맑은 고딕"/>
                        <a:cs typeface="맑은 고딕"/>
                      </a:endParaRPr>
                    </a:p>
                  </a:txBody>
                  <a:tcPr marL="91440" marR="91440" anchor="ctr">
                    <a:solidFill>
                      <a:srgbClr val="ffffff"/>
                    </a:solidFill>
                  </a:tcPr>
                </a:tc>
              </a:tr>
              <a:tr h="619125">
                <a:tc>
                  <a:txBody>
                    <a:bodyPr vert="horz" lIns="91440" tIns="45720" rIns="91440" bIns="45720" anchor="ctr" anchorCtr="0"/>
                    <a:p>
                      <a:pPr algn="l">
                        <a:defRPr/>
                      </a:pPr>
                      <a:r>
                        <a:rPr sz="1725" b="0">
                          <a:solidFill>
                            <a:srgbClr val="53675e"/>
                          </a:solidFill>
                          <a:latin typeface="맑은 고딕"/>
                          <a:ea typeface="맑은 고딕"/>
                          <a:cs typeface="맑은 고딕"/>
                        </a:rPr>
                        <a:t>02 기존 교육 안내</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실제 참여 가능한 일정·장소·신청 방법 안내</a:t>
                      </a:r>
                      <a:endParaRPr sz="1725" b="0">
                        <a:solidFill>
                          <a:srgbClr val="53675e"/>
                        </a:solidFill>
                        <a:latin typeface="맑은 고딕"/>
                        <a:ea typeface="맑은 고딕"/>
                        <a:cs typeface="맑은 고딕"/>
                      </a:endParaRPr>
                    </a:p>
                  </a:txBody>
                  <a:tcPr marL="91440" marR="91440" anchor="ctr">
                    <a:solidFill>
                      <a:srgbClr val="f4f8f5"/>
                    </a:solidFill>
                  </a:tcPr>
                </a:tc>
              </a:tr>
              <a:tr h="619125">
                <a:tc>
                  <a:txBody>
                    <a:bodyPr vert="horz" lIns="91440" tIns="45720" rIns="91440" bIns="45720" anchor="ctr" anchorCtr="0"/>
                    <a:p>
                      <a:pPr algn="l">
                        <a:defRPr/>
                      </a:pPr>
                      <a:r>
                        <a:rPr sz="1725" b="0">
                          <a:solidFill>
                            <a:srgbClr val="53675e"/>
                          </a:solidFill>
                          <a:latin typeface="맑은 고딕"/>
                          <a:ea typeface="맑은 고딕"/>
                          <a:cs typeface="맑은 고딕"/>
                        </a:rPr>
                        <a:t>03 예약·참여 확인</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본인 선택과 기관 절차에 따라 예약 또는 연계 여부 확인</a:t>
                      </a:r>
                      <a:endParaRPr sz="1725" b="0">
                        <a:solidFill>
                          <a:srgbClr val="53675e"/>
                        </a:solidFill>
                        <a:latin typeface="맑은 고딕"/>
                        <a:ea typeface="맑은 고딕"/>
                        <a:cs typeface="맑은 고딕"/>
                      </a:endParaRPr>
                    </a:p>
                  </a:txBody>
                  <a:tcPr marL="91440" marR="91440" anchor="ctr">
                    <a:solidFill>
                      <a:srgbClr val="ffffff"/>
                    </a:solidFill>
                  </a:tcPr>
                </a:tc>
              </a:tr>
              <a:tr h="619125">
                <a:tc>
                  <a:txBody>
                    <a:bodyPr vert="horz" lIns="91440" tIns="45720" rIns="91440" bIns="45720" anchor="ctr" anchorCtr="0"/>
                    <a:p>
                      <a:pPr algn="l">
                        <a:defRPr/>
                      </a:pPr>
                      <a:r>
                        <a:rPr sz="1725" b="0">
                          <a:solidFill>
                            <a:srgbClr val="53675e"/>
                          </a:solidFill>
                          <a:latin typeface="맑은 고딕"/>
                          <a:ea typeface="맑은 고딕"/>
                          <a:cs typeface="맑은 고딕"/>
                        </a:rPr>
                        <a:t>04 첫 교육 완료 확인</a:t>
                      </a:r>
                      <a:endParaRPr sz="1725"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교육기관의 집계로 첫 교육 완료 여부 확인</a:t>
                      </a:r>
                      <a:endParaRPr sz="1725" b="0">
                        <a:solidFill>
                          <a:srgbClr val="53675e"/>
                        </a:solidFill>
                        <a:latin typeface="맑은 고딕"/>
                        <a:ea typeface="맑은 고딕"/>
                        <a:cs typeface="맑은 고딕"/>
                      </a:endParaRPr>
                    </a:p>
                  </a:txBody>
                  <a:tcPr marL="91440" marR="91440" anchor="ctr">
                    <a:solidFill>
                      <a:srgbClr val="f4f8f5"/>
                    </a:solidFill>
                  </a:tcPr>
                </a:tc>
              </a:tr>
              <a:tr h="619125">
                <a:tc>
                  <a:txBody>
                    <a:bodyPr vert="horz" lIns="91440" tIns="45720" rIns="91440" bIns="45720" anchor="ctr" anchorCtr="0"/>
                    <a:p>
                      <a:pPr algn="l">
                        <a:defRPr/>
                      </a:pPr>
                      <a:r>
                        <a:rPr sz="1725" b="0">
                          <a:solidFill>
                            <a:srgbClr val="53675e"/>
                          </a:solidFill>
                          <a:latin typeface="맑은 고딕"/>
                          <a:ea typeface="맑은 고딕"/>
                          <a:cs typeface="맑은 고딕"/>
                        </a:rPr>
                        <a:t>05 미참여 사유 점검</a:t>
                      </a:r>
                      <a:endParaRPr sz="1725"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725" b="0">
                          <a:solidFill>
                            <a:srgbClr val="53675e"/>
                          </a:solidFill>
                          <a:latin typeface="맑은 고딕"/>
                          <a:ea typeface="맑은 고딕"/>
                          <a:cs typeface="맑은 고딕"/>
                        </a:rPr>
                        <a:t>일정·이동·안내의 어려움을 확인하고 기존 절차 보완</a:t>
                      </a:r>
                      <a:endParaRPr sz="1725" b="0">
                        <a:solidFill>
                          <a:srgbClr val="53675e"/>
                        </a:solidFill>
                        <a:latin typeface="맑은 고딕"/>
                        <a:ea typeface="맑은 고딕"/>
                        <a:cs typeface="맑은 고딕"/>
                      </a:endParaRPr>
                    </a:p>
                  </a:txBody>
                  <a:tcPr marL="91440" marR="91440" anchor="ctr">
                    <a:solidFill>
                      <a:srgbClr val="ffffff"/>
                    </a:solidFill>
                  </a:tcPr>
                </a:tc>
              </a:tr>
            </a:tbl>
          </a:graphicData>
        </a:graphic>
      </p:graphicFrame>
      <p:sp>
        <p:nvSpPr>
          <p:cNvPr id="17" name="시범 적용 제안. 실제 기관의 현재 절차·정원·인력 확인 "/>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시범 적용 제안. 실제 기관의 현재 절차·정원·인력 확인 후 채택 여부를 결정.</a:t>
            </a:r>
            <a:endParaRPr sz="1275" b="1">
              <a:solidFill>
                <a:srgbClr val="ffffff"/>
              </a:solidFill>
              <a:latin typeface="맑은 고딕"/>
              <a:ea typeface="맑은 고딕"/>
              <a:cs typeface="맑은 고딕"/>
            </a:endParaRPr>
          </a:p>
        </p:txBody>
      </p:sp>
      <p:sp>
        <p:nvSpPr>
          <p:cNvPr id="18" name="15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15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5  기존 대응과 실행 제안"/>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05  기존 대응과 실행 제안</a:t>
            </a:r>
            <a:endParaRPr sz="2850" b="1">
              <a:solidFill>
                <a:srgbClr val="0c493a"/>
              </a:solidFill>
              <a:latin typeface="맑은 고딕"/>
              <a:ea typeface="맑은 고딕"/>
              <a:cs typeface="맑은 고딕"/>
            </a:endParaRPr>
          </a:p>
        </p:txBody>
      </p:sp>
      <p:sp>
        <p:nvSpPr>
          <p:cNvPr id="14" name="기존 서비스 접점별 실행 위치와 활동 제안"/>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기존 서비스 접점별 실행 위치와 활동 제안</a:t>
            </a:r>
            <a:endParaRPr sz="2025" b="1">
              <a:solidFill>
                <a:srgbClr val="20352d"/>
              </a:solidFill>
              <a:latin typeface="맑은 고딕"/>
              <a:ea typeface="맑은 고딕"/>
              <a:cs typeface="맑은 고딕"/>
            </a:endParaRPr>
          </a:p>
        </p:txBody>
      </p:sp>
      <p:sp>
        <p:nvSpPr>
          <p:cNvPr id="15" name="신규 시설 입지 확정 전, 이미 운영 중인 접점에서의 보완"/>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신규 시설 입지 확정 전, 이미 운영 중인 접점에서의 보완 가능성 검토</a:t>
            </a:r>
            <a:endParaRPr sz="1500" b="0">
              <a:solidFill>
                <a:srgbClr val="53675e"/>
              </a:solidFill>
              <a:latin typeface="맑은 고딕"/>
              <a:ea typeface="맑은 고딕"/>
              <a:cs typeface="맑은 고딕"/>
            </a:endParaRPr>
          </a:p>
        </p:txBody>
      </p:sp>
      <p:graphicFrame>
        <p:nvGraphicFramePr>
          <p:cNvPr id="25" name=""/>
          <p:cNvGraphicFramePr/>
          <p:nvPr/>
        </p:nvGraphicFramePr>
        <p:xfrm>
          <a:off x="609600" y="2000250"/>
          <a:ext cx="10972800" cy="3762375"/>
        </p:xfrm>
        <a:graphic>
          <a:graphicData uri="http://schemas.openxmlformats.org/drawingml/2006/table">
            <a:tbl>
              <a:tblGrid>
                <a:gridCol w="2766252"/>
                <a:gridCol w="4333795"/>
                <a:gridCol w="3872753"/>
              </a:tblGrid>
              <a:tr h="752475">
                <a:tc>
                  <a:txBody>
                    <a:bodyPr vert="horz" lIns="91440" tIns="45720" rIns="91440" bIns="45720" anchor="ctr" anchorCtr="0"/>
                    <a:p>
                      <a:pPr algn="l">
                        <a:defRPr/>
                      </a:pPr>
                      <a:r>
                        <a:rPr sz="1650" b="1">
                          <a:solidFill>
                            <a:srgbClr val="20352d"/>
                          </a:solidFill>
                          <a:latin typeface="맑은 고딕"/>
                          <a:ea typeface="맑은 고딕"/>
                          <a:cs typeface="맑은 고딕"/>
                        </a:rPr>
                        <a:t>검토 위치</a:t>
                      </a:r>
                      <a:endParaRPr sz="1650"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650" b="1">
                          <a:solidFill>
                            <a:srgbClr val="20352d"/>
                          </a:solidFill>
                          <a:latin typeface="맑은 고딕"/>
                          <a:ea typeface="맑은 고딕"/>
                          <a:cs typeface="맑은 고딕"/>
                        </a:rPr>
                        <a:t>담당 주체 · 제안 활동</a:t>
                      </a:r>
                      <a:endParaRPr sz="1650"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650" b="1">
                          <a:solidFill>
                            <a:srgbClr val="20352d"/>
                          </a:solidFill>
                          <a:latin typeface="맑은 고딕"/>
                          <a:ea typeface="맑은 고딕"/>
                          <a:cs typeface="맑은 고딕"/>
                        </a:rPr>
                        <a:t>실행 전 확인</a:t>
                      </a:r>
                      <a:endParaRPr sz="1650" b="1">
                        <a:solidFill>
                          <a:srgbClr val="20352d"/>
                        </a:solidFill>
                        <a:latin typeface="맑은 고딕"/>
                        <a:ea typeface="맑은 고딕"/>
                        <a:cs typeface="맑은 고딕"/>
                      </a:endParaRPr>
                    </a:p>
                  </a:txBody>
                  <a:tcPr marL="91440" marR="91440" anchor="ctr">
                    <a:solidFill>
                      <a:srgbClr val="ddece5"/>
                    </a:solidFill>
                  </a:tcPr>
                </a:tc>
              </a:tr>
              <a:tr h="752475">
                <a:tc>
                  <a:txBody>
                    <a:bodyPr vert="horz" lIns="91440" tIns="45720" rIns="91440" bIns="45720" anchor="ctr" anchorCtr="0"/>
                    <a:p>
                      <a:pPr algn="l">
                        <a:defRPr/>
                      </a:pPr>
                      <a:r>
                        <a:rPr sz="1650" b="0">
                          <a:solidFill>
                            <a:srgbClr val="53675e"/>
                          </a:solidFill>
                          <a:latin typeface="맑은 고딕"/>
                          <a:ea typeface="맑은 고딕"/>
                          <a:cs typeface="맑은 고딕"/>
                        </a:rPr>
                        <a:t>다대 건강생활지원센터</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상담·안내 접점</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센터·교육 담당자</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대상 조건·참여 의향 확인과 기존 교육 연결</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현행 절차·담당 인력</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교육 정원과 중복 업무</a:t>
                      </a:r>
                      <a:endParaRPr sz="1650" b="0">
                        <a:solidFill>
                          <a:srgbClr val="53675e"/>
                        </a:solidFill>
                        <a:latin typeface="맑은 고딕"/>
                        <a:ea typeface="맑은 고딕"/>
                        <a:cs typeface="맑은 고딕"/>
                      </a:endParaRPr>
                    </a:p>
                  </a:txBody>
                  <a:tcPr marL="91440" marR="91440" anchor="ctr">
                    <a:solidFill>
                      <a:srgbClr val="ffffff"/>
                    </a:solidFill>
                  </a:tcPr>
                </a:tc>
              </a:tr>
              <a:tr h="752475">
                <a:tc>
                  <a:txBody>
                    <a:bodyPr vert="horz" lIns="91440" tIns="45720" rIns="91440" bIns="45720" anchor="ctr" anchorCtr="0"/>
                    <a:p>
                      <a:pPr algn="l">
                        <a:defRPr/>
                      </a:pPr>
                      <a:r>
                        <a:rPr sz="1650" b="0">
                          <a:solidFill>
                            <a:srgbClr val="53675e"/>
                          </a:solidFill>
                          <a:latin typeface="맑은 고딕"/>
                          <a:ea typeface="맑은 고딕"/>
                          <a:cs typeface="맑은 고딕"/>
                        </a:rPr>
                        <a:t>사하구 기존 교육의</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실제 운영 장소</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보건소·교육 운영기관</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예약·첫 교육 완료 여부의 집계 확인</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기관별 일정·장소 확정</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안내 대상과 추적기간 일치</a:t>
                      </a:r>
                      <a:endParaRPr sz="1650" b="0">
                        <a:solidFill>
                          <a:srgbClr val="53675e"/>
                        </a:solidFill>
                        <a:latin typeface="맑은 고딕"/>
                        <a:ea typeface="맑은 고딕"/>
                        <a:cs typeface="맑은 고딕"/>
                      </a:endParaRPr>
                    </a:p>
                  </a:txBody>
                  <a:tcPr marL="91440" marR="91440" anchor="ctr">
                    <a:solidFill>
                      <a:srgbClr val="f4f8f5"/>
                    </a:solidFill>
                  </a:tcPr>
                </a:tc>
              </a:tr>
              <a:tr h="752475">
                <a:tc>
                  <a:txBody>
                    <a:bodyPr vert="horz" lIns="91440" tIns="45720" rIns="91440" bIns="45720" anchor="ctr" anchorCtr="0"/>
                    <a:p>
                      <a:pPr algn="l">
                        <a:defRPr/>
                      </a:pPr>
                      <a:r>
                        <a:rPr sz="1650" b="0">
                          <a:solidFill>
                            <a:srgbClr val="53675e"/>
                          </a:solidFill>
                          <a:latin typeface="맑은 고딕"/>
                          <a:ea typeface="맑은 고딕"/>
                          <a:cs typeface="맑은 고딕"/>
                        </a:rPr>
                        <a:t>금곡 지역 기존</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상담·등록관리 접점</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북구 보건소·센터: 운영·참여 장애 확인</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확인된 사유에 맞춘 일정·안내 조정</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현행 운영 여부·이용 조건</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미참여 사유의 확인 가능성</a:t>
                      </a:r>
                      <a:endParaRPr sz="1650" b="0">
                        <a:solidFill>
                          <a:srgbClr val="53675e"/>
                        </a:solidFill>
                        <a:latin typeface="맑은 고딕"/>
                        <a:ea typeface="맑은 고딕"/>
                        <a:cs typeface="맑은 고딕"/>
                      </a:endParaRPr>
                    </a:p>
                  </a:txBody>
                  <a:tcPr marL="91440" marR="91440" anchor="ctr">
                    <a:solidFill>
                      <a:srgbClr val="ffffff"/>
                    </a:solidFill>
                  </a:tcPr>
                </a:tc>
              </a:tr>
              <a:tr h="752475">
                <a:tc>
                  <a:txBody>
                    <a:bodyPr vert="horz" lIns="91440" tIns="45720" rIns="91440" bIns="45720" anchor="ctr" anchorCtr="0"/>
                    <a:p>
                      <a:pPr algn="l">
                        <a:defRPr/>
                      </a:pPr>
                      <a:r>
                        <a:rPr sz="1650" b="0">
                          <a:solidFill>
                            <a:srgbClr val="53675e"/>
                          </a:solidFill>
                          <a:latin typeface="맑은 고딕"/>
                          <a:ea typeface="맑은 고딕"/>
                          <a:cs typeface="맑은 고딕"/>
                        </a:rPr>
                        <a:t>부전동 비교 사례</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소방·행정: 사고 기전·장소 확인</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기존 대응 대조 후 예방 활동 검토</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특정 업소·원인의 단정 금지</a:t>
                      </a:r>
                      <a:endParaRPr sz="1650" b="0">
                        <a:solidFill>
                          <a:srgbClr val="53675e"/>
                        </a:solidFill>
                        <a:latin typeface="맑은 고딕"/>
                        <a:ea typeface="맑은 고딕"/>
                        <a:cs typeface="맑은 고딕"/>
                      </a:endParaRPr>
                    </a:p>
                    <a:p>
                      <a:pPr algn="l">
                        <a:defRPr/>
                      </a:pPr>
                      <a:r>
                        <a:rPr sz="1650" b="0">
                          <a:solidFill>
                            <a:srgbClr val="53675e"/>
                          </a:solidFill>
                          <a:latin typeface="맑은 고딕"/>
                          <a:ea typeface="맑은 고딕"/>
                          <a:cs typeface="맑은 고딕"/>
                        </a:rPr>
                        <a:t>예방 활동은 후속 결정</a:t>
                      </a:r>
                      <a:endParaRPr sz="1650" b="0">
                        <a:solidFill>
                          <a:srgbClr val="53675e"/>
                        </a:solidFill>
                        <a:latin typeface="맑은 고딕"/>
                        <a:ea typeface="맑은 고딕"/>
                        <a:cs typeface="맑은 고딕"/>
                      </a:endParaRPr>
                    </a:p>
                  </a:txBody>
                  <a:tcPr marL="91440" marR="91440" anchor="ctr">
                    <a:solidFill>
                      <a:srgbClr val="f4f8f5"/>
                    </a:solidFill>
                  </a:tcPr>
                </a:tc>
              </a:tr>
            </a:tbl>
          </a:graphicData>
        </a:graphic>
      </p:graphicFrame>
      <p:sp>
        <p:nvSpPr>
          <p:cNvPr id="17" name="기관 협의를 위한 위치·활동 제안 · 확정 주소·정원·운영"/>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sz="1275" b="1">
                <a:solidFill>
                  <a:srgbClr val="ffffff"/>
                </a:solidFill>
                <a:latin typeface="맑은 고딕"/>
                <a:ea typeface="맑은 고딕"/>
                <a:cs typeface="맑은 고딕"/>
              </a:rPr>
              <a:t>기관 협의를 위한 위치·활동 제안 · 확정 주소·정원·운영시간은 담당 기관 확인 후 반영</a:t>
            </a:r>
            <a:endParaRPr sz="1275" b="1">
              <a:solidFill>
                <a:srgbClr val="ffffff"/>
              </a:solidFill>
              <a:latin typeface="맑은 고딕"/>
              <a:ea typeface="맑은 고딕"/>
              <a:cs typeface="맑은 고딕"/>
            </a:endParaRPr>
          </a:p>
        </p:txBody>
      </p:sp>
      <p:sp>
        <p:nvSpPr>
          <p:cNvPr id="18" name="16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16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6  웹 시각화와 활용"/>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06  웹 시각화와 활용</a:t>
            </a:r>
            <a:endParaRPr sz="2850" b="1">
              <a:solidFill>
                <a:srgbClr val="0c493a"/>
              </a:solidFill>
              <a:latin typeface="맑은 고딕"/>
              <a:ea typeface="맑은 고딕"/>
              <a:cs typeface="맑은 고딕"/>
            </a:endParaRPr>
          </a:p>
        </p:txBody>
      </p:sp>
      <p:sp>
        <p:nvSpPr>
          <p:cNvPr id="14" name="웹에서 부산 전체와 기관 위치를 탐색"/>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웹에서 부산 전체와 기관 위치를 탐색</a:t>
            </a:r>
            <a:endParaRPr sz="2025" b="1">
              <a:solidFill>
                <a:srgbClr val="20352d"/>
              </a:solidFill>
              <a:latin typeface="맑은 고딕"/>
              <a:ea typeface="맑은 고딕"/>
              <a:cs typeface="맑은 고딕"/>
            </a:endParaRPr>
          </a:p>
        </p:txBody>
      </p:sp>
      <p:sp>
        <p:nvSpPr>
          <p:cNvPr id="15" name="실제 부산 안전나침반 웹 화면"/>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실제 부산 안전나침반 웹 화면</a:t>
            </a:r>
            <a:endParaRPr sz="1500" b="0">
              <a:solidFill>
                <a:srgbClr val="53675e"/>
              </a:solidFill>
              <a:latin typeface="맑은 고딕"/>
              <a:ea typeface="맑은 고딕"/>
              <a:cs typeface="맑은 고딕"/>
            </a:endParaRPr>
          </a:p>
        </p:txBody>
      </p:sp>
      <p:pic>
        <p:nvPicPr>
          <p:cNvPr id="25" name=""/>
          <p:cNvPicPr>
            <a:picLocks noChangeAspect="1"/>
          </p:cNvPicPr>
          <p:nvPr/>
        </p:nvPicPr>
        <p:blipFill rotWithShape="1">
          <a:blip r:embed="rId3"/>
          <a:stretch>
            <a:fillRect/>
          </a:stretch>
        </p:blipFill>
        <p:spPr>
          <a:xfrm>
            <a:off x="2387600" y="1733550"/>
            <a:ext cx="7416800" cy="4171950"/>
          </a:xfrm>
          <a:prstGeom prst="rect">
            <a:avLst/>
          </a:prstGeom>
        </p:spPr>
      </p:pic>
      <p:sp>
        <p:nvSpPr>
          <p:cNvPr id="17" name="캡처 기준 C조건 574,662건. 발표 차트의 555,7"/>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신고 분포와 소방관서 위치를 한 화면에서 확인하며 관심 지역을 찾고 지역별 특성을 반복 비교</a:t>
            </a:r>
            <a:r>
              <a:rPr sz="1275" b="1">
                <a:solidFill>
                  <a:srgbClr val="ffffff"/>
                </a:solidFill>
                <a:latin typeface="맑은 고딕"/>
                <a:ea typeface="맑은 고딕"/>
                <a:cs typeface="맑은 고딕"/>
              </a:rPr>
              <a:t>.</a:t>
            </a:r>
            <a:endParaRPr sz="1275" b="1">
              <a:solidFill>
                <a:srgbClr val="ffffff"/>
              </a:solidFill>
              <a:latin typeface="맑은 고딕"/>
              <a:ea typeface="맑은 고딕"/>
              <a:cs typeface="맑은 고딕"/>
            </a:endParaRPr>
          </a:p>
        </p:txBody>
      </p:sp>
      <p:sp>
        <p:nvSpPr>
          <p:cNvPr id="18" name="17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17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6  웹 시각화와 활용"/>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06  웹 시각화와 활용</a:t>
            </a:r>
            <a:endParaRPr sz="2850" b="1">
              <a:solidFill>
                <a:srgbClr val="0c493a"/>
              </a:solidFill>
              <a:latin typeface="맑은 고딕"/>
              <a:ea typeface="맑은 고딕"/>
              <a:cs typeface="맑은 고딕"/>
            </a:endParaRPr>
          </a:p>
        </p:txBody>
      </p:sp>
      <p:sp>
        <p:nvSpPr>
          <p:cNvPr id="14" name="지역 선택에 따른 비교 근거 탐색"/>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지역 선택에 따른 비교 근거 탐색</a:t>
            </a:r>
            <a:endParaRPr sz="2025" b="1">
              <a:solidFill>
                <a:srgbClr val="20352d"/>
              </a:solidFill>
              <a:latin typeface="맑은 고딕"/>
              <a:ea typeface="맑은 고딕"/>
              <a:cs typeface="맑은 고딕"/>
            </a:endParaRPr>
          </a:p>
        </p:txBody>
      </p:sp>
      <p:sp>
        <p:nvSpPr>
          <p:cNvPr id="15" name="사하구 다대동의 실제 지역 상세 화면"/>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사하구 다대동의 실제 지역 상세 화면</a:t>
            </a:r>
            <a:endParaRPr sz="1500" b="0">
              <a:solidFill>
                <a:srgbClr val="53675e"/>
              </a:solidFill>
              <a:latin typeface="맑은 고딕"/>
              <a:ea typeface="맑은 고딕"/>
              <a:cs typeface="맑은 고딕"/>
            </a:endParaRPr>
          </a:p>
        </p:txBody>
      </p:sp>
      <p:sp>
        <p:nvSpPr>
          <p:cNvPr id="17" name="화면의 구급 86.8%는 대분류 비중. 발표의 질병 37."/>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다대동은 부산의 나머지 지역보다 구급 신고 비중이 높아 세부 유형별 검토가 필요</a:t>
            </a:r>
            <a:endParaRPr lang="ko-KR" altLang="en-US" sz="1275" b="1">
              <a:solidFill>
                <a:srgbClr val="ffffff"/>
              </a:solidFill>
              <a:latin typeface="맑은 고딕"/>
              <a:ea typeface="맑은 고딕"/>
              <a:cs typeface="맑은 고딕"/>
            </a:endParaRPr>
          </a:p>
        </p:txBody>
      </p:sp>
      <p:sp>
        <p:nvSpPr>
          <p:cNvPr id="18" name="18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18 / 22</a:t>
            </a:r>
            <a:endParaRPr sz="900" b="0">
              <a:solidFill>
                <a:srgbClr val="53675e"/>
              </a:solidFill>
              <a:latin typeface="맑은 고딕"/>
              <a:ea typeface="맑은 고딕"/>
              <a:cs typeface="맑은 고딕"/>
            </a:endParaRPr>
          </a:p>
        </p:txBody>
      </p:sp>
      <p:pic>
        <p:nvPicPr>
          <p:cNvPr id="26" name=""/>
          <p:cNvPicPr>
            <a:picLocks noChangeAspect="1"/>
          </p:cNvPicPr>
          <p:nvPr/>
        </p:nvPicPr>
        <p:blipFill rotWithShape="1">
          <a:blip r:embed="rId3"/>
          <a:stretch>
            <a:fillRect/>
          </a:stretch>
        </p:blipFill>
        <p:spPr>
          <a:xfrm>
            <a:off x="1937764" y="1771650"/>
            <a:ext cx="8316472" cy="4068552"/>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25" name="group-panel"/>
          <p:cNvSpPr>
            <a:spLocks noGrp="1"/>
          </p:cNvSpPr>
          <p:nvPr/>
        </p:nvSpPr>
        <p:spPr>
          <a:xfrm>
            <a:off x="8724900" y="1924050"/>
            <a:ext cx="3009900" cy="3943350"/>
          </a:xfrm>
          <a:prstGeom prst="rect">
            <a:avLst/>
          </a:prstGeom>
          <a:solidFill>
            <a:srgbClr val="f0f6f2"/>
          </a:solidFill>
          <a:ln w="9525">
            <a:solidFill>
              <a:srgbClr val="c9ddd1"/>
            </a:solidFill>
          </a:ln>
        </p:spPr>
        <p:txBody>
          <a:bodyPr anchor="ctr"/>
          <a:p>
            <a:pPr algn="ctr">
              <a:defRPr/>
            </a:pPr>
            <a:endParaRPr lang="ko-KR" altLang="en-US"/>
          </a:p>
        </p:txBody>
      </p:sp>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6  웹 시각화와 활용"/>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06  웹 시각화와 활용</a:t>
            </a:r>
            <a:endParaRPr sz="2850" b="1">
              <a:solidFill>
                <a:srgbClr val="0c493a"/>
              </a:solidFill>
              <a:latin typeface="맑은 고딕"/>
              <a:ea typeface="맑은 고딕"/>
              <a:cs typeface="맑은 고딕"/>
            </a:endParaRPr>
          </a:p>
        </p:txBody>
      </p:sp>
      <p:sp>
        <p:nvSpPr>
          <p:cNvPr id="14" name="시간 분포와 주민 후보를 구분해 탐색"/>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시간 분포와 주민 후보를 구분해 탐색</a:t>
            </a:r>
            <a:endParaRPr sz="2025" b="1">
              <a:solidFill>
                <a:srgbClr val="20352d"/>
              </a:solidFill>
              <a:latin typeface="맑은 고딕"/>
              <a:ea typeface="맑은 고딕"/>
              <a:cs typeface="맑은 고딕"/>
            </a:endParaRPr>
          </a:p>
        </p:txBody>
      </p:sp>
      <p:sp>
        <p:nvSpPr>
          <p:cNvPr id="15" name="실제 상세 패널의 확대 화면"/>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실제 상세 패널의 확대 화면</a:t>
            </a:r>
            <a:endParaRPr sz="1500" b="0">
              <a:solidFill>
                <a:srgbClr val="53675e"/>
              </a:solidFill>
              <a:latin typeface="맑은 고딕"/>
              <a:ea typeface="맑은 고딕"/>
              <a:cs typeface="맑은 고딕"/>
            </a:endParaRPr>
          </a:p>
        </p:txBody>
      </p:sp>
      <p:sp>
        <p:nvSpPr>
          <p:cNvPr id="18" name="시간 패널"/>
          <p:cNvSpPr>
            <a:spLocks noGrp="1"/>
          </p:cNvSpPr>
          <p:nvPr/>
        </p:nvSpPr>
        <p:spPr>
          <a:xfrm>
            <a:off x="8810625" y="2076450"/>
            <a:ext cx="2771775" cy="361950"/>
          </a:xfrm>
          <a:prstGeom prst="rect">
            <a:avLst/>
          </a:prstGeom>
          <a:noFill/>
          <a:ln w="0">
            <a:noFill/>
          </a:ln>
        </p:spPr>
        <p:txBody>
          <a:bodyPr anchor="ctr">
            <a:noAutofit/>
          </a:bodyPr>
          <a:lstStyle/>
          <a:p>
            <a:pPr algn="l">
              <a:defRPr sz="1800" b="1">
                <a:solidFill>
                  <a:srgbClr val="0c493a"/>
                </a:solidFill>
                <a:latin typeface="맑은 고딕"/>
                <a:ea typeface="맑은 고딕"/>
                <a:cs typeface="맑은 고딕"/>
              </a:defRPr>
            </a:pPr>
            <a:r>
              <a:rPr lang="ko-KR" altLang="en-US" sz="1800" b="1">
                <a:solidFill>
                  <a:srgbClr val="0c493a"/>
                </a:solidFill>
                <a:latin typeface="맑은 고딕"/>
                <a:ea typeface="맑은 고딕"/>
                <a:cs typeface="맑은 고딕"/>
              </a:rPr>
              <a:t>신고 시각</a:t>
            </a:r>
            <a:endParaRPr lang="ko-KR" altLang="en-US" sz="1800" b="1">
              <a:solidFill>
                <a:srgbClr val="0c493a"/>
              </a:solidFill>
              <a:latin typeface="맑은 고딕"/>
              <a:ea typeface="맑은 고딕"/>
              <a:cs typeface="맑은 고딕"/>
            </a:endParaRPr>
          </a:p>
        </p:txBody>
      </p:sp>
      <p:sp>
        <p:nvSpPr>
          <p:cNvPr id="19" name="선택 지역·조건의 접수 분포 확인"/>
          <p:cNvSpPr>
            <a:spLocks noGrp="1"/>
          </p:cNvSpPr>
          <p:nvPr/>
        </p:nvSpPr>
        <p:spPr>
          <a:xfrm>
            <a:off x="8810625" y="2486025"/>
            <a:ext cx="2771775" cy="685800"/>
          </a:xfrm>
          <a:prstGeom prst="rect">
            <a:avLst/>
          </a:prstGeom>
          <a:noFill/>
          <a:ln w="0">
            <a:noFill/>
          </a:ln>
        </p:spPr>
        <p:txBody>
          <a:bodyPr anchor="ctr">
            <a:noAutofit/>
          </a:bodyPr>
          <a:lstStyle/>
          <a:p>
            <a:pPr algn="l">
              <a:defRPr sz="1575" b="0">
                <a:solidFill>
                  <a:srgbClr val="53675e"/>
                </a:solidFill>
                <a:latin typeface="맑은 고딕"/>
                <a:ea typeface="맑은 고딕"/>
                <a:cs typeface="맑은 고딕"/>
              </a:defRPr>
            </a:pPr>
            <a:r>
              <a:rPr lang="ko-KR" altLang="en-US" sz="1575" b="0">
                <a:solidFill>
                  <a:srgbClr val="53675e"/>
                </a:solidFill>
                <a:latin typeface="맑은 고딕"/>
                <a:ea typeface="맑은 고딕"/>
                <a:cs typeface="맑은 고딕"/>
              </a:rPr>
              <a:t>해당 지역의 신고</a:t>
            </a:r>
            <a:r>
              <a:rPr sz="1575" b="0">
                <a:solidFill>
                  <a:srgbClr val="53675e"/>
                </a:solidFill>
                <a:latin typeface="맑은 고딕"/>
                <a:ea typeface="맑은 고딕"/>
                <a:cs typeface="맑은 고딕"/>
              </a:rPr>
              <a:t> 접수 분포</a:t>
            </a:r>
            <a:endParaRPr sz="1575" b="0">
              <a:solidFill>
                <a:srgbClr val="53675e"/>
              </a:solidFill>
              <a:latin typeface="맑은 고딕"/>
              <a:ea typeface="맑은 고딕"/>
              <a:cs typeface="맑은 고딕"/>
            </a:endParaRPr>
          </a:p>
        </p:txBody>
      </p:sp>
      <p:sp>
        <p:nvSpPr>
          <p:cNvPr id="20" name="주민 패널"/>
          <p:cNvSpPr>
            <a:spLocks noGrp="1"/>
          </p:cNvSpPr>
          <p:nvPr/>
        </p:nvSpPr>
        <p:spPr>
          <a:xfrm>
            <a:off x="8810625" y="3295650"/>
            <a:ext cx="2771775" cy="361950"/>
          </a:xfrm>
          <a:prstGeom prst="rect">
            <a:avLst/>
          </a:prstGeom>
          <a:noFill/>
          <a:ln w="0">
            <a:noFill/>
          </a:ln>
        </p:spPr>
        <p:txBody>
          <a:bodyPr anchor="ctr">
            <a:noAutofit/>
          </a:bodyPr>
          <a:lstStyle/>
          <a:p>
            <a:pPr algn="l">
              <a:defRPr sz="1800" b="1">
                <a:solidFill>
                  <a:srgbClr val="0c493a"/>
                </a:solidFill>
                <a:latin typeface="맑은 고딕"/>
                <a:ea typeface="맑은 고딕"/>
                <a:cs typeface="맑은 고딕"/>
              </a:defRPr>
            </a:pPr>
            <a:r>
              <a:rPr lang="ko-KR" altLang="en-US" sz="1800" b="1">
                <a:solidFill>
                  <a:srgbClr val="0c493a"/>
                </a:solidFill>
                <a:latin typeface="맑은 고딕"/>
                <a:ea typeface="맑은 고딕"/>
                <a:cs typeface="맑은 고딕"/>
              </a:rPr>
              <a:t>인구 통계</a:t>
            </a:r>
            <a:endParaRPr lang="ko-KR" altLang="en-US" sz="1800" b="1">
              <a:solidFill>
                <a:srgbClr val="0c493a"/>
              </a:solidFill>
              <a:latin typeface="맑은 고딕"/>
              <a:ea typeface="맑은 고딕"/>
              <a:cs typeface="맑은 고딕"/>
            </a:endParaRPr>
          </a:p>
        </p:txBody>
      </p:sp>
      <p:sp>
        <p:nvSpPr>
          <p:cNvPr id="21" name="연결 가능한 행정동을 별도로 선택"/>
          <p:cNvSpPr>
            <a:spLocks noGrp="1"/>
          </p:cNvSpPr>
          <p:nvPr/>
        </p:nvSpPr>
        <p:spPr>
          <a:xfrm>
            <a:off x="8810625" y="3705225"/>
            <a:ext cx="2771775" cy="685800"/>
          </a:xfrm>
          <a:prstGeom prst="rect">
            <a:avLst/>
          </a:prstGeom>
          <a:noFill/>
          <a:ln w="0">
            <a:noFill/>
          </a:ln>
        </p:spPr>
        <p:txBody>
          <a:bodyPr anchor="ctr">
            <a:noAutofit/>
          </a:bodyPr>
          <a:lstStyle/>
          <a:p>
            <a:pPr algn="l">
              <a:defRPr sz="1575" b="0">
                <a:solidFill>
                  <a:srgbClr val="53675e"/>
                </a:solidFill>
                <a:latin typeface="맑은 고딕"/>
                <a:ea typeface="맑은 고딕"/>
                <a:cs typeface="맑은 고딕"/>
              </a:defRPr>
            </a:pPr>
            <a:r>
              <a:rPr sz="1575" b="0">
                <a:solidFill>
                  <a:srgbClr val="53675e"/>
                </a:solidFill>
                <a:latin typeface="맑은 고딕"/>
                <a:ea typeface="맑은 고딕"/>
                <a:cs typeface="맑은 고딕"/>
              </a:rPr>
              <a:t>연결 가능한 행정동을 별도로 선택</a:t>
            </a:r>
            <a:endParaRPr sz="1575" b="0">
              <a:solidFill>
                <a:srgbClr val="53675e"/>
              </a:solidFill>
              <a:latin typeface="맑은 고딕"/>
              <a:ea typeface="맑은 고딕"/>
              <a:cs typeface="맑은 고딕"/>
            </a:endParaRPr>
          </a:p>
        </p:txBody>
      </p:sp>
      <p:sp>
        <p:nvSpPr>
          <p:cNvPr id="22" name="해석할 때"/>
          <p:cNvSpPr>
            <a:spLocks noGrp="1"/>
          </p:cNvSpPr>
          <p:nvPr/>
        </p:nvSpPr>
        <p:spPr>
          <a:xfrm>
            <a:off x="8810625" y="4514850"/>
            <a:ext cx="2771775" cy="361950"/>
          </a:xfrm>
          <a:prstGeom prst="rect">
            <a:avLst/>
          </a:prstGeom>
          <a:noFill/>
          <a:ln w="0">
            <a:noFill/>
          </a:ln>
        </p:spPr>
        <p:txBody>
          <a:bodyPr anchor="ctr">
            <a:noAutofit/>
          </a:bodyPr>
          <a:lstStyle/>
          <a:p>
            <a:pPr algn="l">
              <a:defRPr sz="1800" b="1">
                <a:solidFill>
                  <a:srgbClr val="0c493a"/>
                </a:solidFill>
                <a:latin typeface="맑은 고딕"/>
                <a:ea typeface="맑은 고딕"/>
                <a:cs typeface="맑은 고딕"/>
              </a:defRPr>
            </a:pPr>
            <a:r>
              <a:rPr lang="ko-KR" altLang="en-US" sz="1800" b="1">
                <a:solidFill>
                  <a:srgbClr val="0c493a"/>
                </a:solidFill>
                <a:latin typeface="맑은 고딕"/>
                <a:ea typeface="맑은 고딕"/>
                <a:cs typeface="맑은 고딕"/>
              </a:rPr>
              <a:t>대응 방향</a:t>
            </a:r>
            <a:endParaRPr lang="ko-KR" altLang="en-US" sz="1800" b="1">
              <a:solidFill>
                <a:srgbClr val="0c493a"/>
              </a:solidFill>
              <a:latin typeface="맑은 고딕"/>
              <a:ea typeface="맑은 고딕"/>
              <a:cs typeface="맑은 고딕"/>
            </a:endParaRPr>
          </a:p>
        </p:txBody>
      </p:sp>
      <p:sp>
        <p:nvSpPr>
          <p:cNvPr id="23" name="접수 동명과 행정동을 같은 공간으로 단정하지 않음"/>
          <p:cNvSpPr>
            <a:spLocks noGrp="1"/>
          </p:cNvSpPr>
          <p:nvPr/>
        </p:nvSpPr>
        <p:spPr>
          <a:xfrm>
            <a:off x="8810625" y="4924425"/>
            <a:ext cx="2771775" cy="685800"/>
          </a:xfrm>
          <a:prstGeom prst="rect">
            <a:avLst/>
          </a:prstGeom>
          <a:noFill/>
          <a:ln w="0">
            <a:noFill/>
          </a:ln>
        </p:spPr>
        <p:txBody>
          <a:bodyPr anchor="ctr">
            <a:noAutofit/>
          </a:bodyPr>
          <a:lstStyle/>
          <a:p>
            <a:pPr algn="l">
              <a:defRPr sz="1575" b="0">
                <a:solidFill>
                  <a:srgbClr val="53675e"/>
                </a:solidFill>
                <a:latin typeface="맑은 고딕"/>
                <a:ea typeface="맑은 고딕"/>
                <a:cs typeface="맑은 고딕"/>
              </a:defRPr>
            </a:pPr>
            <a:r>
              <a:rPr lang="ko-KR" altLang="en-US" sz="1575" b="0">
                <a:solidFill>
                  <a:srgbClr val="53675e"/>
                </a:solidFill>
                <a:latin typeface="맑은 고딕"/>
                <a:ea typeface="맑은 고딕"/>
                <a:cs typeface="맑은 고딕"/>
              </a:rPr>
              <a:t>각 지역의 맞춤형 대응방안 제시</a:t>
            </a:r>
            <a:endParaRPr lang="ko-KR" altLang="en-US" sz="1575" b="0">
              <a:solidFill>
                <a:srgbClr val="53675e"/>
              </a:solidFill>
              <a:latin typeface="맑은 고딕"/>
              <a:ea typeface="맑은 고딕"/>
              <a:cs typeface="맑은 고딕"/>
            </a:endParaRPr>
          </a:p>
        </p:txBody>
      </p:sp>
      <p:sp>
        <p:nvSpPr>
          <p:cNvPr id="24" name="웹 접수 패널은 C조건, 주민은 별도의 2024년 12월 "/>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신고가 집중되는 시간과 행정동별 주민 구성을 함께 확인해 지역에 맞는 안내·지원 방식을 검토</a:t>
            </a:r>
            <a:endParaRPr lang="ko-KR" altLang="en-US" sz="1275" b="1">
              <a:solidFill>
                <a:srgbClr val="ffffff"/>
              </a:solidFill>
              <a:latin typeface="맑은 고딕"/>
              <a:ea typeface="맑은 고딕"/>
              <a:cs typeface="맑은 고딕"/>
            </a:endParaRPr>
          </a:p>
        </p:txBody>
      </p:sp>
      <p:sp>
        <p:nvSpPr>
          <p:cNvPr id="26" name="19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19 / 22</a:t>
            </a:r>
            <a:endParaRPr sz="900" b="0">
              <a:solidFill>
                <a:srgbClr val="53675e"/>
              </a:solidFill>
              <a:latin typeface="맑은 고딕"/>
              <a:ea typeface="맑은 고딕"/>
              <a:cs typeface="맑은 고딕"/>
            </a:endParaRPr>
          </a:p>
        </p:txBody>
      </p:sp>
      <p:pic>
        <p:nvPicPr>
          <p:cNvPr id="36" name=""/>
          <p:cNvPicPr>
            <a:picLocks noChangeAspect="1"/>
          </p:cNvPicPr>
          <p:nvPr/>
        </p:nvPicPr>
        <p:blipFill rotWithShape="1">
          <a:blip r:embed="rId3"/>
          <a:stretch>
            <a:fillRect/>
          </a:stretch>
        </p:blipFill>
        <p:spPr>
          <a:xfrm>
            <a:off x="1182754" y="1807202"/>
            <a:ext cx="1804089" cy="3954231"/>
          </a:xfrm>
          <a:prstGeom prst="rect">
            <a:avLst/>
          </a:prstGeom>
        </p:spPr>
      </p:pic>
      <p:pic>
        <p:nvPicPr>
          <p:cNvPr id="37" name=""/>
          <p:cNvPicPr>
            <a:picLocks noChangeAspect="1"/>
          </p:cNvPicPr>
          <p:nvPr/>
        </p:nvPicPr>
        <p:blipFill rotWithShape="1">
          <a:blip r:embed="rId4"/>
          <a:stretch>
            <a:fillRect/>
          </a:stretch>
        </p:blipFill>
        <p:spPr>
          <a:xfrm>
            <a:off x="3816125" y="1771650"/>
            <a:ext cx="1861169" cy="3968599"/>
          </a:xfrm>
          <a:prstGeom prst="rect">
            <a:avLst/>
          </a:prstGeom>
        </p:spPr>
      </p:pic>
      <p:pic>
        <p:nvPicPr>
          <p:cNvPr id="38" name=""/>
          <p:cNvPicPr>
            <a:picLocks noChangeAspect="1"/>
          </p:cNvPicPr>
          <p:nvPr/>
        </p:nvPicPr>
        <p:blipFill rotWithShape="1">
          <a:blip r:embed="rId5"/>
          <a:stretch>
            <a:fillRect/>
          </a:stretch>
        </p:blipFill>
        <p:spPr>
          <a:xfrm>
            <a:off x="6336631" y="1771650"/>
            <a:ext cx="1819079" cy="398978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group-panel">
            <a:extLst xmlns:a="http://schemas.openxmlformats.org/drawingml/2006/main">
              <a:ext uri="{FF2B5EF4-FFF2-40B4-BE49-F238E27FC236}">
                <a16:creationId xmlns:a16="http://schemas.microsoft.com/office/drawing/2014/main" id="{475306C2-8344-49E7-A466-0975F5B27AE7}"/>
              </a:ext>
            </a:extLst>
          </p:cNvPr>
          <p:cNvSpPr>
            <a:spLocks xmlns:a="http://schemas.openxmlformats.org/drawingml/2006/main" noGrp="1"/>
          </p:cNvSpPr>
          <p:nvPr/>
        </p:nvSpPr>
        <p:spPr>
          <a:xfrm xmlns:a="http://schemas.openxmlformats.org/drawingml/2006/main">
            <a:off x="609600" y="1990725"/>
            <a:ext cx="5372100" cy="1704975"/>
          </a:xfrm>
          <a:prstGeom xmlns:a="http://schemas.openxmlformats.org/drawingml/2006/main" prst="rect">
            <a:avLst/>
          </a:prstGeom>
          <a:solidFill xmlns:a="http://schemas.openxmlformats.org/drawingml/2006/main">
            <a:srgbClr val="F0F6F2"/>
          </a:solidFill>
          <a:ln xmlns:a="http://schemas.openxmlformats.org/drawingml/2006/main" w="9525">
            <a:solidFill>
              <a:srgbClr val="C9DDD1"/>
            </a:solidFill>
          </a:ln>
        </p:spPr>
      </p:sp>
      <p:sp>
        <p:nvSpPr>
          <p:cNvPr id="20" name="group-panel">
            <a:extLst xmlns:a="http://schemas.openxmlformats.org/drawingml/2006/main">
              <a:ext uri="{FF2B5EF4-FFF2-40B4-BE49-F238E27FC236}">
                <a16:creationId xmlns:a16="http://schemas.microsoft.com/office/drawing/2014/main" id="{77CE0990-354C-46CA-96EB-457607C003BD}"/>
              </a:ext>
            </a:extLst>
          </p:cNvPr>
          <p:cNvSpPr>
            <a:spLocks xmlns:a="http://schemas.openxmlformats.org/drawingml/2006/main" noGrp="1"/>
          </p:cNvSpPr>
          <p:nvPr/>
        </p:nvSpPr>
        <p:spPr>
          <a:xfrm xmlns:a="http://schemas.openxmlformats.org/drawingml/2006/main">
            <a:off x="6210300" y="1990725"/>
            <a:ext cx="5372100" cy="1704975"/>
          </a:xfrm>
          <a:prstGeom xmlns:a="http://schemas.openxmlformats.org/drawingml/2006/main" prst="rect">
            <a:avLst/>
          </a:prstGeom>
          <a:solidFill xmlns:a="http://schemas.openxmlformats.org/drawingml/2006/main">
            <a:srgbClr val="F0F6F2"/>
          </a:solidFill>
          <a:ln xmlns:a="http://schemas.openxmlformats.org/drawingml/2006/main" w="9525">
            <a:solidFill>
              <a:srgbClr val="C9DDD1"/>
            </a:solidFill>
          </a:ln>
        </p:spPr>
      </p:sp>
      <p:sp>
        <p:nvSpPr>
          <p:cNvPr id="24" name="group-panel">
            <a:extLst xmlns:a="http://schemas.openxmlformats.org/drawingml/2006/main">
              <a:ext uri="{FF2B5EF4-FFF2-40B4-BE49-F238E27FC236}">
                <a16:creationId xmlns:a16="http://schemas.microsoft.com/office/drawing/2014/main" id="{D0EEDFEE-7B6C-40AE-B36E-A00E7BEB6196}"/>
              </a:ext>
            </a:extLst>
          </p:cNvPr>
          <p:cNvSpPr>
            <a:spLocks xmlns:a="http://schemas.openxmlformats.org/drawingml/2006/main" noGrp="1"/>
          </p:cNvSpPr>
          <p:nvPr/>
        </p:nvSpPr>
        <p:spPr>
          <a:xfrm xmlns:a="http://schemas.openxmlformats.org/drawingml/2006/main">
            <a:off x="609600" y="3924300"/>
            <a:ext cx="5372100" cy="1704975"/>
          </a:xfrm>
          <a:prstGeom xmlns:a="http://schemas.openxmlformats.org/drawingml/2006/main" prst="rect">
            <a:avLst/>
          </a:prstGeom>
          <a:solidFill xmlns:a="http://schemas.openxmlformats.org/drawingml/2006/main">
            <a:srgbClr val="F0F6F2"/>
          </a:solidFill>
          <a:ln xmlns:a="http://schemas.openxmlformats.org/drawingml/2006/main" w="9525">
            <a:solidFill>
              <a:srgbClr val="C9DDD1"/>
            </a:solidFill>
          </a:ln>
        </p:spPr>
      </p:sp>
      <p:sp>
        <p:nvSpPr>
          <p:cNvPr id="28" name="group-panel">
            <a:extLst xmlns:a="http://schemas.openxmlformats.org/drawingml/2006/main">
              <a:ext uri="{FF2B5EF4-FFF2-40B4-BE49-F238E27FC236}">
                <a16:creationId xmlns:a16="http://schemas.microsoft.com/office/drawing/2014/main" id="{9D3F28E4-E1B0-42B3-8372-084A3AE8E1B9}"/>
              </a:ext>
            </a:extLst>
          </p:cNvPr>
          <p:cNvSpPr>
            <a:spLocks xmlns:a="http://schemas.openxmlformats.org/drawingml/2006/main" noGrp="1"/>
          </p:cNvSpPr>
          <p:nvPr/>
        </p:nvSpPr>
        <p:spPr>
          <a:xfrm xmlns:a="http://schemas.openxmlformats.org/drawingml/2006/main">
            <a:off x="6210300" y="3924300"/>
            <a:ext cx="5372100" cy="1704975"/>
          </a:xfrm>
          <a:prstGeom xmlns:a="http://schemas.openxmlformats.org/drawingml/2006/main" prst="rect">
            <a:avLst/>
          </a:prstGeom>
          <a:solidFill xmlns:a="http://schemas.openxmlformats.org/drawingml/2006/main">
            <a:srgbClr val="F0F6F2"/>
          </a:solidFill>
          <a:ln xmlns:a="http://schemas.openxmlformats.org/drawingml/2006/main" w="9525">
            <a:solidFill>
              <a:srgbClr val="C9DDD1"/>
            </a:solidFill>
          </a:ln>
        </p:spPr>
      </p:sp>
      <p:sp>
        <p:nvSpPr>
          <p:cNvPr id="5" name="theme-top-band">
            <a:extLst xmlns:a="http://schemas.openxmlformats.org/drawingml/2006/main">
              <a:ext uri="{FF2B5EF4-FFF2-40B4-BE49-F238E27FC236}">
                <a16:creationId xmlns:a16="http://schemas.microsoft.com/office/drawing/2014/main" id="{4DDAFA3B-B248-4857-9212-4AB19091D4EF}"/>
              </a:ext>
            </a:extLst>
          </p:cNvPr>
          <p:cNvSpPr>
            <a:spLocks xmlns:a="http://schemas.openxmlformats.org/drawingml/2006/main" noGrp="1"/>
          </p:cNvSpPr>
          <p:nvPr/>
        </p:nvSpPr>
        <p:spPr>
          <a:xfrm xmlns:a="http://schemas.openxmlformats.org/drawingml/2006/main">
            <a:off x="0" y="0"/>
            <a:ext cx="12192000" cy="200025"/>
          </a:xfrm>
          <a:custGeom xmlns:a="http://schemas.openxmlformats.org/drawingml/2006/main">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xmlns:a="http://schemas.openxmlformats.org/drawingml/2006/main">
            <a:srgbClr val="0C493A"/>
          </a:solidFill>
          <a:ln xmlns:a="http://schemas.openxmlformats.org/drawingml/2006/main" w="0">
            <a:noFill/>
          </a:ln>
        </p:spPr>
      </p:sp>
      <p:sp>
        <p:nvSpPr>
          <p:cNvPr id="6" name="theme-bottom-band">
            <a:extLst xmlns:a="http://schemas.openxmlformats.org/drawingml/2006/main">
              <a:ext uri="{FF2B5EF4-FFF2-40B4-BE49-F238E27FC236}">
                <a16:creationId xmlns:a16="http://schemas.microsoft.com/office/drawing/2014/main" id="{B7C567E3-83F7-425C-96FF-24DAC2B9F36F}"/>
              </a:ext>
            </a:extLst>
          </p:cNvPr>
          <p:cNvSpPr>
            <a:spLocks xmlns:a="http://schemas.openxmlformats.org/drawingml/2006/main" noGrp="1"/>
          </p:cNvSpPr>
          <p:nvPr/>
        </p:nvSpPr>
        <p:spPr>
          <a:xfrm xmlns:a="http://schemas.openxmlformats.org/drawingml/2006/main">
            <a:off x="0" y="6657975"/>
            <a:ext cx="12192000" cy="200025"/>
          </a:xfrm>
          <a:custGeom xmlns:a="http://schemas.openxmlformats.org/drawingml/2006/main">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xmlns:a="http://schemas.openxmlformats.org/drawingml/2006/main">
            <a:srgbClr val="0C493A"/>
          </a:solidFill>
          <a:ln xmlns:a="http://schemas.openxmlformats.org/drawingml/2006/main" w="0">
            <a:noFill/>
          </a:ln>
        </p:spPr>
      </p:sp>
      <p:sp>
        <p:nvSpPr>
          <p:cNvPr id="12" name="직사각형 36">
            <a:extLst xmlns:a="http://schemas.openxmlformats.org/drawingml/2006/main">
              <a:ext uri="{FF2B5EF4-FFF2-40B4-BE49-F238E27FC236}">
                <a16:creationId xmlns:a16="http://schemas.microsoft.com/office/drawing/2014/main" id="{4B2D9E24-1D13-4361-ABD0-C4F91B718A45}"/>
              </a:ext>
            </a:extLst>
          </p:cNvPr>
          <p:cNvSpPr>
            <a:spLocks xmlns:a="http://schemas.openxmlformats.org/drawingml/2006/main" noGrp="1"/>
          </p:cNvSpPr>
          <p:nvPr/>
        </p:nvSpPr>
        <p:spPr>
          <a:xfrm xmlns:a="http://schemas.openxmlformats.org/drawingml/2006/main">
            <a:off x="609600" y="5991225"/>
            <a:ext cx="10972800" cy="466725"/>
          </a:xfrm>
          <a:prstGeom xmlns:a="http://schemas.openxmlformats.org/drawingml/2006/main" prst="rect">
            <a:avLst/>
          </a:prstGeom>
          <a:solidFill xmlns:a="http://schemas.openxmlformats.org/drawingml/2006/main">
            <a:srgbClr val="0C493A"/>
          </a:solidFill>
          <a:ln xmlns:a="http://schemas.openxmlformats.org/drawingml/2006/main" w="0">
            <a:noFill/>
          </a:ln>
        </p:spPr>
      </p:sp>
      <p:sp>
        <p:nvSpPr>
          <p:cNvPr id="13" name="07  평가 계획과 결론">
            <a:extLst xmlns:a="http://schemas.openxmlformats.org/drawingml/2006/main">
              <a:ext uri="{FF2B5EF4-FFF2-40B4-BE49-F238E27FC236}">
                <a16:creationId xmlns:a16="http://schemas.microsoft.com/office/drawing/2014/main" id="{2F1297B7-1A97-4ABF-B5F1-66B0E72CF074}"/>
              </a:ext>
            </a:extLst>
          </p:cNvPr>
          <p:cNvSpPr>
            <a:spLocks xmlns:a="http://schemas.openxmlformats.org/drawingml/2006/main" noGrp="1"/>
          </p:cNvSpPr>
          <p:nvPr/>
        </p:nvSpPr>
        <p:spPr>
          <a:xfrm xmlns:a="http://schemas.openxmlformats.org/drawingml/2006/main">
            <a:off x="609600" y="323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0C493A"/>
                </a:solidFill>
                <a:latin typeface="Malgun Gothic"/>
                <a:ea typeface="Malgun Gothic"/>
                <a:cs typeface="Malgun Gothic"/>
              </a:defRPr>
            </a:pPr>
            <a:r>
              <a:rPr sz="2850" b="1">
                <a:solidFill>
                  <a:srgbClr val="0C493A"/>
                </a:solidFill>
                <a:latin typeface="Malgun Gothic"/>
                <a:ea typeface="Malgun Gothic"/>
                <a:cs typeface="Malgun Gothic"/>
              </a:rPr>
              <a:t>07  평가 계획과 결론</a:t>
            </a:r>
          </a:p>
        </p:txBody>
      </p:sp>
      <p:sp>
        <p:nvSpPr>
          <p:cNvPr id="14" name="효과는 시범 운영과 사용성 평가로 측정">
            <a:extLst xmlns:a="http://schemas.openxmlformats.org/drawingml/2006/main">
              <a:ext uri="{FF2B5EF4-FFF2-40B4-BE49-F238E27FC236}">
                <a16:creationId xmlns:a16="http://schemas.microsoft.com/office/drawing/2014/main" id="{9FD32BB5-A7AE-4675-BC50-08D7D8ADCA9B}"/>
              </a:ext>
            </a:extLst>
          </p:cNvPr>
          <p:cNvSpPr>
            <a:spLocks xmlns:a="http://schemas.openxmlformats.org/drawingml/2006/main" noGrp="1"/>
          </p:cNvSpPr>
          <p:nvPr/>
        </p:nvSpPr>
        <p:spPr>
          <a:xfrm xmlns:a="http://schemas.openxmlformats.org/drawingml/2006/main">
            <a:off x="609600" y="952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20352D"/>
                </a:solidFill>
                <a:latin typeface="Malgun Gothic"/>
                <a:ea typeface="Malgun Gothic"/>
                <a:cs typeface="Malgun Gothic"/>
              </a:defRPr>
            </a:pPr>
            <a:r>
              <a:rPr sz="2025" b="1">
                <a:solidFill>
                  <a:srgbClr val="20352D"/>
                </a:solidFill>
                <a:latin typeface="Malgun Gothic"/>
                <a:ea typeface="Malgun Gothic"/>
                <a:cs typeface="Malgun Gothic"/>
              </a:rPr>
              <a:t>효과는 시범 운영과 사용성 평가로 측정</a:t>
            </a:r>
          </a:p>
        </p:txBody>
      </p:sp>
      <p:sp>
        <p:nvSpPr>
          <p:cNvPr id="15" name="아래 지표는 평가 설계이며, 개선 효과의 실측값은 없음">
            <a:extLst xmlns:a="http://schemas.openxmlformats.org/drawingml/2006/main">
              <a:ext uri="{FF2B5EF4-FFF2-40B4-BE49-F238E27FC236}">
                <a16:creationId xmlns:a16="http://schemas.microsoft.com/office/drawing/2014/main" id="{53DC0E28-B3F4-428D-8D03-B75D7FB24ED7}"/>
              </a:ext>
            </a:extLst>
          </p:cNvPr>
          <p:cNvSpPr>
            <a:spLocks xmlns:a="http://schemas.openxmlformats.org/drawingml/2006/main" noGrp="1"/>
          </p:cNvSpPr>
          <p:nvPr/>
        </p:nvSpPr>
        <p:spPr>
          <a:xfrm xmlns:a="http://schemas.openxmlformats.org/drawingml/2006/main">
            <a:off x="609600" y="14001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아래 지표는 평가 설계이며, 개선 효과의 실측값은 없음</a:t>
            </a:r>
          </a:p>
        </p:txBody>
      </p:sp>
      <p:sp>
        <p:nvSpPr>
          <p:cNvPr id="17" name="01  첫 교육 완료율">
            <a:extLst xmlns:a="http://schemas.openxmlformats.org/drawingml/2006/main">
              <a:ext uri="{FF2B5EF4-FFF2-40B4-BE49-F238E27FC236}">
                <a16:creationId xmlns:a16="http://schemas.microsoft.com/office/drawing/2014/main" id="{35C2DE07-F85E-4C25-9F2D-51C7C8E826E1}"/>
              </a:ext>
            </a:extLst>
          </p:cNvPr>
          <p:cNvSpPr>
            <a:spLocks xmlns:a="http://schemas.openxmlformats.org/drawingml/2006/main" noGrp="1"/>
          </p:cNvSpPr>
          <p:nvPr/>
        </p:nvSpPr>
        <p:spPr>
          <a:xfrm xmlns:a="http://schemas.openxmlformats.org/drawingml/2006/main">
            <a:off x="828675" y="2143125"/>
            <a:ext cx="4933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C493A"/>
                </a:solidFill>
                <a:latin typeface="Malgun Gothic"/>
                <a:ea typeface="Malgun Gothic"/>
                <a:cs typeface="Malgun Gothic"/>
              </a:defRPr>
            </a:pPr>
            <a:r>
              <a:rPr sz="2025" b="1">
                <a:solidFill>
                  <a:srgbClr val="0C493A"/>
                </a:solidFill>
                <a:latin typeface="Malgun Gothic"/>
                <a:ea typeface="Malgun Gothic"/>
                <a:cs typeface="Malgun Gothic"/>
              </a:rPr>
              <a:t>01  첫 교육 완료율</a:t>
            </a:r>
          </a:p>
        </p:txBody>
      </p:sp>
      <p:sp>
        <p:nvSpPr>
          <p:cNvPr id="18" name="첫 교육 완료자 ÷ 참여에 동의한 안내 대상자">
            <a:extLst xmlns:a="http://schemas.openxmlformats.org/drawingml/2006/main">
              <a:ext uri="{FF2B5EF4-FFF2-40B4-BE49-F238E27FC236}">
                <a16:creationId xmlns:a16="http://schemas.microsoft.com/office/drawing/2014/main" id="{A6DF57E1-AFD1-4985-B947-A101182DD90F}"/>
              </a:ext>
            </a:extLst>
          </p:cNvPr>
          <p:cNvSpPr>
            <a:spLocks xmlns:a="http://schemas.openxmlformats.org/drawingml/2006/main" noGrp="1"/>
          </p:cNvSpPr>
          <p:nvPr/>
        </p:nvSpPr>
        <p:spPr>
          <a:xfrm xmlns:a="http://schemas.openxmlformats.org/drawingml/2006/main">
            <a:off x="828675" y="2628900"/>
            <a:ext cx="4933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20352D"/>
                </a:solidFill>
                <a:latin typeface="Malgun Gothic"/>
                <a:ea typeface="Malgun Gothic"/>
                <a:cs typeface="Malgun Gothic"/>
              </a:defRPr>
            </a:pPr>
            <a:r>
              <a:rPr sz="1650" b="0">
                <a:solidFill>
                  <a:srgbClr val="20352D"/>
                </a:solidFill>
                <a:latin typeface="Malgun Gothic"/>
                <a:ea typeface="Malgun Gothic"/>
                <a:cs typeface="Malgun Gothic"/>
              </a:rPr>
              <a:t>첫 교육 완료자 ÷ 참여에 동의한 안내 대상자</a:t>
            </a:r>
          </a:p>
        </p:txBody>
      </p:sp>
      <p:sp>
        <p:nvSpPr>
          <p:cNvPr id="19" name="같은 추적기간의 시범 전후 비교">
            <a:extLst xmlns:a="http://schemas.openxmlformats.org/drawingml/2006/main">
              <a:ext uri="{FF2B5EF4-FFF2-40B4-BE49-F238E27FC236}">
                <a16:creationId xmlns:a16="http://schemas.microsoft.com/office/drawing/2014/main" id="{507EAE4A-F58A-4AEA-A8B8-C64A6E8EAE32}"/>
              </a:ext>
            </a:extLst>
          </p:cNvPr>
          <p:cNvSpPr>
            <a:spLocks xmlns:a="http://schemas.openxmlformats.org/drawingml/2006/main" noGrp="1"/>
          </p:cNvSpPr>
          <p:nvPr/>
        </p:nvSpPr>
        <p:spPr>
          <a:xfrm xmlns:a="http://schemas.openxmlformats.org/drawingml/2006/main">
            <a:off x="828675" y="3276600"/>
            <a:ext cx="4933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같은 추적기간의 시범 전후 비교</a:t>
            </a:r>
          </a:p>
        </p:txBody>
      </p:sp>
      <p:sp>
        <p:nvSpPr>
          <p:cNvPr id="21" name="02  후속 상담 이행률">
            <a:extLst xmlns:a="http://schemas.openxmlformats.org/drawingml/2006/main">
              <a:ext uri="{FF2B5EF4-FFF2-40B4-BE49-F238E27FC236}">
                <a16:creationId xmlns:a16="http://schemas.microsoft.com/office/drawing/2014/main" id="{E26409A0-169D-459E-BD53-A5E7D2BCEF76}"/>
              </a:ext>
            </a:extLst>
          </p:cNvPr>
          <p:cNvSpPr>
            <a:spLocks xmlns:a="http://schemas.openxmlformats.org/drawingml/2006/main" noGrp="1"/>
          </p:cNvSpPr>
          <p:nvPr/>
        </p:nvSpPr>
        <p:spPr>
          <a:xfrm xmlns:a="http://schemas.openxmlformats.org/drawingml/2006/main">
            <a:off x="6429375" y="2143125"/>
            <a:ext cx="4933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C493A"/>
                </a:solidFill>
                <a:latin typeface="Malgun Gothic"/>
                <a:ea typeface="Malgun Gothic"/>
                <a:cs typeface="Malgun Gothic"/>
              </a:defRPr>
            </a:pPr>
            <a:r>
              <a:rPr sz="2025" b="1">
                <a:solidFill>
                  <a:srgbClr val="0C493A"/>
                </a:solidFill>
                <a:latin typeface="Malgun Gothic"/>
                <a:ea typeface="Malgun Gothic"/>
                <a:cs typeface="Malgun Gothic"/>
              </a:rPr>
              <a:t>02  후속 상담 이행률</a:t>
            </a:r>
          </a:p>
        </p:txBody>
      </p:sp>
      <p:sp>
        <p:nvSpPr>
          <p:cNvPr id="22" name="기한 내 이행자 ÷ 후속 상담 예정자">
            <a:extLst xmlns:a="http://schemas.openxmlformats.org/drawingml/2006/main">
              <a:ext uri="{FF2B5EF4-FFF2-40B4-BE49-F238E27FC236}">
                <a16:creationId xmlns:a16="http://schemas.microsoft.com/office/drawing/2014/main" id="{BE41E44B-5526-4D97-831D-F90130B5ADE5}"/>
              </a:ext>
            </a:extLst>
          </p:cNvPr>
          <p:cNvSpPr>
            <a:spLocks xmlns:a="http://schemas.openxmlformats.org/drawingml/2006/main" noGrp="1"/>
          </p:cNvSpPr>
          <p:nvPr/>
        </p:nvSpPr>
        <p:spPr>
          <a:xfrm xmlns:a="http://schemas.openxmlformats.org/drawingml/2006/main">
            <a:off x="6429375" y="2628900"/>
            <a:ext cx="4933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20352D"/>
                </a:solidFill>
                <a:latin typeface="Malgun Gothic"/>
                <a:ea typeface="Malgun Gothic"/>
                <a:cs typeface="Malgun Gothic"/>
              </a:defRPr>
            </a:pPr>
            <a:r>
              <a:rPr sz="1650" b="0">
                <a:solidFill>
                  <a:srgbClr val="20352D"/>
                </a:solidFill>
                <a:latin typeface="Malgun Gothic"/>
                <a:ea typeface="Malgun Gothic"/>
                <a:cs typeface="Malgun Gothic"/>
              </a:rPr>
              <a:t>기한 내 이행자 ÷ 후속 상담 예정자</a:t>
            </a:r>
          </a:p>
        </p:txBody>
      </p:sp>
      <p:sp>
        <p:nvSpPr>
          <p:cNvPr id="23" name="관찰 종료·중도 이탈을 함께 기록">
            <a:extLst xmlns:a="http://schemas.openxmlformats.org/drawingml/2006/main">
              <a:ext uri="{FF2B5EF4-FFF2-40B4-BE49-F238E27FC236}">
                <a16:creationId xmlns:a16="http://schemas.microsoft.com/office/drawing/2014/main" id="{E1BE8AD4-145E-4FA8-B8E1-39982668CB9C}"/>
              </a:ext>
            </a:extLst>
          </p:cNvPr>
          <p:cNvSpPr>
            <a:spLocks xmlns:a="http://schemas.openxmlformats.org/drawingml/2006/main" noGrp="1"/>
          </p:cNvSpPr>
          <p:nvPr/>
        </p:nvSpPr>
        <p:spPr>
          <a:xfrm xmlns:a="http://schemas.openxmlformats.org/drawingml/2006/main">
            <a:off x="6429375" y="3276600"/>
            <a:ext cx="4933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관찰 종료·중도 이탈을 함께 기록</a:t>
            </a:r>
          </a:p>
        </p:txBody>
      </p:sp>
      <p:sp>
        <p:nvSpPr>
          <p:cNvPr id="25" name="03  평균 검토시간 감소율">
            <a:extLst xmlns:a="http://schemas.openxmlformats.org/drawingml/2006/main">
              <a:ext uri="{FF2B5EF4-FFF2-40B4-BE49-F238E27FC236}">
                <a16:creationId xmlns:a16="http://schemas.microsoft.com/office/drawing/2014/main" id="{E152BD6D-4C39-4475-84B1-2D8E288E9C27}"/>
              </a:ext>
            </a:extLst>
          </p:cNvPr>
          <p:cNvSpPr>
            <a:spLocks xmlns:a="http://schemas.openxmlformats.org/drawingml/2006/main" noGrp="1"/>
          </p:cNvSpPr>
          <p:nvPr/>
        </p:nvSpPr>
        <p:spPr>
          <a:xfrm xmlns:a="http://schemas.openxmlformats.org/drawingml/2006/main">
            <a:off x="828675" y="4076700"/>
            <a:ext cx="4933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C493A"/>
                </a:solidFill>
                <a:latin typeface="Malgun Gothic"/>
                <a:ea typeface="Malgun Gothic"/>
                <a:cs typeface="Malgun Gothic"/>
              </a:defRPr>
            </a:pPr>
            <a:r>
              <a:rPr sz="2025" b="1">
                <a:solidFill>
                  <a:srgbClr val="0C493A"/>
                </a:solidFill>
                <a:latin typeface="Malgun Gothic"/>
                <a:ea typeface="Malgun Gothic"/>
                <a:cs typeface="Malgun Gothic"/>
              </a:rPr>
              <a:t>03  평균 검토시간 감소율</a:t>
            </a:r>
          </a:p>
        </p:txBody>
      </p:sp>
      <p:sp>
        <p:nvSpPr>
          <p:cNvPr id="26" name="(도입 전 시간−도입 후 시간) ÷ 도입 전 시간">
            <a:extLst xmlns:a="http://schemas.openxmlformats.org/drawingml/2006/main">
              <a:ext uri="{FF2B5EF4-FFF2-40B4-BE49-F238E27FC236}">
                <a16:creationId xmlns:a16="http://schemas.microsoft.com/office/drawing/2014/main" id="{CC55349C-955B-44B9-80C8-7212CE7AA393}"/>
              </a:ext>
            </a:extLst>
          </p:cNvPr>
          <p:cNvSpPr>
            <a:spLocks xmlns:a="http://schemas.openxmlformats.org/drawingml/2006/main" noGrp="1"/>
          </p:cNvSpPr>
          <p:nvPr/>
        </p:nvSpPr>
        <p:spPr>
          <a:xfrm xmlns:a="http://schemas.openxmlformats.org/drawingml/2006/main">
            <a:off x="828675" y="4562475"/>
            <a:ext cx="4933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20352D"/>
                </a:solidFill>
                <a:latin typeface="Malgun Gothic"/>
                <a:ea typeface="Malgun Gothic"/>
                <a:cs typeface="Malgun Gothic"/>
              </a:defRPr>
            </a:pPr>
            <a:r>
              <a:rPr sz="1650" b="0">
                <a:solidFill>
                  <a:srgbClr val="20352D"/>
                </a:solidFill>
                <a:latin typeface="Malgun Gothic"/>
                <a:ea typeface="Malgun Gothic"/>
                <a:cs typeface="Malgun Gothic"/>
              </a:rPr>
              <a:t>(도입 전 시간−도입 후 시간) ÷ 도입 전 시간</a:t>
            </a:r>
          </a:p>
        </p:txBody>
      </p:sp>
      <p:sp>
        <p:nvSpPr>
          <p:cNvPr id="27" name="동일 과제·난이도의 담당자 수행 비교">
            <a:extLst xmlns:a="http://schemas.openxmlformats.org/drawingml/2006/main">
              <a:ext uri="{FF2B5EF4-FFF2-40B4-BE49-F238E27FC236}">
                <a16:creationId xmlns:a16="http://schemas.microsoft.com/office/drawing/2014/main" id="{ED1C2C84-FD29-45EA-BD17-1C5654983C4D}"/>
              </a:ext>
            </a:extLst>
          </p:cNvPr>
          <p:cNvSpPr>
            <a:spLocks xmlns:a="http://schemas.openxmlformats.org/drawingml/2006/main" noGrp="1"/>
          </p:cNvSpPr>
          <p:nvPr/>
        </p:nvSpPr>
        <p:spPr>
          <a:xfrm xmlns:a="http://schemas.openxmlformats.org/drawingml/2006/main">
            <a:off x="828675" y="5210175"/>
            <a:ext cx="4933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동일 과제·난이도의 담당자 수행 비교</a:t>
            </a:r>
          </a:p>
        </p:txBody>
      </p:sp>
      <p:sp>
        <p:nvSpPr>
          <p:cNvPr id="29" name="04  해석 정확성">
            <a:extLst xmlns:a="http://schemas.openxmlformats.org/drawingml/2006/main">
              <a:ext uri="{FF2B5EF4-FFF2-40B4-BE49-F238E27FC236}">
                <a16:creationId xmlns:a16="http://schemas.microsoft.com/office/drawing/2014/main" id="{01303C54-7D11-48C7-A500-23423C4797BE}"/>
              </a:ext>
            </a:extLst>
          </p:cNvPr>
          <p:cNvSpPr>
            <a:spLocks xmlns:a="http://schemas.openxmlformats.org/drawingml/2006/main" noGrp="1"/>
          </p:cNvSpPr>
          <p:nvPr/>
        </p:nvSpPr>
        <p:spPr>
          <a:xfrm xmlns:a="http://schemas.openxmlformats.org/drawingml/2006/main">
            <a:off x="6429375" y="4076700"/>
            <a:ext cx="4933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0C493A"/>
                </a:solidFill>
                <a:latin typeface="Malgun Gothic"/>
                <a:ea typeface="Malgun Gothic"/>
                <a:cs typeface="Malgun Gothic"/>
              </a:defRPr>
            </a:pPr>
            <a:r>
              <a:rPr sz="2025" b="1">
                <a:solidFill>
                  <a:srgbClr val="0C493A"/>
                </a:solidFill>
                <a:latin typeface="Malgun Gothic"/>
                <a:ea typeface="Malgun Gothic"/>
                <a:cs typeface="Malgun Gothic"/>
              </a:rPr>
              <a:t>04  해석 정확성</a:t>
            </a:r>
          </a:p>
        </p:txBody>
      </p:sp>
      <p:sp>
        <p:nvSpPr>
          <p:cNvPr id="30" name="분모·유형·지역 단위 문항의 정답률">
            <a:extLst xmlns:a="http://schemas.openxmlformats.org/drawingml/2006/main">
              <a:ext uri="{FF2B5EF4-FFF2-40B4-BE49-F238E27FC236}">
                <a16:creationId xmlns:a16="http://schemas.microsoft.com/office/drawing/2014/main" id="{C9A6634B-1418-483D-92CE-D1D7CE65C512}"/>
              </a:ext>
            </a:extLst>
          </p:cNvPr>
          <p:cNvSpPr>
            <a:spLocks xmlns:a="http://schemas.openxmlformats.org/drawingml/2006/main" noGrp="1"/>
          </p:cNvSpPr>
          <p:nvPr/>
        </p:nvSpPr>
        <p:spPr>
          <a:xfrm xmlns:a="http://schemas.openxmlformats.org/drawingml/2006/main">
            <a:off x="6429375" y="4562475"/>
            <a:ext cx="4933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20352D"/>
                </a:solidFill>
                <a:latin typeface="Malgun Gothic"/>
                <a:ea typeface="Malgun Gothic"/>
                <a:cs typeface="Malgun Gothic"/>
              </a:defRPr>
            </a:pPr>
            <a:r>
              <a:rPr sz="1650" b="0">
                <a:solidFill>
                  <a:srgbClr val="20352D"/>
                </a:solidFill>
                <a:latin typeface="Malgun Gothic"/>
                <a:ea typeface="Malgun Gothic"/>
                <a:cs typeface="Malgun Gothic"/>
              </a:rPr>
              <a:t>분모·유형·지역 단위 문항의 정답률</a:t>
            </a:r>
          </a:p>
        </p:txBody>
      </p:sp>
      <p:sp>
        <p:nvSpPr>
          <p:cNvPr id="31" name="웹 사용 전후 비교, 순서효과 고려">
            <a:extLst xmlns:a="http://schemas.openxmlformats.org/drawingml/2006/main">
              <a:ext uri="{FF2B5EF4-FFF2-40B4-BE49-F238E27FC236}">
                <a16:creationId xmlns:a16="http://schemas.microsoft.com/office/drawing/2014/main" id="{A28BBC1D-EDCF-4ADE-9AC4-964DAE8A09D8}"/>
              </a:ext>
            </a:extLst>
          </p:cNvPr>
          <p:cNvSpPr>
            <a:spLocks xmlns:a="http://schemas.openxmlformats.org/drawingml/2006/main" noGrp="1"/>
          </p:cNvSpPr>
          <p:nvPr/>
        </p:nvSpPr>
        <p:spPr>
          <a:xfrm xmlns:a="http://schemas.openxmlformats.org/drawingml/2006/main">
            <a:off x="6429375" y="5210175"/>
            <a:ext cx="4933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3675E"/>
                </a:solidFill>
                <a:latin typeface="Malgun Gothic"/>
                <a:ea typeface="Malgun Gothic"/>
                <a:cs typeface="Malgun Gothic"/>
              </a:defRPr>
            </a:pPr>
            <a:r>
              <a:rPr sz="1500" b="0">
                <a:solidFill>
                  <a:srgbClr val="53675E"/>
                </a:solidFill>
                <a:latin typeface="Malgun Gothic"/>
                <a:ea typeface="Malgun Gothic"/>
                <a:cs typeface="Malgun Gothic"/>
              </a:rPr>
              <a:t>웹 사용 전후 비교, 순서효과 고려</a:t>
            </a:r>
          </a:p>
        </p:txBody>
      </p:sp>
      <p:sp>
        <p:nvSpPr>
          <p:cNvPr id="32" name="신고 감소·건강 개선은 장기 평가 과제 · 예상 감소율 임">
            <a:extLst xmlns:a="http://schemas.openxmlformats.org/drawingml/2006/main">
              <a:ext uri="{FF2B5EF4-FFF2-40B4-BE49-F238E27FC236}">
                <a16:creationId xmlns:a16="http://schemas.microsoft.com/office/drawing/2014/main" id="{F823F5DE-76D6-4E39-A16A-C343B9BC1D50}"/>
              </a:ext>
            </a:extLst>
          </p:cNvPr>
          <p:cNvSpPr>
            <a:spLocks xmlns:a="http://schemas.openxmlformats.org/drawingml/2006/main" noGrp="1"/>
          </p:cNvSpPr>
          <p:nvPr/>
        </p:nvSpPr>
        <p:spPr>
          <a:xfrm xmlns:a="http://schemas.openxmlformats.org/drawingml/2006/main">
            <a:off x="733425" y="6048375"/>
            <a:ext cx="10725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신고 감소·건강 개선은 장기 평가 과제 · 예상 감소율 임의 제시 금지</a:t>
            </a:r>
          </a:p>
        </p:txBody>
      </p:sp>
      <p:sp>
        <p:nvSpPr>
          <p:cNvPr id="33" name="20 / 22">
            <a:extLst xmlns:a="http://schemas.openxmlformats.org/drawingml/2006/main">
              <a:ext uri="{FF2B5EF4-FFF2-40B4-BE49-F238E27FC236}">
                <a16:creationId xmlns:a16="http://schemas.microsoft.com/office/drawing/2014/main" id="{DD1661E2-F24C-47F7-A21C-6A28E3675144}"/>
              </a:ext>
            </a:extLst>
          </p:cNvPr>
          <p:cNvSpPr>
            <a:spLocks xmlns:a="http://schemas.openxmlformats.org/drawingml/2006/main" noGrp="1"/>
          </p:cNvSpPr>
          <p:nvPr/>
        </p:nvSpPr>
        <p:spPr>
          <a:xfrm xmlns:a="http://schemas.openxmlformats.org/drawingml/2006/main">
            <a:off x="10648950" y="6477000"/>
            <a:ext cx="9144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3675E"/>
                </a:solidFill>
                <a:latin typeface="Malgun Gothic"/>
                <a:ea typeface="Malgun Gothic"/>
                <a:cs typeface="Malgun Gothic"/>
              </a:defRPr>
            </a:pPr>
            <a:r>
              <a:rPr sz="900" b="0">
                <a:solidFill>
                  <a:srgbClr val="53675E"/>
                </a:solidFill>
                <a:latin typeface="Malgun Gothic"/>
                <a:ea typeface="Malgun Gothic"/>
                <a:cs typeface="Malgun Gothic"/>
              </a:rPr>
              <a:t>20 / 22</a:t>
            </a:r>
          </a:p>
        </p:txBody>
      </p:sp>
    </p:spTree>
    <p:extLst>
      <p:ext uri="{BB962C8B-B14F-4D97-AF65-F5344CB8AC3E}">
        <p14:creationId xmlns:p14="http://schemas.microsoft.com/office/powerpoint/2010/main" val="1369089232"/>
      </p:ext>
    </p:extLst>
  </p:cSld>
</p:sld>
</file>

<file path=ppt/slides/slide2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5" name="theme-top-band"/>
          <p:cNvSpPr>
            <a:spLocks noGrp="1"/>
          </p:cNvSpPr>
          <p:nvPr/>
        </p:nvSpPr>
        <p:spPr>
          <a:xfrm>
            <a:off x="0" y="0"/>
            <a:ext cx="12192000" cy="200025"/>
          </a:xfrm>
          <a:custGeom>
            <a:avLst/>
            <a:gdLst/>
            <a:rect l="0" t="0" r="0" b="0"/>
            <a:pathLst>
              <a:path w="12192000" h="200025">
                <a:moveTo>
                  <a:pt x="0" y="0"/>
                </a:moveTo>
                <a:lnTo>
                  <a:pt x="12192000" y="0"/>
                </a:lnTo>
                <a:lnTo>
                  <a:pt x="12192000" y="0"/>
                </a:lnTo>
                <a:lnTo>
                  <a:pt x="12191347" y="13082"/>
                </a:lnTo>
                <a:lnTo>
                  <a:pt x="12189392" y="26109"/>
                </a:lnTo>
                <a:lnTo>
                  <a:pt x="12186143" y="39023"/>
                </a:lnTo>
                <a:lnTo>
                  <a:pt x="12181614" y="51770"/>
                </a:lnTo>
                <a:lnTo>
                  <a:pt x="12175824" y="64296"/>
                </a:lnTo>
                <a:lnTo>
                  <a:pt x="12168798" y="76546"/>
                </a:lnTo>
                <a:lnTo>
                  <a:pt x="12160567" y="88469"/>
                </a:lnTo>
                <a:lnTo>
                  <a:pt x="12151165" y="100012"/>
                </a:lnTo>
                <a:lnTo>
                  <a:pt x="12140632" y="111128"/>
                </a:lnTo>
                <a:lnTo>
                  <a:pt x="12129014" y="121768"/>
                </a:lnTo>
                <a:lnTo>
                  <a:pt x="12116361" y="131886"/>
                </a:lnTo>
                <a:lnTo>
                  <a:pt x="12102726" y="141439"/>
                </a:lnTo>
                <a:lnTo>
                  <a:pt x="12088169" y="150387"/>
                </a:lnTo>
                <a:lnTo>
                  <a:pt x="12072750" y="158691"/>
                </a:lnTo>
                <a:lnTo>
                  <a:pt x="12056538" y="166315"/>
                </a:lnTo>
                <a:lnTo>
                  <a:pt x="12039600" y="173227"/>
                </a:lnTo>
                <a:lnTo>
                  <a:pt x="12022010" y="179397"/>
                </a:lnTo>
                <a:lnTo>
                  <a:pt x="12003842" y="184799"/>
                </a:lnTo>
                <a:lnTo>
                  <a:pt x="11985175" y="189410"/>
                </a:lnTo>
                <a:lnTo>
                  <a:pt x="11966088" y="193209"/>
                </a:lnTo>
                <a:lnTo>
                  <a:pt x="11946664" y="196182"/>
                </a:lnTo>
                <a:lnTo>
                  <a:pt x="11926984" y="198314"/>
                </a:lnTo>
                <a:lnTo>
                  <a:pt x="11907135" y="199597"/>
                </a:lnTo>
                <a:lnTo>
                  <a:pt x="11887200" y="200025"/>
                </a:lnTo>
                <a:lnTo>
                  <a:pt x="304800" y="200025"/>
                </a:lnTo>
                <a:lnTo>
                  <a:pt x="304800" y="200025"/>
                </a:lnTo>
                <a:lnTo>
                  <a:pt x="284865" y="199597"/>
                </a:lnTo>
                <a:lnTo>
                  <a:pt x="265016" y="198314"/>
                </a:lnTo>
                <a:lnTo>
                  <a:pt x="245336" y="196182"/>
                </a:lnTo>
                <a:lnTo>
                  <a:pt x="225912" y="193209"/>
                </a:lnTo>
                <a:lnTo>
                  <a:pt x="206825" y="189410"/>
                </a:lnTo>
                <a:lnTo>
                  <a:pt x="188158" y="184799"/>
                </a:lnTo>
                <a:lnTo>
                  <a:pt x="169990" y="179397"/>
                </a:lnTo>
                <a:lnTo>
                  <a:pt x="152400" y="173227"/>
                </a:lnTo>
                <a:lnTo>
                  <a:pt x="135462" y="166315"/>
                </a:lnTo>
                <a:lnTo>
                  <a:pt x="119250" y="158691"/>
                </a:lnTo>
                <a:lnTo>
                  <a:pt x="103831" y="150387"/>
                </a:lnTo>
                <a:lnTo>
                  <a:pt x="89274" y="141439"/>
                </a:lnTo>
                <a:lnTo>
                  <a:pt x="75639" y="131886"/>
                </a:lnTo>
                <a:lnTo>
                  <a:pt x="62986" y="121768"/>
                </a:lnTo>
                <a:lnTo>
                  <a:pt x="51368" y="111128"/>
                </a:lnTo>
                <a:lnTo>
                  <a:pt x="40835" y="100013"/>
                </a:lnTo>
                <a:lnTo>
                  <a:pt x="31433" y="88469"/>
                </a:lnTo>
                <a:lnTo>
                  <a:pt x="23202" y="76546"/>
                </a:lnTo>
                <a:lnTo>
                  <a:pt x="16176" y="64296"/>
                </a:lnTo>
                <a:lnTo>
                  <a:pt x="10386" y="51770"/>
                </a:lnTo>
                <a:lnTo>
                  <a:pt x="5857" y="39023"/>
                </a:lnTo>
                <a:lnTo>
                  <a:pt x="2608" y="26109"/>
                </a:lnTo>
                <a:lnTo>
                  <a:pt x="653" y="13082"/>
                </a:lnTo>
                <a:lnTo>
                  <a:pt x="0" y="0"/>
                </a:lnTo>
                <a:close/>
              </a:path>
            </a:pathLst>
          </a:custGeom>
          <a:solidFill>
            <a:srgbClr val="0c493a"/>
          </a:solidFill>
          <a:ln w="0">
            <a:noFill/>
          </a:ln>
        </p:spPr>
        <p:txBody>
          <a:bodyPr anchor="ctr"/>
          <a:p>
            <a:pPr algn="ctr">
              <a:defRPr/>
            </a:pPr>
            <a:endParaRPr lang="ko-KR" altLang="en-US"/>
          </a:p>
        </p:txBody>
      </p:sp>
      <p:sp>
        <p:nvSpPr>
          <p:cNvPr id="6" name="theme-bottom-band"/>
          <p:cNvSpPr>
            <a:spLocks noGrp="1"/>
          </p:cNvSpPr>
          <p:nvPr/>
        </p:nvSpPr>
        <p:spPr>
          <a:xfrm>
            <a:off x="0" y="6657975"/>
            <a:ext cx="12192000" cy="200025"/>
          </a:xfrm>
          <a:custGeom>
            <a:avLst/>
            <a:gdLst/>
            <a:rect l="0" t="0" r="0" b="0"/>
            <a:pathLst>
              <a:path w="12192000" h="200025">
                <a:moveTo>
                  <a:pt x="0" y="200025"/>
                </a:moveTo>
                <a:lnTo>
                  <a:pt x="12192000" y="200025"/>
                </a:lnTo>
                <a:lnTo>
                  <a:pt x="12192000" y="200025"/>
                </a:lnTo>
                <a:lnTo>
                  <a:pt x="12191347" y="186943"/>
                </a:lnTo>
                <a:lnTo>
                  <a:pt x="12189392" y="173916"/>
                </a:lnTo>
                <a:lnTo>
                  <a:pt x="12186143" y="161002"/>
                </a:lnTo>
                <a:lnTo>
                  <a:pt x="12181614" y="148255"/>
                </a:lnTo>
                <a:lnTo>
                  <a:pt x="12175824" y="135729"/>
                </a:lnTo>
                <a:lnTo>
                  <a:pt x="12168798" y="123479"/>
                </a:lnTo>
                <a:lnTo>
                  <a:pt x="12160567" y="111556"/>
                </a:lnTo>
                <a:lnTo>
                  <a:pt x="12151165" y="100013"/>
                </a:lnTo>
                <a:lnTo>
                  <a:pt x="12140632" y="88897"/>
                </a:lnTo>
                <a:lnTo>
                  <a:pt x="12129014" y="78257"/>
                </a:lnTo>
                <a:lnTo>
                  <a:pt x="12116361" y="68139"/>
                </a:lnTo>
                <a:lnTo>
                  <a:pt x="12102726" y="58586"/>
                </a:lnTo>
                <a:lnTo>
                  <a:pt x="12088169" y="49638"/>
                </a:lnTo>
                <a:lnTo>
                  <a:pt x="12072750" y="41334"/>
                </a:lnTo>
                <a:lnTo>
                  <a:pt x="12056538" y="33710"/>
                </a:lnTo>
                <a:lnTo>
                  <a:pt x="12039600" y="26798"/>
                </a:lnTo>
                <a:lnTo>
                  <a:pt x="12022010" y="20628"/>
                </a:lnTo>
                <a:lnTo>
                  <a:pt x="12003842" y="15226"/>
                </a:lnTo>
                <a:lnTo>
                  <a:pt x="11985175" y="10615"/>
                </a:lnTo>
                <a:lnTo>
                  <a:pt x="11966088" y="6816"/>
                </a:lnTo>
                <a:lnTo>
                  <a:pt x="11946664" y="3843"/>
                </a:lnTo>
                <a:lnTo>
                  <a:pt x="11926984" y="1711"/>
                </a:lnTo>
                <a:lnTo>
                  <a:pt x="11907135" y="428"/>
                </a:lnTo>
                <a:lnTo>
                  <a:pt x="11887200" y="0"/>
                </a:lnTo>
                <a:lnTo>
                  <a:pt x="304800" y="0"/>
                </a:lnTo>
                <a:lnTo>
                  <a:pt x="304800" y="0"/>
                </a:lnTo>
                <a:lnTo>
                  <a:pt x="284865" y="428"/>
                </a:lnTo>
                <a:lnTo>
                  <a:pt x="265016" y="1711"/>
                </a:lnTo>
                <a:lnTo>
                  <a:pt x="245336" y="3843"/>
                </a:lnTo>
                <a:lnTo>
                  <a:pt x="225912" y="6816"/>
                </a:lnTo>
                <a:lnTo>
                  <a:pt x="206825" y="10615"/>
                </a:lnTo>
                <a:lnTo>
                  <a:pt x="188158" y="15226"/>
                </a:lnTo>
                <a:lnTo>
                  <a:pt x="169990" y="20628"/>
                </a:lnTo>
                <a:lnTo>
                  <a:pt x="152400" y="26798"/>
                </a:lnTo>
                <a:lnTo>
                  <a:pt x="135462" y="33710"/>
                </a:lnTo>
                <a:lnTo>
                  <a:pt x="119250" y="41334"/>
                </a:lnTo>
                <a:lnTo>
                  <a:pt x="103831" y="49638"/>
                </a:lnTo>
                <a:lnTo>
                  <a:pt x="89274" y="58586"/>
                </a:lnTo>
                <a:lnTo>
                  <a:pt x="75639" y="68139"/>
                </a:lnTo>
                <a:lnTo>
                  <a:pt x="62986" y="78257"/>
                </a:lnTo>
                <a:lnTo>
                  <a:pt x="51368" y="88897"/>
                </a:lnTo>
                <a:lnTo>
                  <a:pt x="40835" y="100012"/>
                </a:lnTo>
                <a:lnTo>
                  <a:pt x="31433" y="111556"/>
                </a:lnTo>
                <a:lnTo>
                  <a:pt x="23202" y="123479"/>
                </a:lnTo>
                <a:lnTo>
                  <a:pt x="16176" y="135729"/>
                </a:lnTo>
                <a:lnTo>
                  <a:pt x="10386" y="148255"/>
                </a:lnTo>
                <a:lnTo>
                  <a:pt x="5857" y="161002"/>
                </a:lnTo>
                <a:lnTo>
                  <a:pt x="2608" y="173916"/>
                </a:lnTo>
                <a:lnTo>
                  <a:pt x="653" y="186943"/>
                </a:lnTo>
                <a:lnTo>
                  <a:pt x="0" y="200025"/>
                </a:lnTo>
                <a:close/>
              </a:path>
            </a:pathLst>
          </a:custGeom>
          <a:solidFill>
            <a:srgbClr val="0c493a"/>
          </a:solidFill>
          <a:ln w="0">
            <a:noFill/>
          </a:ln>
        </p:spPr>
        <p:txBody>
          <a:bodyPr anchor="ctr"/>
          <a:p>
            <a:pPr algn="ctr">
              <a:defRPr/>
            </a:pPr>
            <a:endParaRPr lang="ko-KR" altLang="en-US"/>
          </a:p>
        </p:txBody>
      </p:sp>
      <p:sp>
        <p:nvSpPr>
          <p:cNvPr id="12" name="직사각형 36"/>
          <p:cNvSpPr>
            <a:spLocks noGrp="1"/>
          </p:cNvSpPr>
          <p:nvPr/>
        </p:nvSpPr>
        <p:spPr>
          <a:xfrm>
            <a:off x="609600" y="5991225"/>
            <a:ext cx="10972800" cy="466725"/>
          </a:xfrm>
          <a:prstGeom prst="rect">
            <a:avLst/>
          </a:prstGeom>
          <a:solidFill>
            <a:srgbClr val="0c493a"/>
          </a:solidFill>
          <a:ln w="0">
            <a:noFill/>
          </a:ln>
        </p:spPr>
        <p:txBody>
          <a:bodyPr anchor="ctr"/>
          <a:p>
            <a:pPr algn="ctr">
              <a:defRPr/>
            </a:pPr>
            <a:endParaRPr lang="ko-KR" altLang="en-US"/>
          </a:p>
        </p:txBody>
      </p:sp>
      <p:sp>
        <p:nvSpPr>
          <p:cNvPr id="13" name="07  평가 계획과 결론"/>
          <p:cNvSpPr>
            <a:spLocks noGrp="1"/>
          </p:cNvSpPr>
          <p:nvPr/>
        </p:nvSpPr>
        <p:spPr>
          <a:xfrm>
            <a:off x="609600" y="323850"/>
            <a:ext cx="10972800" cy="523875"/>
          </a:xfrm>
          <a:prstGeom prst="rect">
            <a:avLst/>
          </a:prstGeom>
          <a:noFill/>
          <a:ln w="0">
            <a:noFill/>
          </a:ln>
        </p:spPr>
        <p:txBody>
          <a:bodyPr anchor="ctr">
            <a:noAutofit/>
          </a:bodyPr>
          <a:lstStyle/>
          <a:p>
            <a:pPr algn="l">
              <a:defRPr sz="2850" b="1">
                <a:solidFill>
                  <a:srgbClr val="0c493a"/>
                </a:solidFill>
                <a:latin typeface="맑은 고딕"/>
                <a:ea typeface="맑은 고딕"/>
                <a:cs typeface="맑은 고딕"/>
              </a:defRPr>
            </a:pPr>
            <a:r>
              <a:rPr sz="2850" b="1">
                <a:solidFill>
                  <a:srgbClr val="0c493a"/>
                </a:solidFill>
                <a:latin typeface="맑은 고딕"/>
                <a:ea typeface="맑은 고딕"/>
                <a:cs typeface="맑은 고딕"/>
              </a:rPr>
              <a:t>07  평가 계획과 결론</a:t>
            </a:r>
            <a:endParaRPr sz="2850" b="1">
              <a:solidFill>
                <a:srgbClr val="0c493a"/>
              </a:solidFill>
              <a:latin typeface="맑은 고딕"/>
              <a:ea typeface="맑은 고딕"/>
              <a:cs typeface="맑은 고딕"/>
            </a:endParaRPr>
          </a:p>
        </p:txBody>
      </p:sp>
      <p:sp>
        <p:nvSpPr>
          <p:cNvPr id="14" name="시범 운영의 확대·수정·중단 판단 기준"/>
          <p:cNvSpPr>
            <a:spLocks noGrp="1"/>
          </p:cNvSpPr>
          <p:nvPr/>
        </p:nvSpPr>
        <p:spPr>
          <a:xfrm>
            <a:off x="609600" y="952500"/>
            <a:ext cx="10972800" cy="400050"/>
          </a:xfrm>
          <a:prstGeom prst="rect">
            <a:avLst/>
          </a:prstGeom>
          <a:noFill/>
          <a:ln w="0">
            <a:noFill/>
          </a:ln>
        </p:spPr>
        <p:txBody>
          <a:bodyPr anchor="ctr">
            <a:noAutofit/>
          </a:bodyPr>
          <a:lstStyle/>
          <a:p>
            <a:pPr algn="l">
              <a:defRPr sz="2025" b="1">
                <a:solidFill>
                  <a:srgbClr val="20352d"/>
                </a:solidFill>
                <a:latin typeface="맑은 고딕"/>
                <a:ea typeface="맑은 고딕"/>
                <a:cs typeface="맑은 고딕"/>
              </a:defRPr>
            </a:pPr>
            <a:r>
              <a:rPr sz="2025" b="1">
                <a:solidFill>
                  <a:srgbClr val="20352d"/>
                </a:solidFill>
                <a:latin typeface="맑은 고딕"/>
                <a:ea typeface="맑은 고딕"/>
                <a:cs typeface="맑은 고딕"/>
              </a:rPr>
              <a:t>시범 운영의 확대·수정·중단 판단 기준</a:t>
            </a:r>
            <a:endParaRPr sz="2025" b="1">
              <a:solidFill>
                <a:srgbClr val="20352d"/>
              </a:solidFill>
              <a:latin typeface="맑은 고딕"/>
              <a:ea typeface="맑은 고딕"/>
              <a:cs typeface="맑은 고딕"/>
            </a:endParaRPr>
          </a:p>
        </p:txBody>
      </p:sp>
      <p:sp>
        <p:nvSpPr>
          <p:cNvPr id="15" name="기간과 목표값은 담당 기관과 사전 합의 · 개선율 실측값과"/>
          <p:cNvSpPr>
            <a:spLocks noGrp="1"/>
          </p:cNvSpPr>
          <p:nvPr/>
        </p:nvSpPr>
        <p:spPr>
          <a:xfrm>
            <a:off x="609600" y="1400175"/>
            <a:ext cx="10972800" cy="371475"/>
          </a:xfrm>
          <a:prstGeom prst="rect">
            <a:avLst/>
          </a:prstGeom>
          <a:noFill/>
          <a:ln w="0">
            <a:noFill/>
          </a:ln>
        </p:spPr>
        <p:txBody>
          <a:bodyPr anchor="ctr">
            <a:noAutofit/>
          </a:bodyPr>
          <a:lstStyle/>
          <a:p>
            <a:pPr algn="l">
              <a:defRPr sz="1500" b="0">
                <a:solidFill>
                  <a:srgbClr val="53675e"/>
                </a:solidFill>
                <a:latin typeface="맑은 고딕"/>
                <a:ea typeface="맑은 고딕"/>
                <a:cs typeface="맑은 고딕"/>
              </a:defRPr>
            </a:pPr>
            <a:r>
              <a:rPr sz="1500" b="0">
                <a:solidFill>
                  <a:srgbClr val="53675e"/>
                </a:solidFill>
                <a:latin typeface="맑은 고딕"/>
                <a:ea typeface="맑은 고딕"/>
                <a:cs typeface="맑은 고딕"/>
              </a:rPr>
              <a:t>기간과 목표값은 담당 기관과 사전 합의 · 개선율 실측값과 구분</a:t>
            </a:r>
            <a:endParaRPr sz="1500" b="0">
              <a:solidFill>
                <a:srgbClr val="53675e"/>
              </a:solidFill>
              <a:latin typeface="맑은 고딕"/>
              <a:ea typeface="맑은 고딕"/>
              <a:cs typeface="맑은 고딕"/>
            </a:endParaRPr>
          </a:p>
        </p:txBody>
      </p:sp>
      <p:graphicFrame>
        <p:nvGraphicFramePr>
          <p:cNvPr id="25" name=""/>
          <p:cNvGraphicFramePr/>
          <p:nvPr/>
        </p:nvGraphicFramePr>
        <p:xfrm>
          <a:off x="609600" y="2000250"/>
          <a:ext cx="10972801" cy="3714750"/>
        </p:xfrm>
        <a:graphic>
          <a:graphicData uri="http://schemas.openxmlformats.org/drawingml/2006/table">
            <a:tbl>
              <a:tblGrid>
                <a:gridCol w="2443523"/>
                <a:gridCol w="4472108"/>
                <a:gridCol w="4057170"/>
              </a:tblGrid>
              <a:tr h="619125">
                <a:tc>
                  <a:txBody>
                    <a:bodyPr vert="horz" lIns="91440" tIns="45720" rIns="91440" bIns="45720" anchor="ctr" anchorCtr="0"/>
                    <a:p>
                      <a:pPr algn="l">
                        <a:defRPr/>
                      </a:pPr>
                      <a:r>
                        <a:rPr sz="1650" b="1">
                          <a:solidFill>
                            <a:srgbClr val="20352d"/>
                          </a:solidFill>
                          <a:latin typeface="맑은 고딕"/>
                          <a:ea typeface="맑은 고딕"/>
                          <a:cs typeface="맑은 고딕"/>
                        </a:rPr>
                        <a:t>단계</a:t>
                      </a:r>
                      <a:endParaRPr sz="1650"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650" b="1">
                          <a:solidFill>
                            <a:srgbClr val="20352d"/>
                          </a:solidFill>
                          <a:latin typeface="맑은 고딕"/>
                          <a:ea typeface="맑은 고딕"/>
                          <a:cs typeface="맑은 고딕"/>
                        </a:rPr>
                        <a:t>수행 내용</a:t>
                      </a:r>
                      <a:endParaRPr sz="1650" b="1">
                        <a:solidFill>
                          <a:srgbClr val="20352d"/>
                        </a:solidFill>
                        <a:latin typeface="맑은 고딕"/>
                        <a:ea typeface="맑은 고딕"/>
                        <a:cs typeface="맑은 고딕"/>
                      </a:endParaRPr>
                    </a:p>
                  </a:txBody>
                  <a:tcPr marL="91440" marR="91440" anchor="ctr">
                    <a:solidFill>
                      <a:srgbClr val="ddece5"/>
                    </a:solidFill>
                  </a:tcPr>
                </a:tc>
                <a:tc>
                  <a:txBody>
                    <a:bodyPr vert="horz" lIns="91440" tIns="45720" rIns="91440" bIns="45720" anchor="ctr" anchorCtr="0"/>
                    <a:p>
                      <a:pPr algn="l">
                        <a:defRPr/>
                      </a:pPr>
                      <a:r>
                        <a:rPr sz="1650" b="1">
                          <a:solidFill>
                            <a:srgbClr val="20352d"/>
                          </a:solidFill>
                          <a:latin typeface="맑은 고딕"/>
                          <a:ea typeface="맑은 고딕"/>
                          <a:cs typeface="맑은 고딕"/>
                        </a:rPr>
                        <a:t>다음 단계의 조건</a:t>
                      </a:r>
                      <a:endParaRPr sz="1650" b="1">
                        <a:solidFill>
                          <a:srgbClr val="20352d"/>
                        </a:solidFill>
                        <a:latin typeface="맑은 고딕"/>
                        <a:ea typeface="맑은 고딕"/>
                        <a:cs typeface="맑은 고딕"/>
                      </a:endParaRPr>
                    </a:p>
                  </a:txBody>
                  <a:tcPr marL="91440" marR="91440" anchor="ctr">
                    <a:solidFill>
                      <a:srgbClr val="ddece5"/>
                    </a:solidFill>
                  </a:tcPr>
                </a:tc>
              </a:tr>
              <a:tr h="619125">
                <a:tc>
                  <a:txBody>
                    <a:bodyPr vert="horz" lIns="91440" tIns="45720" rIns="91440" bIns="45720" anchor="ctr" anchorCtr="0"/>
                    <a:p>
                      <a:pPr algn="l">
                        <a:defRPr/>
                      </a:pPr>
                      <a:r>
                        <a:rPr sz="1650" b="0">
                          <a:solidFill>
                            <a:srgbClr val="53675e"/>
                          </a:solidFill>
                          <a:latin typeface="맑은 고딕"/>
                          <a:ea typeface="맑은 고딕"/>
                          <a:cs typeface="맑은 고딕"/>
                        </a:rPr>
                        <a:t>01 현재 운영 확인</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절차·정원·담당자·미참여 사유 점검</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확인 가능한 공백과 개선 수요의 존재</a:t>
                      </a:r>
                      <a:endParaRPr sz="1650" b="0">
                        <a:solidFill>
                          <a:srgbClr val="53675e"/>
                        </a:solidFill>
                        <a:latin typeface="맑은 고딕"/>
                        <a:ea typeface="맑은 고딕"/>
                        <a:cs typeface="맑은 고딕"/>
                      </a:endParaRPr>
                    </a:p>
                  </a:txBody>
                  <a:tcPr marL="91440" marR="91440" anchor="ctr">
                    <a:solidFill>
                      <a:srgbClr val="ffffff"/>
                    </a:solidFill>
                  </a:tcPr>
                </a:tc>
              </a:tr>
              <a:tr h="619125">
                <a:tc>
                  <a:txBody>
                    <a:bodyPr vert="horz" lIns="91440" tIns="45720" rIns="91440" bIns="45720" anchor="ctr" anchorCtr="0"/>
                    <a:p>
                      <a:pPr algn="l">
                        <a:defRPr/>
                      </a:pPr>
                      <a:r>
                        <a:rPr sz="1650" b="0">
                          <a:solidFill>
                            <a:srgbClr val="53675e"/>
                          </a:solidFill>
                          <a:latin typeface="맑은 고딕"/>
                          <a:ea typeface="맑은 고딕"/>
                          <a:cs typeface="맑은 고딕"/>
                        </a:rPr>
                        <a:t>02 비교 기준 고정</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대상 조건·추적기간·분모·업무량 기록</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전후 비교가 가능한 집계 기준의 일치</a:t>
                      </a:r>
                      <a:endParaRPr sz="1650" b="0">
                        <a:solidFill>
                          <a:srgbClr val="53675e"/>
                        </a:solidFill>
                        <a:latin typeface="맑은 고딕"/>
                        <a:ea typeface="맑은 고딕"/>
                        <a:cs typeface="맑은 고딕"/>
                      </a:endParaRPr>
                    </a:p>
                  </a:txBody>
                  <a:tcPr marL="91440" marR="91440" anchor="ctr">
                    <a:solidFill>
                      <a:srgbClr val="f4f8f5"/>
                    </a:solidFill>
                  </a:tcPr>
                </a:tc>
              </a:tr>
              <a:tr h="619125">
                <a:tc>
                  <a:txBody>
                    <a:bodyPr vert="horz" lIns="91440" tIns="45720" rIns="91440" bIns="45720" anchor="ctr" anchorCtr="0"/>
                    <a:p>
                      <a:pPr algn="l">
                        <a:defRPr/>
                      </a:pPr>
                      <a:r>
                        <a:rPr sz="1650" b="0">
                          <a:solidFill>
                            <a:srgbClr val="53675e"/>
                          </a:solidFill>
                          <a:latin typeface="맑은 고딕"/>
                          <a:ea typeface="맑은 고딕"/>
                          <a:cs typeface="맑은 고딕"/>
                        </a:rPr>
                        <a:t>03 제한된 범위의 시범</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참여를 희망하는 적격 대상자에게 적용</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첫 교육 완료율·이탈 사유·추가 업무량 관찰</a:t>
                      </a:r>
                      <a:endParaRPr sz="1650" b="0">
                        <a:solidFill>
                          <a:srgbClr val="53675e"/>
                        </a:solidFill>
                        <a:latin typeface="맑은 고딕"/>
                        <a:ea typeface="맑은 고딕"/>
                        <a:cs typeface="맑은 고딕"/>
                      </a:endParaRPr>
                    </a:p>
                  </a:txBody>
                  <a:tcPr marL="91440" marR="91440" anchor="ctr">
                    <a:solidFill>
                      <a:srgbClr val="ffffff"/>
                    </a:solidFill>
                  </a:tcPr>
                </a:tc>
              </a:tr>
              <a:tr h="619125">
                <a:tc>
                  <a:txBody>
                    <a:bodyPr vert="horz" lIns="91440" tIns="45720" rIns="91440" bIns="45720" anchor="ctr" anchorCtr="0"/>
                    <a:p>
                      <a:pPr algn="l">
                        <a:defRPr/>
                      </a:pPr>
                      <a:r>
                        <a:rPr sz="1650" b="0">
                          <a:solidFill>
                            <a:srgbClr val="53675e"/>
                          </a:solidFill>
                          <a:latin typeface="맑은 고딕"/>
                          <a:ea typeface="맑은 고딕"/>
                          <a:cs typeface="맑은 고딕"/>
                        </a:rPr>
                        <a:t>04 결과에 따른 결정</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참여 지표와 담당자 부담을 함께 비교</a:t>
                      </a:r>
                      <a:endParaRPr sz="1650" b="0">
                        <a:solidFill>
                          <a:srgbClr val="53675e"/>
                        </a:solidFill>
                        <a:latin typeface="맑은 고딕"/>
                        <a:ea typeface="맑은 고딕"/>
                        <a:cs typeface="맑은 고딕"/>
                      </a:endParaRPr>
                    </a:p>
                  </a:txBody>
                  <a:tcPr marL="91440" marR="91440" anchor="ctr">
                    <a:solidFill>
                      <a:srgbClr val="f4f8f5"/>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개선·수용 가능 시 확대 / 불명확 시 수정</a:t>
                      </a:r>
                      <a:endParaRPr sz="1650" b="0">
                        <a:solidFill>
                          <a:srgbClr val="53675e"/>
                        </a:solidFill>
                        <a:latin typeface="맑은 고딕"/>
                        <a:ea typeface="맑은 고딕"/>
                        <a:cs typeface="맑은 고딕"/>
                      </a:endParaRPr>
                    </a:p>
                  </a:txBody>
                  <a:tcPr marL="91440" marR="91440" anchor="ctr">
                    <a:solidFill>
                      <a:srgbClr val="f4f8f5"/>
                    </a:solidFill>
                  </a:tcPr>
                </a:tc>
              </a:tr>
              <a:tr h="619125">
                <a:tc>
                  <a:txBody>
                    <a:bodyPr vert="horz" lIns="91440" tIns="45720" rIns="91440" bIns="45720" anchor="ctr" anchorCtr="0"/>
                    <a:p>
                      <a:pPr algn="l">
                        <a:defRPr/>
                      </a:pPr>
                      <a:r>
                        <a:rPr sz="1650" b="0">
                          <a:solidFill>
                            <a:srgbClr val="53675e"/>
                          </a:solidFill>
                          <a:latin typeface="맑은 고딕"/>
                          <a:ea typeface="맑은 고딕"/>
                          <a:cs typeface="맑은 고딕"/>
                        </a:rPr>
                        <a:t>05 유지 또는 중단</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효과 미확인·중복 업무·운영 부담 점검</a:t>
                      </a:r>
                      <a:endParaRPr sz="1650" b="0">
                        <a:solidFill>
                          <a:srgbClr val="53675e"/>
                        </a:solidFill>
                        <a:latin typeface="맑은 고딕"/>
                        <a:ea typeface="맑은 고딕"/>
                        <a:cs typeface="맑은 고딕"/>
                      </a:endParaRPr>
                    </a:p>
                  </a:txBody>
                  <a:tcPr marL="91440" marR="91440" anchor="ctr">
                    <a:solidFill>
                      <a:srgbClr val="ffffff"/>
                    </a:solidFill>
                  </a:tcPr>
                </a:tc>
                <a:tc>
                  <a:txBody>
                    <a:bodyPr vert="horz" lIns="91440" tIns="45720" rIns="91440" bIns="45720" anchor="ctr" anchorCtr="0"/>
                    <a:p>
                      <a:pPr algn="l">
                        <a:defRPr/>
                      </a:pPr>
                      <a:r>
                        <a:rPr sz="1650" b="0">
                          <a:solidFill>
                            <a:srgbClr val="53675e"/>
                          </a:solidFill>
                          <a:latin typeface="맑은 고딕"/>
                          <a:ea typeface="맑은 고딕"/>
                          <a:cs typeface="맑은 고딕"/>
                        </a:rPr>
                        <a:t>기존 서비스만으로 충분할 경우 추가 절차 종료</a:t>
                      </a:r>
                      <a:endParaRPr sz="1650" b="0">
                        <a:solidFill>
                          <a:srgbClr val="53675e"/>
                        </a:solidFill>
                        <a:latin typeface="맑은 고딕"/>
                        <a:ea typeface="맑은 고딕"/>
                        <a:cs typeface="맑은 고딕"/>
                      </a:endParaRPr>
                    </a:p>
                  </a:txBody>
                  <a:tcPr marL="91440" marR="91440" anchor="ctr">
                    <a:solidFill>
                      <a:srgbClr val="ffffff"/>
                    </a:solidFill>
                  </a:tcPr>
                </a:tc>
              </a:tr>
            </a:tbl>
          </a:graphicData>
        </a:graphic>
      </p:graphicFrame>
      <p:sp>
        <p:nvSpPr>
          <p:cNvPr id="17" name="전후 변화는 인과 효과와 구분 · 신고 감소율을 사업 성공"/>
          <p:cNvSpPr>
            <a:spLocks noGrp="1"/>
          </p:cNvSpPr>
          <p:nvPr/>
        </p:nvSpPr>
        <p:spPr>
          <a:xfrm>
            <a:off x="733425" y="6048375"/>
            <a:ext cx="10725150" cy="361950"/>
          </a:xfrm>
          <a:prstGeom prst="rect">
            <a:avLst/>
          </a:prstGeom>
          <a:noFill/>
          <a:ln w="0">
            <a:noFill/>
          </a:ln>
        </p:spPr>
        <p:txBody>
          <a:bodyPr anchor="ctr">
            <a:noAutofit/>
          </a:bodyPr>
          <a:lstStyle/>
          <a:p>
            <a:pPr algn="ctr">
              <a:defRPr sz="1275" b="1">
                <a:solidFill>
                  <a:srgbClr val="ffffff"/>
                </a:solidFill>
                <a:latin typeface="맑은 고딕"/>
                <a:ea typeface="맑은 고딕"/>
                <a:cs typeface="맑은 고딕"/>
              </a:defRPr>
            </a:pPr>
            <a:r>
              <a:rPr lang="ko-KR" altLang="en-US" sz="1275" b="1">
                <a:solidFill>
                  <a:srgbClr val="ffffff"/>
                </a:solidFill>
                <a:latin typeface="맑은 고딕"/>
                <a:ea typeface="맑은 고딕"/>
                <a:cs typeface="맑은 고딕"/>
              </a:rPr>
              <a:t>참여 지표의 개선과 담당자 업무 부담을 함께 검토해 시범 운영의 확대·수정·중단을 결정</a:t>
            </a:r>
            <a:endParaRPr lang="ko-KR" altLang="en-US" sz="1275" b="1">
              <a:solidFill>
                <a:srgbClr val="ffffff"/>
              </a:solidFill>
              <a:latin typeface="맑은 고딕"/>
              <a:ea typeface="맑은 고딕"/>
              <a:cs typeface="맑은 고딕"/>
            </a:endParaRPr>
          </a:p>
        </p:txBody>
      </p:sp>
      <p:sp>
        <p:nvSpPr>
          <p:cNvPr id="18" name="21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21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rgbClr val="ffffff"/>
        </a:solidFill>
      </p:bgPr>
    </p:bg>
    <p:spTree>
      <p:nvGrpSpPr>
        <p:cNvPr id="1" name=""/>
        <p:cNvGrpSpPr/>
        <p:nvPr/>
      </p:nvGrpSpPr>
      <p:grpSpPr>
        <a:xfrm>
          <a:off x="0" y="0"/>
          <a:ext cx="0" cy="0"/>
          <a:chOff x="0" y="0"/>
          <a:chExt cx="0" cy="0"/>
        </a:xfrm>
      </p:grpSpPr>
      <p:sp>
        <p:nvSpPr>
          <p:cNvPr id="8" name="group-panel"/>
          <p:cNvSpPr>
            <a:spLocks noGrp="1"/>
          </p:cNvSpPr>
          <p:nvPr/>
        </p:nvSpPr>
        <p:spPr>
          <a:xfrm>
            <a:off x="685800" y="4010025"/>
            <a:ext cx="10820400" cy="1524000"/>
          </a:xfrm>
          <a:prstGeom prst="rect">
            <a:avLst/>
          </a:prstGeom>
          <a:solidFill>
            <a:srgbClr val="f0f6f2"/>
          </a:solidFill>
          <a:ln w="9525">
            <a:solidFill>
              <a:srgbClr val="c9ddd1"/>
            </a:solidFill>
          </a:ln>
        </p:spPr>
        <p:txBody>
          <a:bodyPr anchor="ctr"/>
          <a:p>
            <a:pPr algn="ctr">
              <a:defRPr/>
            </a:pPr>
            <a:endParaRPr lang="ko-KR" altLang="en-US"/>
          </a:p>
        </p:txBody>
      </p:sp>
      <p:sp>
        <p:nvSpPr>
          <p:cNvPr id="4" name="직사각형 3"/>
          <p:cNvSpPr>
            <a:spLocks noGrp="1"/>
          </p:cNvSpPr>
          <p:nvPr/>
        </p:nvSpPr>
        <p:spPr>
          <a:xfrm>
            <a:off x="0" y="6381750"/>
            <a:ext cx="12192000" cy="476250"/>
          </a:xfrm>
          <a:prstGeom prst="rect">
            <a:avLst/>
          </a:prstGeom>
          <a:solidFill>
            <a:srgbClr val="0c493a"/>
          </a:solidFill>
          <a:ln w="0">
            <a:noFill/>
          </a:ln>
        </p:spPr>
        <p:txBody>
          <a:bodyPr anchor="ctr"/>
          <a:p>
            <a:pPr algn="ctr">
              <a:defRPr/>
            </a:pPr>
            <a:endParaRPr lang="ko-KR" altLang="en-US"/>
          </a:p>
        </p:txBody>
      </p:sp>
      <p:sp>
        <p:nvSpPr>
          <p:cNvPr id="5" name="결론 및 제안"/>
          <p:cNvSpPr>
            <a:spLocks noGrp="1"/>
          </p:cNvSpPr>
          <p:nvPr/>
        </p:nvSpPr>
        <p:spPr>
          <a:xfrm>
            <a:off x="857250" y="904875"/>
            <a:ext cx="10477500" cy="476250"/>
          </a:xfrm>
          <a:prstGeom prst="rect">
            <a:avLst/>
          </a:prstGeom>
          <a:noFill/>
          <a:ln w="0">
            <a:noFill/>
          </a:ln>
        </p:spPr>
        <p:txBody>
          <a:bodyPr anchor="ctr">
            <a:noAutofit/>
          </a:bodyPr>
          <a:lstStyle/>
          <a:p>
            <a:pPr algn="l">
              <a:defRPr sz="2250" b="1">
                <a:solidFill>
                  <a:srgbClr val="0c493a"/>
                </a:solidFill>
                <a:latin typeface="맑은 고딕"/>
                <a:ea typeface="맑은 고딕"/>
                <a:cs typeface="맑은 고딕"/>
              </a:defRPr>
            </a:pPr>
            <a:r>
              <a:rPr sz="2250" b="1">
                <a:solidFill>
                  <a:srgbClr val="0c493a"/>
                </a:solidFill>
                <a:latin typeface="맑은 고딕"/>
                <a:ea typeface="맑은 고딕"/>
                <a:cs typeface="맑은 고딕"/>
              </a:rPr>
              <a:t>결론 및 제안</a:t>
            </a:r>
            <a:endParaRPr sz="2250" b="1">
              <a:solidFill>
                <a:srgbClr val="0c493a"/>
              </a:solidFill>
              <a:latin typeface="맑은 고딕"/>
              <a:ea typeface="맑은 고딕"/>
              <a:cs typeface="맑은 고딕"/>
            </a:endParaRPr>
          </a:p>
        </p:txBody>
      </p:sp>
      <p:sp>
        <p:nvSpPr>
          <p:cNvPr id="6" name="지역 특성에 따른 기존 서비스 참여 과정 점검"/>
          <p:cNvSpPr>
            <a:spLocks noGrp="1"/>
          </p:cNvSpPr>
          <p:nvPr/>
        </p:nvSpPr>
        <p:spPr>
          <a:xfrm>
            <a:off x="857250" y="2038350"/>
            <a:ext cx="10477500" cy="1714500"/>
          </a:xfrm>
          <a:prstGeom prst="rect">
            <a:avLst/>
          </a:prstGeom>
          <a:noFill/>
          <a:ln w="0">
            <a:noFill/>
          </a:ln>
        </p:spPr>
        <p:txBody>
          <a:bodyPr anchor="ctr">
            <a:noAutofit/>
          </a:bodyPr>
          <a:lstStyle/>
          <a:p>
            <a:pPr algn="l">
              <a:defRPr sz="3750" b="1">
                <a:solidFill>
                  <a:srgbClr val="20352d"/>
                </a:solidFill>
                <a:latin typeface="맑은 고딕"/>
                <a:ea typeface="맑은 고딕"/>
                <a:cs typeface="맑은 고딕"/>
              </a:defRPr>
            </a:pPr>
            <a:r>
              <a:rPr sz="3750" b="1">
                <a:solidFill>
                  <a:srgbClr val="20352d"/>
                </a:solidFill>
                <a:latin typeface="맑은 고딕"/>
                <a:ea typeface="맑은 고딕"/>
                <a:cs typeface="맑은 고딕"/>
              </a:rPr>
              <a:t>지역 특성에 따른</a:t>
            </a:r>
            <a:endParaRPr sz="3750" b="1">
              <a:solidFill>
                <a:srgbClr val="20352d"/>
              </a:solidFill>
              <a:latin typeface="맑은 고딕"/>
              <a:ea typeface="맑은 고딕"/>
              <a:cs typeface="맑은 고딕"/>
            </a:endParaRPr>
          </a:p>
          <a:p>
            <a:pPr algn="l">
              <a:defRPr sz="3750" b="1">
                <a:solidFill>
                  <a:srgbClr val="20352d"/>
                </a:solidFill>
                <a:latin typeface="맑은 고딕"/>
                <a:ea typeface="맑은 고딕"/>
                <a:cs typeface="맑은 고딕"/>
              </a:defRPr>
            </a:pPr>
            <a:r>
              <a:rPr sz="3750" b="1">
                <a:solidFill>
                  <a:srgbClr val="20352d"/>
                </a:solidFill>
                <a:latin typeface="맑은 고딕"/>
                <a:ea typeface="맑은 고딕"/>
                <a:cs typeface="맑은 고딕"/>
              </a:rPr>
              <a:t>기존 서비스 참여 과정 점검</a:t>
            </a:r>
            <a:endParaRPr sz="3750" b="1">
              <a:solidFill>
                <a:srgbClr val="20352d"/>
              </a:solidFill>
              <a:latin typeface="맑은 고딕"/>
              <a:ea typeface="맑은 고딕"/>
              <a:cs typeface="맑은 고딕"/>
            </a:endParaRPr>
          </a:p>
        </p:txBody>
      </p:sp>
      <p:sp>
        <p:nvSpPr>
          <p:cNvPr id="7" name="다대: 상담·교육 연결 절차 대조  /  금곡: 현행 운영"/>
          <p:cNvSpPr>
            <a:spLocks noGrp="1"/>
          </p:cNvSpPr>
          <p:nvPr/>
        </p:nvSpPr>
        <p:spPr>
          <a:xfrm>
            <a:off x="895350" y="4191000"/>
            <a:ext cx="10477500" cy="1162050"/>
          </a:xfrm>
          <a:prstGeom prst="rect">
            <a:avLst/>
          </a:prstGeom>
          <a:noFill/>
          <a:ln w="0">
            <a:noFill/>
          </a:ln>
        </p:spPr>
        <p:txBody>
          <a:bodyPr anchor="ctr">
            <a:noAutofit/>
          </a:bodyPr>
          <a:lstStyle/>
          <a:p>
            <a:pPr algn="l">
              <a:defRPr sz="2025" b="0">
                <a:solidFill>
                  <a:srgbClr val="53675e"/>
                </a:solidFill>
                <a:latin typeface="맑은 고딕"/>
                <a:ea typeface="맑은 고딕"/>
                <a:cs typeface="맑은 고딕"/>
              </a:defRPr>
            </a:pPr>
            <a:r>
              <a:rPr lang="ko-KR" altLang="en-US" sz="2025" b="0">
                <a:solidFill>
                  <a:srgbClr val="53675e"/>
                </a:solidFill>
                <a:latin typeface="맑은 고딕"/>
                <a:ea typeface="맑은 고딕"/>
                <a:cs typeface="맑은 고딕"/>
              </a:rPr>
              <a:t>지역별 신고 특성을 토대로 기존 서비스의 참여 과정을 점검하고, 필요한 보완안은 시범 운영으로 검증</a:t>
            </a:r>
            <a:endParaRPr lang="ko-KR" altLang="en-US" sz="2025" b="0">
              <a:solidFill>
                <a:srgbClr val="53675e"/>
              </a:solidFill>
              <a:latin typeface="맑은 고딕"/>
              <a:ea typeface="맑은 고딕"/>
              <a:cs typeface="맑은 고딕"/>
            </a:endParaRPr>
          </a:p>
        </p:txBody>
      </p:sp>
      <p:sp>
        <p:nvSpPr>
          <p:cNvPr id="9" name="22 / 22"/>
          <p:cNvSpPr>
            <a:spLocks noGrp="1"/>
          </p:cNvSpPr>
          <p:nvPr/>
        </p:nvSpPr>
        <p:spPr>
          <a:xfrm>
            <a:off x="10648950" y="6477000"/>
            <a:ext cx="914400" cy="161925"/>
          </a:xfrm>
          <a:prstGeom prst="rect">
            <a:avLst/>
          </a:prstGeom>
          <a:noFill/>
          <a:ln w="0">
            <a:noFill/>
          </a:ln>
        </p:spPr>
        <p:txBody>
          <a:bodyPr anchor="ctr">
            <a:noAutofit/>
          </a:bodyPr>
          <a:lstStyle/>
          <a:p>
            <a:pPr algn="l">
              <a:defRPr sz="900" b="0">
                <a:solidFill>
                  <a:srgbClr val="53675e"/>
                </a:solidFill>
                <a:latin typeface="맑은 고딕"/>
                <a:ea typeface="맑은 고딕"/>
                <a:cs typeface="맑은 고딕"/>
              </a:defRPr>
            </a:pPr>
            <a:r>
              <a:rPr sz="900" b="0">
                <a:solidFill>
                  <a:srgbClr val="53675e"/>
                </a:solidFill>
                <a:latin typeface="맑은 고딕"/>
                <a:ea typeface="맑은 고딕"/>
                <a:cs typeface="맑은 고딕"/>
              </a:rPr>
              <a:t>22 / 22</a:t>
            </a:r>
            <a:endParaRPr sz="900" b="0">
              <a:solidFill>
                <a:srgbClr val="53675e"/>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1433</ep:Words>
  <ep:PresentationFormat>Converted Presentation</ep:PresentationFormat>
  <ep:Paragraphs>199</ep:Paragraphs>
  <ep:Slides>22</ep:Slides>
  <ep:Notes>19</ep:Notes>
  <ep:TotalTime>0</ep:TotalTime>
  <ep:HiddenSlides>0</ep:HiddenSlides>
  <ep:MMClips>0</ep:MMClips>
  <ep:HeadingPairs>
    <vt:vector size="4" baseType="variant">
      <vt:variant>
        <vt:lpstr>테마</vt:lpstr>
      </vt:variant>
      <vt:variant>
        <vt:i4>1</vt:i4>
      </vt:variant>
      <vt:variant>
        <vt:lpstr>슬라이드 제목</vt:lpstr>
      </vt:variant>
      <vt:variant>
        <vt:i4>22</vt:i4>
      </vt:variant>
    </vt:vector>
  </ep:HeadingPairs>
  <ep:TitlesOfParts>
    <vt:vector size="23" baseType="lpstr">
      <vt:lpstr>ChatGPT</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lpstr>슬라이드 18</vt:lpstr>
      <vt:lpstr>슬라이드 19</vt:lpstr>
      <vt:lpstr>슬라이드 20</vt:lpstr>
      <vt:lpstr>슬라이드 21</vt:lpstr>
      <vt:lpstr>슬라이드 22</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cp:lastModifiedBy>123</cp:lastModifiedBy>
  <dcterms:modified xsi:type="dcterms:W3CDTF">2026-09-18T09:01:10.897</dcterms:modified>
  <cp:revision>18</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